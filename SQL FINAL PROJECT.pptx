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2.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xml" ContentType="application/vnd.openxmlformats-officedocument.presentationml.notesSlid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20"/>
  </p:notesMasterIdLst>
  <p:sldIdLst>
    <p:sldId id="281" r:id="rId5"/>
    <p:sldId id="267" r:id="rId6"/>
    <p:sldId id="269" r:id="rId7"/>
    <p:sldId id="270" r:id="rId8"/>
    <p:sldId id="272" r:id="rId9"/>
    <p:sldId id="273" r:id="rId10"/>
    <p:sldId id="271" r:id="rId11"/>
    <p:sldId id="274" r:id="rId12"/>
    <p:sldId id="275" r:id="rId13"/>
    <p:sldId id="268" r:id="rId14"/>
    <p:sldId id="277" r:id="rId15"/>
    <p:sldId id="278" r:id="rId16"/>
    <p:sldId id="279" r:id="rId17"/>
    <p:sldId id="280" r:id="rId18"/>
    <p:sldId id="261" r:id="rId19"/>
  </p:sldIdLst>
  <p:sldSz cx="18288000" cy="10287000"/>
  <p:notesSz cx="6858000" cy="9144000"/>
  <p:embeddedFontLst>
    <p:embeddedFont>
      <p:font typeface="Aptos Narrow" panose="020B0004020202020204" pitchFamily="34" charset="0"/>
      <p:regular r:id="rId21"/>
      <p:bold r:id="rId22"/>
      <p:italic r:id="rId23"/>
      <p:boldItalic r:id="rId24"/>
    </p:embeddedFont>
    <p:embeddedFont>
      <p:font typeface="DM Sans" pitchFamily="2" charset="0"/>
      <p:regular r:id="rId25"/>
      <p:bold r:id="rId26"/>
      <p:italic r:id="rId27"/>
      <p:boldItalic r:id="rId28"/>
    </p:embeddedFont>
    <p:embeddedFont>
      <p:font typeface="DM Sans Bold" charset="0"/>
      <p:regular r:id="rId29"/>
    </p:embeddedFont>
    <p:embeddedFont>
      <p:font typeface="Poppins" panose="00000500000000000000" pitchFamily="2" charset="0"/>
      <p:regular r:id="rId30"/>
      <p:bold r:id="rId31"/>
      <p:italic r:id="rId32"/>
      <p:boldItalic r:id="rId33"/>
    </p:embeddedFont>
    <p:embeddedFont>
      <p:font typeface="Poppins Bold" panose="00000800000000000000" charset="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9AB"/>
    <a:srgbClr val="FFF0C5"/>
    <a:srgbClr val="FFDE81"/>
    <a:srgbClr val="D07C00"/>
    <a:srgbClr val="DFABAB"/>
    <a:srgbClr val="E4F76F"/>
    <a:srgbClr val="FFCD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B05A919-34EF-4977-AAAE-489B7CA843CB}" v="93" dt="2025-08-17T19:44:49.5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534" y="7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6.fntdata"/><Relationship Id="rId39" Type="http://schemas.microsoft.com/office/2015/10/relationships/revisionInfo" Target="revisionInfo.xml"/><Relationship Id="rId21" Type="http://schemas.openxmlformats.org/officeDocument/2006/relationships/font" Target="fonts/font1.fntdata"/><Relationship Id="rId34" Type="http://schemas.openxmlformats.org/officeDocument/2006/relationships/font" Target="fonts/font1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29" Type="http://schemas.openxmlformats.org/officeDocument/2006/relationships/font" Target="fonts/font9.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oleObject" Target="file:///D:\MYSQL\project\task-1.csv"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MYSQL\project\task-2.csv"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MYSQL\project\task-3.csv"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MYSQL\project\task-4.1.csv"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MYSQL\project\task-5.csv"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D:\MYSQL\project\task-6.csv"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D:\MYSQL\project\task-7.csv"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D:\MYSQL\project\task-8.csv"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D:\MYSQL\project\task-9.csv"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ANJAN\AppData\Roaming\Microsoft\Excel\task-10%20(version%201).xlsb"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1"/>
    </mc:Choice>
    <mc:Fallback>
      <c:style val="1"/>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DM Sans" pitchFamily="2" charset="0"/>
                <a:ea typeface="+mn-ea"/>
                <a:cs typeface="+mn-cs"/>
              </a:defRPr>
            </a:pPr>
            <a:r>
              <a:rPr lang="en-IN" sz="1800" b="0" i="0" u="none" strike="noStrike" baseline="0" dirty="0">
                <a:latin typeface="DM Sans" pitchFamily="2" charset="0"/>
              </a:rPr>
              <a:t>Branch vs </a:t>
            </a:r>
            <a:r>
              <a:rPr lang="en-IN" sz="1800" b="0" i="0" u="none" strike="noStrike" baseline="0" dirty="0" err="1">
                <a:latin typeface="DM Sans" pitchFamily="2" charset="0"/>
              </a:rPr>
              <a:t>Avg</a:t>
            </a:r>
            <a:r>
              <a:rPr lang="en-IN" sz="1800" b="0" i="0" u="none" strike="noStrike" baseline="0">
                <a:latin typeface="DM Sans" pitchFamily="2" charset="0"/>
              </a:rPr>
              <a:t> MoM Growth %</a:t>
            </a:r>
            <a:endParaRPr lang="en-IN" sz="1800">
              <a:latin typeface="DM Sans" pitchFamily="2" charset="0"/>
            </a:endParaRP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DM Sans" pitchFamily="2" charset="0"/>
              <a:ea typeface="+mn-ea"/>
              <a:cs typeface="+mn-cs"/>
            </a:defRPr>
          </a:pPr>
          <a:endParaRPr lang="en-IN"/>
        </a:p>
      </c:txPr>
    </c:title>
    <c:autoTitleDeleted val="0"/>
    <c:plotArea>
      <c:layout/>
      <c:barChart>
        <c:barDir val="bar"/>
        <c:grouping val="clustered"/>
        <c:varyColors val="0"/>
        <c:ser>
          <c:idx val="0"/>
          <c:order val="0"/>
          <c:tx>
            <c:strRef>
              <c:f>'task-1'!$A$2</c:f>
              <c:strCache>
                <c:ptCount val="1"/>
                <c:pt idx="0">
                  <c:v>B</c:v>
                </c:pt>
              </c:strCache>
            </c:strRef>
          </c:tx>
          <c:spPr>
            <a:solidFill>
              <a:srgbClr val="FFCD40"/>
            </a:solidFill>
            <a:ln>
              <a:noFill/>
            </a:ln>
            <a:effectLst/>
          </c:spPr>
          <c:invertIfNegative val="0"/>
          <c:cat>
            <c:strRef>
              <c:f>'task-1'!$B$1</c:f>
              <c:strCache>
                <c:ptCount val="1"/>
                <c:pt idx="0">
                  <c:v>Avg_MOM_Growth_pct</c:v>
                </c:pt>
              </c:strCache>
            </c:strRef>
          </c:cat>
          <c:val>
            <c:numRef>
              <c:f>'task-1'!$B$2</c:f>
              <c:numCache>
                <c:formatCode>General</c:formatCode>
                <c:ptCount val="1"/>
                <c:pt idx="0">
                  <c:v>17.98</c:v>
                </c:pt>
              </c:numCache>
            </c:numRef>
          </c:val>
          <c:extLst>
            <c:ext xmlns:c16="http://schemas.microsoft.com/office/drawing/2014/chart" uri="{C3380CC4-5D6E-409C-BE32-E72D297353CC}">
              <c16:uniqueId val="{00000000-65CD-422F-A599-ED41D588F9AB}"/>
            </c:ext>
          </c:extLst>
        </c:ser>
        <c:ser>
          <c:idx val="1"/>
          <c:order val="1"/>
          <c:tx>
            <c:strRef>
              <c:f>'task-1'!$A$3</c:f>
              <c:strCache>
                <c:ptCount val="1"/>
                <c:pt idx="0">
                  <c:v>C</c:v>
                </c:pt>
              </c:strCache>
            </c:strRef>
          </c:tx>
          <c:spPr>
            <a:solidFill>
              <a:srgbClr val="FFF0C5"/>
            </a:solidFill>
            <a:ln>
              <a:noFill/>
            </a:ln>
            <a:effectLst/>
          </c:spPr>
          <c:invertIfNegative val="0"/>
          <c:cat>
            <c:strRef>
              <c:f>'task-1'!$B$1</c:f>
              <c:strCache>
                <c:ptCount val="1"/>
                <c:pt idx="0">
                  <c:v>Avg_MOM_Growth_pct</c:v>
                </c:pt>
              </c:strCache>
            </c:strRef>
          </c:cat>
          <c:val>
            <c:numRef>
              <c:f>'task-1'!$B$3</c:f>
              <c:numCache>
                <c:formatCode>General</c:formatCode>
                <c:ptCount val="1"/>
                <c:pt idx="0">
                  <c:v>5.96</c:v>
                </c:pt>
              </c:numCache>
            </c:numRef>
          </c:val>
          <c:extLst>
            <c:ext xmlns:c16="http://schemas.microsoft.com/office/drawing/2014/chart" uri="{C3380CC4-5D6E-409C-BE32-E72D297353CC}">
              <c16:uniqueId val="{00000001-65CD-422F-A599-ED41D588F9AB}"/>
            </c:ext>
          </c:extLst>
        </c:ser>
        <c:ser>
          <c:idx val="2"/>
          <c:order val="2"/>
          <c:tx>
            <c:strRef>
              <c:f>'task-1'!$A$4</c:f>
              <c:strCache>
                <c:ptCount val="1"/>
                <c:pt idx="0">
                  <c:v>A</c:v>
                </c:pt>
              </c:strCache>
            </c:strRef>
          </c:tx>
          <c:spPr>
            <a:solidFill>
              <a:srgbClr val="FFDE81"/>
            </a:solidFill>
            <a:ln>
              <a:noFill/>
            </a:ln>
            <a:effectLst/>
          </c:spPr>
          <c:invertIfNegative val="0"/>
          <c:cat>
            <c:strRef>
              <c:f>'task-1'!$B$1</c:f>
              <c:strCache>
                <c:ptCount val="1"/>
                <c:pt idx="0">
                  <c:v>Avg_MOM_Growth_pct</c:v>
                </c:pt>
              </c:strCache>
            </c:strRef>
          </c:cat>
          <c:val>
            <c:numRef>
              <c:f>'task-1'!$B$4</c:f>
              <c:numCache>
                <c:formatCode>General</c:formatCode>
                <c:ptCount val="1"/>
                <c:pt idx="0">
                  <c:v>-3.28</c:v>
                </c:pt>
              </c:numCache>
            </c:numRef>
          </c:val>
          <c:extLst>
            <c:ext xmlns:c16="http://schemas.microsoft.com/office/drawing/2014/chart" uri="{C3380CC4-5D6E-409C-BE32-E72D297353CC}">
              <c16:uniqueId val="{00000002-65CD-422F-A599-ED41D588F9AB}"/>
            </c:ext>
          </c:extLst>
        </c:ser>
        <c:dLbls>
          <c:showLegendKey val="0"/>
          <c:showVal val="0"/>
          <c:showCatName val="0"/>
          <c:showSerName val="0"/>
          <c:showPercent val="0"/>
          <c:showBubbleSize val="0"/>
        </c:dLbls>
        <c:gapWidth val="75"/>
        <c:overlap val="-25"/>
        <c:axId val="830469023"/>
        <c:axId val="830468063"/>
      </c:barChart>
      <c:catAx>
        <c:axId val="830469023"/>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DM Sans" pitchFamily="2" charset="0"/>
                <a:ea typeface="+mn-ea"/>
                <a:cs typeface="+mn-cs"/>
              </a:defRPr>
            </a:pPr>
            <a:endParaRPr lang="en-US"/>
          </a:p>
        </c:txPr>
        <c:crossAx val="830468063"/>
        <c:crosses val="autoZero"/>
        <c:auto val="1"/>
        <c:lblAlgn val="ctr"/>
        <c:lblOffset val="100"/>
        <c:noMultiLvlLbl val="0"/>
      </c:catAx>
      <c:valAx>
        <c:axId val="830468063"/>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tx1">
                    <a:lumMod val="65000"/>
                    <a:lumOff val="35000"/>
                  </a:schemeClr>
                </a:solidFill>
                <a:latin typeface="DM Sans" pitchFamily="2" charset="0"/>
                <a:ea typeface="+mn-ea"/>
                <a:cs typeface="+mn-cs"/>
              </a:defRPr>
            </a:pPr>
            <a:endParaRPr lang="en-US"/>
          </a:p>
        </c:txPr>
        <c:crossAx val="830469023"/>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2">
        <a:lumMod val="10000"/>
      </a:schemeClr>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t>Most Profitable Product Line by Branch – Profit &amp; Margin</a:t>
            </a:r>
            <a:endParaRPr lang="en-IN"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IN"/>
        </a:p>
      </c:txPr>
    </c:title>
    <c:autoTitleDeleted val="0"/>
    <c:plotArea>
      <c:layout/>
      <c:barChart>
        <c:barDir val="col"/>
        <c:grouping val="clustered"/>
        <c:varyColors val="0"/>
        <c:ser>
          <c:idx val="0"/>
          <c:order val="0"/>
          <c:tx>
            <c:strRef>
              <c:f>'task-2'!$C$1</c:f>
              <c:strCache>
                <c:ptCount val="1"/>
                <c:pt idx="0">
                  <c:v>Profit_Amount</c:v>
                </c:pt>
              </c:strCache>
            </c:strRef>
          </c:tx>
          <c:spPr>
            <a:solidFill>
              <a:srgbClr val="FFCD40"/>
            </a:solidFill>
            <a:ln>
              <a:noFill/>
            </a:ln>
            <a:effectLst>
              <a:glow rad="63500">
                <a:schemeClr val="accent6">
                  <a:satMod val="175000"/>
                  <a:alpha val="40000"/>
                </a:schemeClr>
              </a:glow>
              <a:outerShdw blurRad="50800" dist="50800" dir="5400000" sx="9000" sy="9000" algn="ctr" rotWithShape="0">
                <a:srgbClr val="000000">
                  <a:alpha val="43137"/>
                </a:srgbClr>
              </a:outerShdw>
            </a:effectLst>
          </c:spPr>
          <c:invertIfNegative val="0"/>
          <c:cat>
            <c:multiLvlStrRef>
              <c:f>'task-2'!$A$2:$B$4</c:f>
              <c:multiLvlStrCache>
                <c:ptCount val="3"/>
                <c:lvl>
                  <c:pt idx="0">
                    <c:v>Health and beauty</c:v>
                  </c:pt>
                  <c:pt idx="1">
                    <c:v>Food and beverages</c:v>
                  </c:pt>
                  <c:pt idx="2">
                    <c:v>Home and lifestyle</c:v>
                  </c:pt>
                </c:lvl>
                <c:lvl>
                  <c:pt idx="0">
                    <c:v>A</c:v>
                  </c:pt>
                  <c:pt idx="1">
                    <c:v>B</c:v>
                  </c:pt>
                  <c:pt idx="2">
                    <c:v>C</c:v>
                  </c:pt>
                </c:lvl>
              </c:multiLvlStrCache>
            </c:multiLvlStrRef>
          </c:cat>
          <c:val>
            <c:numRef>
              <c:f>'task-2'!$C$2:$C$4</c:f>
              <c:numCache>
                <c:formatCode>General</c:formatCode>
                <c:ptCount val="3"/>
                <c:pt idx="0">
                  <c:v>-11397.967000000001</c:v>
                </c:pt>
                <c:pt idx="1">
                  <c:v>-13765.851500000001</c:v>
                </c:pt>
                <c:pt idx="2">
                  <c:v>-12572.166999999999</c:v>
                </c:pt>
              </c:numCache>
            </c:numRef>
          </c:val>
          <c:extLst>
            <c:ext xmlns:c16="http://schemas.microsoft.com/office/drawing/2014/chart" uri="{C3380CC4-5D6E-409C-BE32-E72D297353CC}">
              <c16:uniqueId val="{00000000-FA38-42B3-977F-9207FC347E0A}"/>
            </c:ext>
          </c:extLst>
        </c:ser>
        <c:dLbls>
          <c:showLegendKey val="0"/>
          <c:showVal val="0"/>
          <c:showCatName val="0"/>
          <c:showSerName val="0"/>
          <c:showPercent val="0"/>
          <c:showBubbleSize val="0"/>
        </c:dLbls>
        <c:gapWidth val="219"/>
        <c:axId val="2079278112"/>
        <c:axId val="2079284832"/>
      </c:barChart>
      <c:lineChart>
        <c:grouping val="standard"/>
        <c:varyColors val="0"/>
        <c:ser>
          <c:idx val="1"/>
          <c:order val="1"/>
          <c:tx>
            <c:strRef>
              <c:f>'task-2'!$D$1</c:f>
              <c:strCache>
                <c:ptCount val="1"/>
                <c:pt idx="0">
                  <c:v>Profit_Margin_Ratio</c:v>
                </c:pt>
              </c:strCache>
            </c:strRef>
          </c:tx>
          <c:spPr>
            <a:ln w="28575" cap="rnd">
              <a:solidFill>
                <a:srgbClr val="FFF0C5"/>
              </a:solidFill>
              <a:round/>
            </a:ln>
            <a:effectLst/>
          </c:spPr>
          <c:marker>
            <c:symbol val="none"/>
          </c:marker>
          <c:cat>
            <c:multiLvlStrRef>
              <c:f>'task-2'!$A$2:$B$4</c:f>
              <c:multiLvlStrCache>
                <c:ptCount val="3"/>
                <c:lvl>
                  <c:pt idx="0">
                    <c:v>Health and beauty</c:v>
                  </c:pt>
                  <c:pt idx="1">
                    <c:v>Food and beverages</c:v>
                  </c:pt>
                  <c:pt idx="2">
                    <c:v>Home and lifestyle</c:v>
                  </c:pt>
                </c:lvl>
                <c:lvl>
                  <c:pt idx="0">
                    <c:v>A</c:v>
                  </c:pt>
                  <c:pt idx="1">
                    <c:v>B</c:v>
                  </c:pt>
                  <c:pt idx="2">
                    <c:v>C</c:v>
                  </c:pt>
                </c:lvl>
              </c:multiLvlStrCache>
            </c:multiLvlStrRef>
          </c:cat>
          <c:val>
            <c:numRef>
              <c:f>'task-2'!$D$2:$D$4</c:f>
              <c:numCache>
                <c:formatCode>General</c:formatCode>
                <c:ptCount val="3"/>
                <c:pt idx="0">
                  <c:v>0.05</c:v>
                </c:pt>
                <c:pt idx="1">
                  <c:v>0.05</c:v>
                </c:pt>
                <c:pt idx="2">
                  <c:v>0.05</c:v>
                </c:pt>
              </c:numCache>
            </c:numRef>
          </c:val>
          <c:smooth val="0"/>
          <c:extLst>
            <c:ext xmlns:c16="http://schemas.microsoft.com/office/drawing/2014/chart" uri="{C3380CC4-5D6E-409C-BE32-E72D297353CC}">
              <c16:uniqueId val="{00000001-FA38-42B3-977F-9207FC347E0A}"/>
            </c:ext>
          </c:extLst>
        </c:ser>
        <c:dLbls>
          <c:showLegendKey val="0"/>
          <c:showVal val="0"/>
          <c:showCatName val="0"/>
          <c:showSerName val="0"/>
          <c:showPercent val="0"/>
          <c:showBubbleSize val="0"/>
        </c:dLbls>
        <c:marker val="1"/>
        <c:smooth val="0"/>
        <c:axId val="2079279072"/>
        <c:axId val="2079271872"/>
      </c:lineChart>
      <c:valAx>
        <c:axId val="2079284832"/>
        <c:scaling>
          <c:orientation val="minMax"/>
        </c:scaling>
        <c:delete val="0"/>
        <c:axPos val="r"/>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DM Sans" pitchFamily="2" charset="0"/>
                    <a:ea typeface="+mn-ea"/>
                    <a:cs typeface="+mn-cs"/>
                  </a:defRPr>
                </a:pPr>
                <a:r>
                  <a:rPr lang="en-IN" sz="1400" b="0" i="0" u="none" strike="noStrike" baseline="0" dirty="0"/>
                  <a:t>Profit Amount (₹)</a:t>
                </a:r>
                <a:endParaRPr lang="en-IN" sz="1400" dirty="0">
                  <a:latin typeface="DM Sans" pitchFamily="2" charset="0"/>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DM Sans" pitchFamily="2" charset="0"/>
                  <a:ea typeface="+mn-ea"/>
                  <a:cs typeface="+mn-cs"/>
                </a:defRPr>
              </a:pPr>
              <a:endParaRPr lang="en-I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DM Sans" pitchFamily="2" charset="0"/>
                <a:ea typeface="+mn-ea"/>
                <a:cs typeface="+mn-cs"/>
              </a:defRPr>
            </a:pPr>
            <a:endParaRPr lang="en-US"/>
          </a:p>
        </c:txPr>
        <c:crossAx val="2079278112"/>
        <c:crosses val="max"/>
        <c:crossBetween val="between"/>
      </c:valAx>
      <c:catAx>
        <c:axId val="2079278112"/>
        <c:scaling>
          <c:orientation val="minMax"/>
        </c:scaling>
        <c:delete val="1"/>
        <c:axPos val="b"/>
        <c:title>
          <c:tx>
            <c:rich>
              <a:bodyPr rot="0" spcFirstLastPara="1" vertOverflow="ellipsis" vert="horz" wrap="square" anchor="ctr" anchorCtr="1"/>
              <a:lstStyle/>
              <a:p>
                <a:pPr>
                  <a:defRPr sz="1400" b="0" i="0" u="none" strike="noStrike" kern="1200" baseline="0">
                    <a:solidFill>
                      <a:schemeClr val="tx1">
                        <a:lumMod val="65000"/>
                        <a:lumOff val="35000"/>
                      </a:schemeClr>
                    </a:solidFill>
                    <a:latin typeface="DM Sans" pitchFamily="2" charset="0"/>
                    <a:ea typeface="+mn-ea"/>
                    <a:cs typeface="+mn-cs"/>
                  </a:defRPr>
                </a:pPr>
                <a:r>
                  <a:rPr lang="en-IN" sz="1400" b="0" i="0" u="none" strike="noStrike" baseline="0">
                    <a:latin typeface="DM Sans" pitchFamily="2" charset="0"/>
                  </a:rPr>
                  <a:t>Branch</a:t>
                </a:r>
                <a:endParaRPr lang="en-IN" sz="1400">
                  <a:latin typeface="DM Sans" pitchFamily="2" charset="0"/>
                </a:endParaRPr>
              </a:p>
            </c:rich>
          </c:tx>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DM Sans" pitchFamily="2" charset="0"/>
                  <a:ea typeface="+mn-ea"/>
                  <a:cs typeface="+mn-cs"/>
                </a:defRPr>
              </a:pPr>
              <a:endParaRPr lang="en-IN"/>
            </a:p>
          </c:txPr>
        </c:title>
        <c:numFmt formatCode="General" sourceLinked="1"/>
        <c:majorTickMark val="out"/>
        <c:minorTickMark val="none"/>
        <c:tickLblPos val="nextTo"/>
        <c:crossAx val="2079284832"/>
        <c:crosses val="autoZero"/>
        <c:auto val="1"/>
        <c:lblAlgn val="ctr"/>
        <c:lblOffset val="100"/>
        <c:noMultiLvlLbl val="0"/>
      </c:catAx>
      <c:valAx>
        <c:axId val="2079271872"/>
        <c:scaling>
          <c:orientation val="minMax"/>
        </c:scaling>
        <c:delete val="0"/>
        <c:axPos val="l"/>
        <c:title>
          <c:tx>
            <c:rich>
              <a:bodyPr rot="-5400000" spcFirstLastPara="1" vertOverflow="ellipsis" vert="horz" wrap="square" anchor="ctr" anchorCtr="1"/>
              <a:lstStyle/>
              <a:p>
                <a:pPr>
                  <a:defRPr sz="1400" b="0" i="0" u="none" strike="noStrike" kern="1200" baseline="0">
                    <a:solidFill>
                      <a:schemeClr val="tx1">
                        <a:lumMod val="65000"/>
                        <a:lumOff val="35000"/>
                      </a:schemeClr>
                    </a:solidFill>
                    <a:latin typeface="DM Sans" pitchFamily="2" charset="0"/>
                    <a:ea typeface="+mn-ea"/>
                    <a:cs typeface="+mn-cs"/>
                  </a:defRPr>
                </a:pPr>
                <a:r>
                  <a:rPr lang="en-IN" sz="1400" b="0" i="0" u="none" strike="noStrike" baseline="0" dirty="0"/>
                  <a:t>Profit Margin Ratio (%)</a:t>
                </a:r>
                <a:endParaRPr lang="en-IN" sz="1400" dirty="0">
                  <a:latin typeface="DM Sans" pitchFamily="2" charset="0"/>
                </a:endParaRPr>
              </a:p>
            </c:rich>
          </c:tx>
          <c:overlay val="0"/>
          <c:spPr>
            <a:noFill/>
            <a:ln>
              <a:noFill/>
            </a:ln>
            <a:effectLst/>
          </c:spPr>
          <c:txPr>
            <a:bodyPr rot="-5400000" spcFirstLastPara="1" vertOverflow="ellipsis" vert="horz" wrap="square" anchor="ctr" anchorCtr="1"/>
            <a:lstStyle/>
            <a:p>
              <a:pPr>
                <a:defRPr sz="1400" b="0" i="0" u="none" strike="noStrike" kern="1200" baseline="0">
                  <a:solidFill>
                    <a:schemeClr val="tx1">
                      <a:lumMod val="65000"/>
                      <a:lumOff val="35000"/>
                    </a:schemeClr>
                  </a:solidFill>
                  <a:latin typeface="DM Sans" pitchFamily="2" charset="0"/>
                  <a:ea typeface="+mn-ea"/>
                  <a:cs typeface="+mn-cs"/>
                </a:defRPr>
              </a:pPr>
              <a:endParaRPr lang="en-IN"/>
            </a:p>
          </c:txPr>
        </c:title>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DM Sans" pitchFamily="2" charset="0"/>
                <a:ea typeface="+mn-ea"/>
                <a:cs typeface="+mn-cs"/>
              </a:defRPr>
            </a:pPr>
            <a:endParaRPr lang="en-US"/>
          </a:p>
        </c:txPr>
        <c:crossAx val="2079279072"/>
        <c:crosses val="autoZero"/>
        <c:crossBetween val="between"/>
      </c:valAx>
      <c:catAx>
        <c:axId val="2079279072"/>
        <c:scaling>
          <c:orientation val="minMax"/>
        </c:scaling>
        <c:delete val="1"/>
        <c:axPos val="b"/>
        <c:numFmt formatCode="General" sourceLinked="1"/>
        <c:majorTickMark val="out"/>
        <c:minorTickMark val="none"/>
        <c:tickLblPos val="nextTo"/>
        <c:crossAx val="2079271872"/>
        <c:crosses val="autoZero"/>
        <c:auto val="1"/>
        <c:lblAlgn val="ctr"/>
        <c:lblOffset val="100"/>
        <c:noMultiLvlLbl val="0"/>
      </c:cat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1050" b="0" i="0" u="none" strike="noStrike" kern="1200" baseline="0">
                <a:solidFill>
                  <a:schemeClr val="tx1">
                    <a:lumMod val="65000"/>
                    <a:lumOff val="35000"/>
                  </a:schemeClr>
                </a:solidFill>
                <a:latin typeface="DM Sans" pitchFamily="2" charset="0"/>
                <a:ea typeface="+mn-ea"/>
                <a:cs typeface="+mn-cs"/>
              </a:defRPr>
            </a:pPr>
            <a:endParaRPr lang="en-US"/>
          </a:p>
        </c:txPr>
      </c:dTable>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DM Sans"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2">
        <a:lumMod val="10000"/>
      </a:schemeClr>
    </a:soli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[task-3.csv]Sheet1!PivotTable7</c:name>
    <c:fmtId val="4"/>
  </c:pivotSource>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DM Sans" pitchFamily="2" charset="0"/>
                <a:ea typeface="+mn-ea"/>
                <a:cs typeface="+mn-cs"/>
              </a:defRPr>
            </a:pPr>
            <a:r>
              <a:rPr lang="en-US" sz="1800" b="0" i="0" u="none" strike="noStrike" baseline="0" dirty="0"/>
              <a:t>% of customers in each tier</a:t>
            </a:r>
            <a:endParaRPr lang="en-US" sz="1800" dirty="0">
              <a:latin typeface="DM Sans" pitchFamily="2" charset="0"/>
            </a:endParaRP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DM Sans" pitchFamily="2" charset="0"/>
              <a:ea typeface="+mn-ea"/>
              <a:cs typeface="+mn-cs"/>
            </a:defRPr>
          </a:pPr>
          <a:endParaRPr lang="en-US"/>
        </a:p>
      </c:txPr>
    </c:title>
    <c:autoTitleDeleted val="0"/>
    <c:pivotFmts>
      <c:pivotFmt>
        <c:idx val="0"/>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19050">
            <a:solidFill>
              <a:schemeClr val="lt1"/>
            </a:solidFill>
          </a:ln>
          <a:effectLst/>
        </c:spPr>
      </c:pivotFmt>
      <c:pivotFmt>
        <c:idx val="3"/>
        <c:spPr>
          <a:solidFill>
            <a:schemeClr val="accent1"/>
          </a:solidFill>
          <a:ln w="19050">
            <a:solidFill>
              <a:schemeClr val="lt1"/>
            </a:solidFill>
          </a:ln>
          <a:effectLst/>
        </c:spPr>
      </c:pivotFmt>
      <c:pivotFmt>
        <c:idx val="4"/>
        <c:spPr>
          <a:solidFill>
            <a:schemeClr val="accent1"/>
          </a:solidFill>
          <a:ln w="19050">
            <a:solidFill>
              <a:schemeClr val="lt1"/>
            </a:solidFill>
          </a:ln>
          <a:effectLst/>
        </c:spPr>
      </c:pivotFmt>
      <c:pivotFmt>
        <c:idx val="5"/>
        <c:spPr>
          <a:solidFill>
            <a:schemeClr val="accent1"/>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19050">
            <a:solidFill>
              <a:schemeClr val="lt1"/>
            </a:solidFill>
          </a:ln>
          <a:effectLst/>
        </c:spPr>
      </c:pivotFmt>
      <c:pivotFmt>
        <c:idx val="7"/>
        <c:spPr>
          <a:solidFill>
            <a:schemeClr val="accent1"/>
          </a:solidFill>
          <a:ln w="19050">
            <a:solidFill>
              <a:schemeClr val="lt1"/>
            </a:solidFill>
          </a:ln>
          <a:effectLst/>
        </c:spPr>
      </c:pivotFmt>
      <c:pivotFmt>
        <c:idx val="8"/>
        <c:spPr>
          <a:solidFill>
            <a:schemeClr val="accent1"/>
          </a:solidFill>
          <a:ln w="19050">
            <a:solidFill>
              <a:schemeClr val="lt1"/>
            </a:solidFill>
          </a:ln>
          <a:effectLst/>
        </c:spPr>
      </c:pivotFmt>
    </c:pivotFmts>
    <c:plotArea>
      <c:layout/>
      <c:pieChart>
        <c:varyColors val="1"/>
        <c:ser>
          <c:idx val="0"/>
          <c:order val="0"/>
          <c:tx>
            <c:strRef>
              <c:f>Sheet1!$B$3</c:f>
              <c:strCache>
                <c:ptCount val="1"/>
                <c:pt idx="0">
                  <c:v>Total</c:v>
                </c:pt>
              </c:strCache>
            </c:strRef>
          </c:tx>
          <c:spPr>
            <a:solidFill>
              <a:srgbClr val="FFC000"/>
            </a:solidFill>
          </c:spPr>
          <c:dPt>
            <c:idx val="0"/>
            <c:bubble3D val="0"/>
            <c:spPr>
              <a:solidFill>
                <a:schemeClr val="bg2">
                  <a:lumMod val="50000"/>
                </a:schemeClr>
              </a:solidFill>
              <a:ln w="19050">
                <a:solidFill>
                  <a:srgbClr val="FFF0C5"/>
                </a:solidFill>
              </a:ln>
              <a:effectLst/>
            </c:spPr>
            <c:extLst>
              <c:ext xmlns:c16="http://schemas.microsoft.com/office/drawing/2014/chart" uri="{C3380CC4-5D6E-409C-BE32-E72D297353CC}">
                <c16:uniqueId val="{00000001-2E69-4A7F-A163-40FC1E5CF272}"/>
              </c:ext>
            </c:extLst>
          </c:dPt>
          <c:dPt>
            <c:idx val="1"/>
            <c:bubble3D val="0"/>
            <c:spPr>
              <a:solidFill>
                <a:srgbClr val="FFF0C5"/>
              </a:solidFill>
              <a:ln w="19050">
                <a:solidFill>
                  <a:schemeClr val="bg2">
                    <a:lumMod val="50000"/>
                  </a:schemeClr>
                </a:solidFill>
              </a:ln>
              <a:effectLst/>
            </c:spPr>
            <c:extLst>
              <c:ext xmlns:c16="http://schemas.microsoft.com/office/drawing/2014/chart" uri="{C3380CC4-5D6E-409C-BE32-E72D297353CC}">
                <c16:uniqueId val="{00000003-2E69-4A7F-A163-40FC1E5CF272}"/>
              </c:ext>
            </c:extLst>
          </c:dPt>
          <c:dPt>
            <c:idx val="2"/>
            <c:bubble3D val="0"/>
            <c:spPr>
              <a:solidFill>
                <a:srgbClr val="FFC000"/>
              </a:solidFill>
              <a:ln w="19050">
                <a:solidFill>
                  <a:srgbClr val="FFCD40"/>
                </a:solidFill>
              </a:ln>
              <a:effectLst/>
            </c:spPr>
            <c:extLst>
              <c:ext xmlns:c16="http://schemas.microsoft.com/office/drawing/2014/chart" uri="{C3380CC4-5D6E-409C-BE32-E72D297353CC}">
                <c16:uniqueId val="{00000005-2E69-4A7F-A163-40FC1E5CF272}"/>
              </c:ext>
            </c:extLst>
          </c:dPt>
          <c:dLbls>
            <c:dLbl>
              <c:idx val="0"/>
              <c:spPr>
                <a:solidFill>
                  <a:srgbClr val="EEECE1">
                    <a:lumMod val="50000"/>
                  </a:srgbClr>
                </a:solidFill>
                <a:ln>
                  <a:noFill/>
                </a:ln>
                <a:effectLst/>
              </c:spPr>
              <c:txPr>
                <a:bodyPr rot="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1-2E69-4A7F-A163-40FC1E5CF272}"/>
                </c:ext>
              </c:extLst>
            </c:dLbl>
            <c:dLbl>
              <c:idx val="1"/>
              <c:spPr>
                <a:solidFill>
                  <a:srgbClr val="FFF0C5"/>
                </a:solidFill>
                <a:ln>
                  <a:noFill/>
                </a:ln>
                <a:effectLst/>
              </c:spPr>
              <c:txPr>
                <a:bodyPr rot="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3-2E69-4A7F-A163-40FC1E5CF272}"/>
                </c:ext>
              </c:extLst>
            </c:dLbl>
            <c:dLbl>
              <c:idx val="2"/>
              <c:spPr>
                <a:solidFill>
                  <a:srgbClr val="FFC000"/>
                </a:solidFill>
                <a:ln>
                  <a:noFill/>
                </a:ln>
                <a:effectLst/>
              </c:spPr>
              <c:txPr>
                <a:bodyPr rot="0" spcFirstLastPara="1" vertOverflow="clip" horzOverflow="clip" vert="horz" wrap="square" lIns="38100" tIns="19050" rIns="38100" bIns="19050" anchor="ctr" anchorCtr="1">
                  <a:spAutoFit/>
                </a:bodyPr>
                <a:lstStyle/>
                <a:p>
                  <a:pPr>
                    <a:defRPr sz="1200" b="0" i="0" u="none" strike="noStrike" kern="1200" baseline="0">
                      <a:solidFill>
                        <a:schemeClr val="tx1"/>
                      </a:solidFill>
                      <a:latin typeface="+mn-lt"/>
                      <a:ea typeface="+mn-ea"/>
                      <a:cs typeface="+mn-cs"/>
                    </a:defRPr>
                  </a:pPr>
                  <a:endParaRPr lang="en-US"/>
                </a:p>
              </c:txPr>
              <c:dLblPos val="inEnd"/>
              <c:showLegendKey val="0"/>
              <c:showVal val="0"/>
              <c:showCatName val="1"/>
              <c:showSerName val="0"/>
              <c:showPercent val="1"/>
              <c:showBubbleSize val="0"/>
              <c:extLst>
                <c:ext xmlns:c15="http://schemas.microsoft.com/office/drawing/2012/chart" uri="{CE6537A1-D6FC-4f65-9D91-7224C49458BB}">
                  <c15:spPr xmlns:c15="http://schemas.microsoft.com/office/drawing/2012/chart">
                    <a:prstGeom prst="wedgeRectCallout">
                      <a:avLst/>
                    </a:prstGeom>
                    <a:noFill/>
                    <a:ln>
                      <a:noFill/>
                    </a:ln>
                  </c15:spPr>
                </c:ext>
                <c:ext xmlns:c16="http://schemas.microsoft.com/office/drawing/2014/chart" uri="{C3380CC4-5D6E-409C-BE32-E72D297353CC}">
                  <c16:uniqueId val="{00000005-2E69-4A7F-A163-40FC1E5CF272}"/>
                </c:ext>
              </c:extLst>
            </c:dLbl>
            <c:spPr>
              <a:solidFill>
                <a:srgbClr val="EEECE1">
                  <a:lumMod val="10000"/>
                </a:srgbClr>
              </a:solidFill>
              <a:ln>
                <a:noFill/>
              </a:ln>
              <a:effectLst/>
            </c:spPr>
            <c:txPr>
              <a:bodyPr rot="0" spcFirstLastPara="1" vertOverflow="clip" horzOverflow="clip" vert="horz" wrap="square" lIns="38100" tIns="19050" rIns="38100" bIns="19050" anchor="ctr" anchorCtr="1">
                <a:spAutoFit/>
              </a:bodyPr>
              <a:lstStyle/>
              <a:p>
                <a:pPr>
                  <a:defRPr sz="1200" b="0" i="0" u="none" strike="noStrike" kern="1200" baseline="0">
                    <a:solidFill>
                      <a:schemeClr val="bg1"/>
                    </a:solidFill>
                    <a:latin typeface="+mn-lt"/>
                    <a:ea typeface="+mn-ea"/>
                    <a:cs typeface="+mn-cs"/>
                  </a:defRPr>
                </a:pPr>
                <a:endParaRPr lang="en-US"/>
              </a:p>
            </c:txPr>
            <c:dLblPos val="inEnd"/>
            <c:showLegendKey val="0"/>
            <c:showVal val="0"/>
            <c:showCatName val="1"/>
            <c:showSerName val="0"/>
            <c:showPercent val="1"/>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Sheet1!$A$4:$A$7</c:f>
              <c:strCache>
                <c:ptCount val="3"/>
                <c:pt idx="0">
                  <c:v>High</c:v>
                </c:pt>
                <c:pt idx="1">
                  <c:v>Low</c:v>
                </c:pt>
                <c:pt idx="2">
                  <c:v>Medium</c:v>
                </c:pt>
              </c:strCache>
            </c:strRef>
          </c:cat>
          <c:val>
            <c:numRef>
              <c:f>Sheet1!$B$4:$B$7</c:f>
              <c:numCache>
                <c:formatCode>General</c:formatCode>
                <c:ptCount val="3"/>
                <c:pt idx="0">
                  <c:v>3</c:v>
                </c:pt>
                <c:pt idx="1">
                  <c:v>4</c:v>
                </c:pt>
                <c:pt idx="2">
                  <c:v>8</c:v>
                </c:pt>
              </c:numCache>
            </c:numRef>
          </c:val>
          <c:extLst>
            <c:ext xmlns:c16="http://schemas.microsoft.com/office/drawing/2014/chart" uri="{C3380CC4-5D6E-409C-BE32-E72D297353CC}">
              <c16:uniqueId val="{00000006-2E69-4A7F-A163-40FC1E5CF272}"/>
            </c:ext>
          </c:extLst>
        </c:ser>
        <c:dLbls>
          <c:dLblPos val="bestFit"/>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1400" b="0" i="0" u="none" strike="noStrike" kern="1200" baseline="0">
              <a:solidFill>
                <a:schemeClr val="tx1">
                  <a:lumMod val="65000"/>
                  <a:lumOff val="35000"/>
                </a:schemeClr>
              </a:solidFill>
              <a:latin typeface="DM Sans"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2">
        <a:lumMod val="10000"/>
      </a:schemeClr>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US" sz="1800" b="1" i="0" u="none" strike="noStrike" cap="none" baseline="0" dirty="0">
                <a:latin typeface="DM Sans" pitchFamily="2" charset="0"/>
              </a:rPr>
              <a:t>Sales Anomaly Detection by Product Line</a:t>
            </a:r>
            <a:endParaRPr lang="en-IN" sz="1800" dirty="0">
              <a:latin typeface="DM Sans" pitchFamily="2" charset="0"/>
            </a:endParaRPr>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IN"/>
        </a:p>
      </c:txPr>
    </c:title>
    <c:autoTitleDeleted val="0"/>
    <c:plotArea>
      <c:layout/>
      <c:lineChart>
        <c:grouping val="standard"/>
        <c:varyColors val="0"/>
        <c:ser>
          <c:idx val="0"/>
          <c:order val="0"/>
          <c:tx>
            <c:strRef>
              <c:f>'task-4.1'!$B$1</c:f>
              <c:strCache>
                <c:ptCount val="1"/>
                <c:pt idx="0">
                  <c:v>Anomalies_detected</c:v>
                </c:pt>
              </c:strCache>
            </c:strRef>
          </c:tx>
          <c:spPr>
            <a:ln w="22225" cap="rnd">
              <a:solidFill>
                <a:srgbClr val="FFF0C5"/>
              </a:solidFill>
            </a:ln>
            <a:effectLst>
              <a:glow rad="139700">
                <a:schemeClr val="accent6">
                  <a:lumMod val="60000"/>
                  <a:lumOff val="40000"/>
                  <a:alpha val="14000"/>
                </a:schemeClr>
              </a:glow>
            </a:effectLst>
          </c:spPr>
          <c:marker>
            <c:symbol val="none"/>
          </c:marker>
          <c:cat>
            <c:strRef>
              <c:f>'task-4.1'!$A$2:$A$7</c:f>
              <c:strCache>
                <c:ptCount val="6"/>
                <c:pt idx="0">
                  <c:v>Food and beverages</c:v>
                </c:pt>
                <c:pt idx="1">
                  <c:v>Electronic accessories</c:v>
                </c:pt>
                <c:pt idx="2">
                  <c:v>Fashion accessories</c:v>
                </c:pt>
                <c:pt idx="3">
                  <c:v>Sports and travel</c:v>
                </c:pt>
                <c:pt idx="4">
                  <c:v>Health and beauty</c:v>
                </c:pt>
                <c:pt idx="5">
                  <c:v>Home and lifestyle</c:v>
                </c:pt>
              </c:strCache>
            </c:strRef>
          </c:cat>
          <c:val>
            <c:numRef>
              <c:f>'task-4.1'!$B$2:$B$7</c:f>
              <c:numCache>
                <c:formatCode>0</c:formatCode>
                <c:ptCount val="6"/>
                <c:pt idx="0">
                  <c:v>12</c:v>
                </c:pt>
                <c:pt idx="1">
                  <c:v>9</c:v>
                </c:pt>
                <c:pt idx="2">
                  <c:v>9</c:v>
                </c:pt>
                <c:pt idx="3">
                  <c:v>8</c:v>
                </c:pt>
                <c:pt idx="4">
                  <c:v>7</c:v>
                </c:pt>
                <c:pt idx="5">
                  <c:v>6</c:v>
                </c:pt>
              </c:numCache>
            </c:numRef>
          </c:val>
          <c:smooth val="0"/>
          <c:extLst>
            <c:ext xmlns:c16="http://schemas.microsoft.com/office/drawing/2014/chart" uri="{C3380CC4-5D6E-409C-BE32-E72D297353CC}">
              <c16:uniqueId val="{00000000-5467-4FB0-A1D8-11B0AB5A6092}"/>
            </c:ext>
          </c:extLst>
        </c:ser>
        <c:ser>
          <c:idx val="1"/>
          <c:order val="1"/>
          <c:tx>
            <c:strRef>
              <c:f>'task-4.1'!$C$1</c:f>
              <c:strCache>
                <c:ptCount val="1"/>
                <c:pt idx="0">
                  <c:v>Total_transactions</c:v>
                </c:pt>
              </c:strCache>
            </c:strRef>
          </c:tx>
          <c:spPr>
            <a:ln w="31750" cap="rnd">
              <a:solidFill>
                <a:srgbClr val="FFC000"/>
              </a:solidFill>
            </a:ln>
            <a:effectLst>
              <a:glow rad="139700">
                <a:srgbClr val="FFFF00">
                  <a:alpha val="14000"/>
                </a:srgbClr>
              </a:glow>
            </a:effectLst>
          </c:spPr>
          <c:marker>
            <c:symbol val="none"/>
          </c:marker>
          <c:cat>
            <c:strRef>
              <c:f>'task-4.1'!$A$2:$A$7</c:f>
              <c:strCache>
                <c:ptCount val="6"/>
                <c:pt idx="0">
                  <c:v>Food and beverages</c:v>
                </c:pt>
                <c:pt idx="1">
                  <c:v>Electronic accessories</c:v>
                </c:pt>
                <c:pt idx="2">
                  <c:v>Fashion accessories</c:v>
                </c:pt>
                <c:pt idx="3">
                  <c:v>Sports and travel</c:v>
                </c:pt>
                <c:pt idx="4">
                  <c:v>Health and beauty</c:v>
                </c:pt>
                <c:pt idx="5">
                  <c:v>Home and lifestyle</c:v>
                </c:pt>
              </c:strCache>
            </c:strRef>
          </c:cat>
          <c:val>
            <c:numRef>
              <c:f>'task-4.1'!$C$2:$C$7</c:f>
              <c:numCache>
                <c:formatCode>0</c:formatCode>
                <c:ptCount val="6"/>
                <c:pt idx="0">
                  <c:v>174</c:v>
                </c:pt>
                <c:pt idx="1">
                  <c:v>170</c:v>
                </c:pt>
                <c:pt idx="2">
                  <c:v>178</c:v>
                </c:pt>
                <c:pt idx="3">
                  <c:v>166</c:v>
                </c:pt>
                <c:pt idx="4">
                  <c:v>152</c:v>
                </c:pt>
                <c:pt idx="5">
                  <c:v>160</c:v>
                </c:pt>
              </c:numCache>
            </c:numRef>
          </c:val>
          <c:smooth val="0"/>
          <c:extLst>
            <c:ext xmlns:c16="http://schemas.microsoft.com/office/drawing/2014/chart" uri="{C3380CC4-5D6E-409C-BE32-E72D297353CC}">
              <c16:uniqueId val="{00000001-5467-4FB0-A1D8-11B0AB5A6092}"/>
            </c:ext>
          </c:extLst>
        </c:ser>
        <c:ser>
          <c:idx val="2"/>
          <c:order val="2"/>
          <c:tx>
            <c:strRef>
              <c:f>'task-4.1'!$D$1</c:f>
              <c:strCache>
                <c:ptCount val="1"/>
                <c:pt idx="0">
                  <c:v>% of anomalies</c:v>
                </c:pt>
              </c:strCache>
            </c:strRef>
          </c:tx>
          <c:spPr>
            <a:ln w="22225" cap="rnd">
              <a:solidFill>
                <a:schemeClr val="accent6">
                  <a:lumMod val="50000"/>
                </a:schemeClr>
              </a:solidFill>
            </a:ln>
            <a:effectLst>
              <a:glow rad="139700">
                <a:schemeClr val="accent6">
                  <a:lumMod val="50000"/>
                  <a:alpha val="14000"/>
                </a:schemeClr>
              </a:glow>
            </a:effectLst>
          </c:spPr>
          <c:marker>
            <c:symbol val="none"/>
          </c:marker>
          <c:cat>
            <c:strRef>
              <c:f>'task-4.1'!$A$2:$A$7</c:f>
              <c:strCache>
                <c:ptCount val="6"/>
                <c:pt idx="0">
                  <c:v>Food and beverages</c:v>
                </c:pt>
                <c:pt idx="1">
                  <c:v>Electronic accessories</c:v>
                </c:pt>
                <c:pt idx="2">
                  <c:v>Fashion accessories</c:v>
                </c:pt>
                <c:pt idx="3">
                  <c:v>Sports and travel</c:v>
                </c:pt>
                <c:pt idx="4">
                  <c:v>Health and beauty</c:v>
                </c:pt>
                <c:pt idx="5">
                  <c:v>Home and lifestyle</c:v>
                </c:pt>
              </c:strCache>
            </c:strRef>
          </c:cat>
          <c:val>
            <c:numRef>
              <c:f>'task-4.1'!$D$2:$D$7</c:f>
              <c:numCache>
                <c:formatCode>General</c:formatCode>
                <c:ptCount val="6"/>
                <c:pt idx="0">
                  <c:v>6.9</c:v>
                </c:pt>
                <c:pt idx="1">
                  <c:v>5.29</c:v>
                </c:pt>
                <c:pt idx="2">
                  <c:v>5.0599999999999996</c:v>
                </c:pt>
                <c:pt idx="3">
                  <c:v>4.82</c:v>
                </c:pt>
                <c:pt idx="4">
                  <c:v>4.6100000000000003</c:v>
                </c:pt>
                <c:pt idx="5">
                  <c:v>3.75</c:v>
                </c:pt>
              </c:numCache>
            </c:numRef>
          </c:val>
          <c:smooth val="0"/>
          <c:extLst>
            <c:ext xmlns:c16="http://schemas.microsoft.com/office/drawing/2014/chart" uri="{C3380CC4-5D6E-409C-BE32-E72D297353CC}">
              <c16:uniqueId val="{00000002-5467-4FB0-A1D8-11B0AB5A6092}"/>
            </c:ext>
          </c:extLst>
        </c:ser>
        <c:dLbls>
          <c:showLegendKey val="0"/>
          <c:showVal val="0"/>
          <c:showCatName val="0"/>
          <c:showSerName val="0"/>
          <c:showPercent val="0"/>
          <c:showBubbleSize val="0"/>
        </c:dLbls>
        <c:smooth val="0"/>
        <c:axId val="2081334319"/>
        <c:axId val="2081334799"/>
      </c:lineChart>
      <c:catAx>
        <c:axId val="2081334319"/>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minorGridlines>
          <c: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a:effectLst/>
          </c:spPr>
        </c:minorGridlines>
        <c:numFmt formatCode="General" sourceLinked="1"/>
        <c:majorTickMark val="none"/>
        <c:minorTickMark val="none"/>
        <c:tickLblPos val="nextTo"/>
        <c:spPr>
          <a:solidFill>
            <a:schemeClr val="bg2">
              <a:lumMod val="75000"/>
            </a:schemeClr>
          </a:solidFill>
          <a:ln>
            <a:noFill/>
          </a:ln>
          <a:effectLst/>
        </c:spPr>
        <c:txPr>
          <a:bodyPr rot="-60000000" spcFirstLastPara="1" vertOverflow="ellipsis" vert="horz" wrap="square" anchor="ctr" anchorCtr="1"/>
          <a:lstStyle/>
          <a:p>
            <a:pPr>
              <a:defRPr sz="1600" b="0" i="0" u="none" strike="noStrike" kern="1200" baseline="0">
                <a:solidFill>
                  <a:schemeClr val="tx1"/>
                </a:solidFill>
                <a:latin typeface="DM Sans" pitchFamily="2" charset="0"/>
                <a:ea typeface="+mn-ea"/>
                <a:cs typeface="+mn-cs"/>
              </a:defRPr>
            </a:pPr>
            <a:endParaRPr lang="en-US"/>
          </a:p>
        </c:txPr>
        <c:crossAx val="2081334799"/>
        <c:crosses val="autoZero"/>
        <c:auto val="1"/>
        <c:lblAlgn val="ctr"/>
        <c:lblOffset val="100"/>
        <c:noMultiLvlLbl val="0"/>
      </c:catAx>
      <c:valAx>
        <c:axId val="2081334799"/>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minorGridlines>
          <c: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a:effectLst/>
          </c:spPr>
        </c:min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600" b="0" i="0" u="none" strike="noStrike" kern="1200" baseline="0">
                <a:solidFill>
                  <a:schemeClr val="lt1">
                    <a:lumMod val="75000"/>
                  </a:schemeClr>
                </a:solidFill>
                <a:latin typeface="+mn-lt"/>
                <a:ea typeface="+mn-ea"/>
                <a:cs typeface="+mn-cs"/>
              </a:defRPr>
            </a:pPr>
            <a:endParaRPr lang="en-US"/>
          </a:p>
        </c:txPr>
        <c:crossAx val="2081334319"/>
        <c:crosses val="autoZero"/>
        <c:crossBetween val="between"/>
      </c:valAx>
      <c:spPr>
        <a:noFill/>
        <a:ln>
          <a:noFill/>
        </a:ln>
        <a:effectLst/>
      </c:spPr>
    </c:plotArea>
    <c:legend>
      <c:legendPos val="t"/>
      <c:legendEntry>
        <c:idx val="0"/>
        <c:txPr>
          <a:bodyPr rot="0" spcFirstLastPara="1" vertOverflow="ellipsis" vert="horz" wrap="square" anchor="ctr" anchorCtr="1"/>
          <a:lstStyle/>
          <a:p>
            <a:pPr>
              <a:defRPr sz="1600" b="0" i="0" u="none" strike="noStrike" kern="1200" baseline="0">
                <a:solidFill>
                  <a:schemeClr val="lt1">
                    <a:lumMod val="75000"/>
                  </a:schemeClr>
                </a:solidFill>
                <a:latin typeface="+mn-lt"/>
                <a:ea typeface="+mn-ea"/>
                <a:cs typeface="+mn-cs"/>
              </a:defRPr>
            </a:pPr>
            <a:endParaRPr lang="en-US"/>
          </a:p>
        </c:txPr>
      </c:legendEntry>
      <c:legendEntry>
        <c:idx val="1"/>
        <c:txPr>
          <a:bodyPr rot="0" spcFirstLastPara="1" vertOverflow="ellipsis" vert="horz" wrap="square" anchor="ctr" anchorCtr="1"/>
          <a:lstStyle/>
          <a:p>
            <a:pPr>
              <a:defRPr sz="1600" b="0" i="0" u="none" strike="noStrike" kern="1200" baseline="0">
                <a:solidFill>
                  <a:schemeClr val="lt1">
                    <a:lumMod val="75000"/>
                  </a:schemeClr>
                </a:solidFill>
                <a:latin typeface="+mn-lt"/>
                <a:ea typeface="+mn-ea"/>
                <a:cs typeface="+mn-cs"/>
              </a:defRPr>
            </a:pPr>
            <a:endParaRPr lang="en-US"/>
          </a:p>
        </c:txPr>
      </c:legendEntry>
      <c:legendEntry>
        <c:idx val="2"/>
        <c:txPr>
          <a:bodyPr rot="0" spcFirstLastPara="1" vertOverflow="ellipsis" vert="horz" wrap="square" anchor="ctr" anchorCtr="1"/>
          <a:lstStyle/>
          <a:p>
            <a:pPr>
              <a:defRPr sz="1600" b="0" i="0" u="none" strike="noStrike" kern="1200" baseline="0">
                <a:solidFill>
                  <a:schemeClr val="lt1">
                    <a:lumMod val="75000"/>
                  </a:schemeClr>
                </a:solidFill>
                <a:latin typeface="+mn-lt"/>
                <a:ea typeface="+mn-ea"/>
                <a:cs typeface="+mn-cs"/>
              </a:defRPr>
            </a:pPr>
            <a:endParaRPr lang="en-US"/>
          </a:p>
        </c:txPr>
      </c:legendEntry>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2">
        <a:lumMod val="10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800" dirty="0">
                <a:latin typeface="DM Sans" pitchFamily="2" charset="0"/>
              </a:rPr>
              <a:t>Transaction_count</a:t>
            </a:r>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col"/>
        <c:grouping val="clustered"/>
        <c:varyColors val="0"/>
        <c:ser>
          <c:idx val="0"/>
          <c:order val="0"/>
          <c:tx>
            <c:strRef>
              <c:f>'task-5'!$C$1</c:f>
              <c:strCache>
                <c:ptCount val="1"/>
                <c:pt idx="0">
                  <c:v>Transaction_count</c:v>
                </c:pt>
              </c:strCache>
            </c:strRef>
          </c:tx>
          <c:spPr>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invertIfNegative val="0"/>
          <c:dPt>
            <c:idx val="0"/>
            <c:invertIfNegative val="0"/>
            <c:bubble3D val="0"/>
            <c:spPr>
              <a:gradFill rotWithShape="1">
                <a:gsLst>
                  <a:gs pos="0">
                    <a:srgbClr val="D07C00"/>
                  </a:gs>
                  <a:gs pos="50000">
                    <a:srgbClr val="FFFF00"/>
                  </a:gs>
                  <a:gs pos="100000">
                    <a:schemeClr val="bg1"/>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3-1A7B-4504-8AFB-99F92D0983B0}"/>
              </c:ext>
            </c:extLst>
          </c:dPt>
          <c:dPt>
            <c:idx val="1"/>
            <c:invertIfNegative val="0"/>
            <c:bubble3D val="0"/>
            <c:spPr>
              <a:gradFill rotWithShape="1">
                <a:gsLst>
                  <a:gs pos="0">
                    <a:srgbClr val="FFC000"/>
                  </a:gs>
                  <a:gs pos="50000">
                    <a:srgbClr val="FFDE81"/>
                  </a:gs>
                  <a:gs pos="100000">
                    <a:srgbClr val="FFE9AB"/>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2-1A7B-4504-8AFB-99F92D0983B0}"/>
              </c:ext>
            </c:extLst>
          </c:dPt>
          <c:dPt>
            <c:idx val="2"/>
            <c:invertIfNegative val="0"/>
            <c:bubble3D val="0"/>
            <c:spPr>
              <a:gradFill rotWithShape="1">
                <a:gsLst>
                  <a:gs pos="34000">
                    <a:srgbClr val="FFFF00"/>
                  </a:gs>
                  <a:gs pos="0">
                    <a:schemeClr val="bg2">
                      <a:lumMod val="50000"/>
                    </a:schemeClr>
                  </a:gs>
                  <a:gs pos="93000">
                    <a:schemeClr val="bg2">
                      <a:lumMod val="9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c:spPr>
            <c:extLst>
              <c:ext xmlns:c16="http://schemas.microsoft.com/office/drawing/2014/chart" uri="{C3380CC4-5D6E-409C-BE32-E72D297353CC}">
                <c16:uniqueId val="{00000001-1A7B-4504-8AFB-99F92D0983B0}"/>
              </c:ext>
            </c:extLst>
          </c:dPt>
          <c:cat>
            <c:multiLvlStrRef>
              <c:f>'task-5'!$A$2:$B$4</c:f>
              <c:multiLvlStrCache>
                <c:ptCount val="3"/>
                <c:lvl>
                  <c:pt idx="0">
                    <c:v>Ewallet</c:v>
                  </c:pt>
                  <c:pt idx="1">
                    <c:v>Cash</c:v>
                  </c:pt>
                  <c:pt idx="2">
                    <c:v>Ewallet</c:v>
                  </c:pt>
                </c:lvl>
                <c:lvl>
                  <c:pt idx="0">
                    <c:v>Mandalay</c:v>
                  </c:pt>
                  <c:pt idx="1">
                    <c:v>Naypyitaw</c:v>
                  </c:pt>
                  <c:pt idx="2">
                    <c:v>Yangon</c:v>
                  </c:pt>
                </c:lvl>
              </c:multiLvlStrCache>
            </c:multiLvlStrRef>
          </c:cat>
          <c:val>
            <c:numRef>
              <c:f>'task-5'!$C$2:$C$4</c:f>
              <c:numCache>
                <c:formatCode>General</c:formatCode>
                <c:ptCount val="3"/>
                <c:pt idx="0">
                  <c:v>113</c:v>
                </c:pt>
                <c:pt idx="1">
                  <c:v>124</c:v>
                </c:pt>
                <c:pt idx="2">
                  <c:v>126</c:v>
                </c:pt>
              </c:numCache>
            </c:numRef>
          </c:val>
          <c:extLst>
            <c:ext xmlns:c16="http://schemas.microsoft.com/office/drawing/2014/chart" uri="{C3380CC4-5D6E-409C-BE32-E72D297353CC}">
              <c16:uniqueId val="{00000000-1A7B-4504-8AFB-99F92D0983B0}"/>
            </c:ext>
          </c:extLst>
        </c:ser>
        <c:dLbls>
          <c:showLegendKey val="0"/>
          <c:showVal val="0"/>
          <c:showCatName val="0"/>
          <c:showSerName val="0"/>
          <c:showPercent val="0"/>
          <c:showBubbleSize val="0"/>
        </c:dLbls>
        <c:gapWidth val="150"/>
        <c:shape val="box"/>
        <c:axId val="76238816"/>
        <c:axId val="76245056"/>
        <c:axId val="0"/>
      </c:bar3DChart>
      <c:catAx>
        <c:axId val="76238816"/>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76245056"/>
        <c:crosses val="autoZero"/>
        <c:auto val="1"/>
        <c:lblAlgn val="ctr"/>
        <c:lblOffset val="100"/>
        <c:noMultiLvlLbl val="0"/>
      </c:catAx>
      <c:valAx>
        <c:axId val="76245056"/>
        <c:scaling>
          <c:orientation val="minMax"/>
        </c:scaling>
        <c:delete val="0"/>
        <c:axPos val="l"/>
        <c:majorGridlines>
          <c:spPr>
            <a:ln w="9525" cap="flat" cmpd="sng" algn="ctr">
              <a:solidFill>
                <a:schemeClr val="dk1">
                  <a:lumMod val="50000"/>
                  <a:lumOff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762388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2">
        <a:lumMod val="10000"/>
      </a:schemeClr>
    </a:solid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IN" sz="1600" b="1" i="0" u="none" strike="noStrike" baseline="0">
                <a:effectLst>
                  <a:outerShdw blurRad="50800" dist="38100" dir="5400000" algn="t" rotWithShape="0">
                    <a:prstClr val="black">
                      <a:alpha val="40000"/>
                    </a:prstClr>
                  </a:outerShdw>
                </a:effectLst>
              </a:rPr>
              <a:t>Monthly Sales Distribution by Gender (2019)</a:t>
            </a:r>
            <a:endParaRPr lang="en-IN"/>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IN"/>
        </a:p>
      </c:txPr>
    </c:title>
    <c:autoTitleDeleted val="0"/>
    <c:plotArea>
      <c:layout/>
      <c:lineChart>
        <c:grouping val="standard"/>
        <c:varyColors val="0"/>
        <c:ser>
          <c:idx val="0"/>
          <c:order val="0"/>
          <c:tx>
            <c:strRef>
              <c:f>'task-6'!$C$1</c:f>
              <c:strCache>
                <c:ptCount val="1"/>
                <c:pt idx="0">
                  <c:v>Gender_sales</c:v>
                </c:pt>
              </c:strCache>
            </c:strRef>
          </c:tx>
          <c:spPr>
            <a:ln w="34925" cap="rnd">
              <a:solidFill>
                <a:srgbClr val="FFFF00"/>
              </a:solidFill>
              <a:round/>
            </a:ln>
            <a:effectLst>
              <a:outerShdw blurRad="57150" dist="19050" dir="5400000" algn="ctr" rotWithShape="0">
                <a:srgbClr val="000000">
                  <a:alpha val="63000"/>
                </a:srgbClr>
              </a:outerShdw>
            </a:effectLst>
          </c:spPr>
          <c:marker>
            <c:symbol val="none"/>
          </c:marker>
          <c:dPt>
            <c:idx val="14"/>
            <c:marker>
              <c:symbol val="none"/>
            </c:marker>
            <c:bubble3D val="0"/>
            <c:spPr>
              <a:ln w="25400" cap="rnd">
                <a:solidFill>
                  <a:srgbClr val="FFFF00"/>
                </a:solidFill>
                <a:round/>
              </a:ln>
              <a:effectLst>
                <a:outerShdw blurRad="57150" dist="19050" dir="5400000" algn="ctr" rotWithShape="0">
                  <a:srgbClr val="000000">
                    <a:alpha val="63000"/>
                  </a:srgbClr>
                </a:outerShdw>
              </a:effectLst>
            </c:spPr>
            <c:extLst>
              <c:ext xmlns:c16="http://schemas.microsoft.com/office/drawing/2014/chart" uri="{C3380CC4-5D6E-409C-BE32-E72D297353CC}">
                <c16:uniqueId val="{00000001-D083-418E-8671-92DFF8924772}"/>
              </c:ext>
            </c:extLst>
          </c:dPt>
          <c:dLbls>
            <c:dLbl>
              <c:idx val="13"/>
              <c:layout>
                <c:manualLayout>
                  <c:x val="-2.9861111111111113E-2"/>
                  <c:y val="-3.5878905547765433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D083-418E-8671-92DFF8924772}"/>
                </c:ext>
              </c:extLst>
            </c:dLbl>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'task-6'!$A$2:$A$25</c:f>
              <c:strCache>
                <c:ptCount val="24"/>
                <c:pt idx="0">
                  <c:v>2019-01</c:v>
                </c:pt>
                <c:pt idx="1">
                  <c:v>2019-01</c:v>
                </c:pt>
                <c:pt idx="2">
                  <c:v>2019-02</c:v>
                </c:pt>
                <c:pt idx="3">
                  <c:v>2019-02</c:v>
                </c:pt>
                <c:pt idx="4">
                  <c:v>2019-03</c:v>
                </c:pt>
                <c:pt idx="5">
                  <c:v>2019-03</c:v>
                </c:pt>
                <c:pt idx="6">
                  <c:v>2019-04</c:v>
                </c:pt>
                <c:pt idx="7">
                  <c:v>2019-04</c:v>
                </c:pt>
                <c:pt idx="8">
                  <c:v>2019-05</c:v>
                </c:pt>
                <c:pt idx="9">
                  <c:v>2019-05</c:v>
                </c:pt>
                <c:pt idx="10">
                  <c:v>2019-06</c:v>
                </c:pt>
                <c:pt idx="11">
                  <c:v>2019-06</c:v>
                </c:pt>
                <c:pt idx="12">
                  <c:v>2019-07</c:v>
                </c:pt>
                <c:pt idx="13">
                  <c:v>2019-07</c:v>
                </c:pt>
                <c:pt idx="14">
                  <c:v>2019-08</c:v>
                </c:pt>
                <c:pt idx="15">
                  <c:v>2019-08</c:v>
                </c:pt>
                <c:pt idx="16">
                  <c:v>2019-09</c:v>
                </c:pt>
                <c:pt idx="17">
                  <c:v>2019-09</c:v>
                </c:pt>
                <c:pt idx="18">
                  <c:v>2019-10</c:v>
                </c:pt>
                <c:pt idx="19">
                  <c:v>2019-10</c:v>
                </c:pt>
                <c:pt idx="20">
                  <c:v>2019-11</c:v>
                </c:pt>
                <c:pt idx="21">
                  <c:v>2019-11</c:v>
                </c:pt>
                <c:pt idx="22">
                  <c:v>2019-12</c:v>
                </c:pt>
                <c:pt idx="23">
                  <c:v>2019-12</c:v>
                </c:pt>
              </c:strCache>
              <c:extLst/>
            </c:strRef>
          </c:cat>
          <c:val>
            <c:numRef>
              <c:f>'task-6'!$C$2:$C$25</c:f>
              <c:numCache>
                <c:formatCode>0</c:formatCode>
                <c:ptCount val="24"/>
                <c:pt idx="0">
                  <c:v>6397.9335000000001</c:v>
                </c:pt>
                <c:pt idx="1">
                  <c:v>3426.1499999999901</c:v>
                </c:pt>
                <c:pt idx="2">
                  <c:v>7477.2075000000004</c:v>
                </c:pt>
                <c:pt idx="3">
                  <c:v>5169.549</c:v>
                </c:pt>
                <c:pt idx="4">
                  <c:v>5793.6480000000001</c:v>
                </c:pt>
                <c:pt idx="5">
                  <c:v>6605.5815000000002</c:v>
                </c:pt>
                <c:pt idx="6">
                  <c:v>5490.9960000000001</c:v>
                </c:pt>
                <c:pt idx="7">
                  <c:v>2466.6284999999998</c:v>
                </c:pt>
                <c:pt idx="8">
                  <c:v>9191.7104999999992</c:v>
                </c:pt>
                <c:pt idx="9">
                  <c:v>3606.9809999999902</c:v>
                </c:pt>
                <c:pt idx="10">
                  <c:v>3290.2485000000001</c:v>
                </c:pt>
                <c:pt idx="11">
                  <c:v>6321.9764999999998</c:v>
                </c:pt>
                <c:pt idx="12">
                  <c:v>5308.9259999999904</c:v>
                </c:pt>
                <c:pt idx="13">
                  <c:v>6191.7870000000003</c:v>
                </c:pt>
                <c:pt idx="14">
                  <c:v>9795.3764999999894</c:v>
                </c:pt>
                <c:pt idx="15">
                  <c:v>3708.4005000000002</c:v>
                </c:pt>
                <c:pt idx="16">
                  <c:v>6414.4814999999999</c:v>
                </c:pt>
                <c:pt idx="17">
                  <c:v>7352.80349999999</c:v>
                </c:pt>
                <c:pt idx="18">
                  <c:v>5433.1304999999902</c:v>
                </c:pt>
                <c:pt idx="19">
                  <c:v>4432.0709999999999</c:v>
                </c:pt>
                <c:pt idx="20">
                  <c:v>5594.3580000000002</c:v>
                </c:pt>
                <c:pt idx="21">
                  <c:v>4024.0095000000001</c:v>
                </c:pt>
                <c:pt idx="22">
                  <c:v>4505.1719999999996</c:v>
                </c:pt>
                <c:pt idx="23">
                  <c:v>7356.1319999999896</c:v>
                </c:pt>
              </c:numCache>
            </c:numRef>
          </c:val>
          <c:smooth val="0"/>
          <c:extLst>
            <c:ext xmlns:c16="http://schemas.microsoft.com/office/drawing/2014/chart" uri="{C3380CC4-5D6E-409C-BE32-E72D297353CC}">
              <c16:uniqueId val="{00000002-D083-418E-8671-92DFF8924772}"/>
            </c:ext>
          </c:extLst>
        </c:ser>
        <c:ser>
          <c:idx val="1"/>
          <c:order val="1"/>
          <c:tx>
            <c:strRef>
              <c:f>'task-6'!$D$1</c:f>
              <c:strCache>
                <c:ptCount val="1"/>
                <c:pt idx="0">
                  <c:v>% of Month</c:v>
                </c:pt>
              </c:strCache>
            </c:strRef>
          </c:tx>
          <c:spPr>
            <a:ln w="34925" cap="rnd">
              <a:solidFill>
                <a:srgbClr val="D07C00"/>
              </a:solidFill>
              <a:round/>
            </a:ln>
            <a:effectLst>
              <a:outerShdw blurRad="57150" dist="19050" dir="5400000" algn="ctr" rotWithShape="0">
                <a:srgbClr val="000000">
                  <a:alpha val="63000"/>
                </a:srgbClr>
              </a:outerShd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1400" b="0" i="0" u="none" strike="noStrike" kern="1200" baseline="0">
                    <a:solidFill>
                      <a:schemeClr val="lt1">
                        <a:lumMod val="85000"/>
                      </a:schemeClr>
                    </a:solidFill>
                    <a:latin typeface="+mn-lt"/>
                    <a:ea typeface="+mn-ea"/>
                    <a:cs typeface="+mn-cs"/>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95000"/>
                          <a:alpha val="54000"/>
                        </a:schemeClr>
                      </a:solidFill>
                    </a:ln>
                    <a:effectLst/>
                  </c:spPr>
                </c15:leaderLines>
              </c:ext>
            </c:extLst>
          </c:dLbls>
          <c:cat>
            <c:strRef>
              <c:f>'task-6'!$A$2:$A$25</c:f>
              <c:strCache>
                <c:ptCount val="24"/>
                <c:pt idx="0">
                  <c:v>2019-01</c:v>
                </c:pt>
                <c:pt idx="1">
                  <c:v>2019-01</c:v>
                </c:pt>
                <c:pt idx="2">
                  <c:v>2019-02</c:v>
                </c:pt>
                <c:pt idx="3">
                  <c:v>2019-02</c:v>
                </c:pt>
                <c:pt idx="4">
                  <c:v>2019-03</c:v>
                </c:pt>
                <c:pt idx="5">
                  <c:v>2019-03</c:v>
                </c:pt>
                <c:pt idx="6">
                  <c:v>2019-04</c:v>
                </c:pt>
                <c:pt idx="7">
                  <c:v>2019-04</c:v>
                </c:pt>
                <c:pt idx="8">
                  <c:v>2019-05</c:v>
                </c:pt>
                <c:pt idx="9">
                  <c:v>2019-05</c:v>
                </c:pt>
                <c:pt idx="10">
                  <c:v>2019-06</c:v>
                </c:pt>
                <c:pt idx="11">
                  <c:v>2019-06</c:v>
                </c:pt>
                <c:pt idx="12">
                  <c:v>2019-07</c:v>
                </c:pt>
                <c:pt idx="13">
                  <c:v>2019-07</c:v>
                </c:pt>
                <c:pt idx="14">
                  <c:v>2019-08</c:v>
                </c:pt>
                <c:pt idx="15">
                  <c:v>2019-08</c:v>
                </c:pt>
                <c:pt idx="16">
                  <c:v>2019-09</c:v>
                </c:pt>
                <c:pt idx="17">
                  <c:v>2019-09</c:v>
                </c:pt>
                <c:pt idx="18">
                  <c:v>2019-10</c:v>
                </c:pt>
                <c:pt idx="19">
                  <c:v>2019-10</c:v>
                </c:pt>
                <c:pt idx="20">
                  <c:v>2019-11</c:v>
                </c:pt>
                <c:pt idx="21">
                  <c:v>2019-11</c:v>
                </c:pt>
                <c:pt idx="22">
                  <c:v>2019-12</c:v>
                </c:pt>
                <c:pt idx="23">
                  <c:v>2019-12</c:v>
                </c:pt>
              </c:strCache>
              <c:extLst/>
            </c:strRef>
          </c:cat>
          <c:val>
            <c:numRef>
              <c:f>'task-6'!$D$2:$D$25</c:f>
              <c:numCache>
                <c:formatCode>0</c:formatCode>
                <c:ptCount val="24"/>
                <c:pt idx="0">
                  <c:v>65.12</c:v>
                </c:pt>
                <c:pt idx="1">
                  <c:v>34.880000000000003</c:v>
                </c:pt>
                <c:pt idx="2">
                  <c:v>59.12</c:v>
                </c:pt>
                <c:pt idx="3">
                  <c:v>40.880000000000003</c:v>
                </c:pt>
                <c:pt idx="4">
                  <c:v>46.73</c:v>
                </c:pt>
                <c:pt idx="5">
                  <c:v>53.27</c:v>
                </c:pt>
                <c:pt idx="6">
                  <c:v>69</c:v>
                </c:pt>
                <c:pt idx="7">
                  <c:v>31</c:v>
                </c:pt>
                <c:pt idx="8">
                  <c:v>71.819999999999993</c:v>
                </c:pt>
                <c:pt idx="9">
                  <c:v>28.18</c:v>
                </c:pt>
                <c:pt idx="10">
                  <c:v>34.229999999999997</c:v>
                </c:pt>
                <c:pt idx="11">
                  <c:v>65.77</c:v>
                </c:pt>
                <c:pt idx="12">
                  <c:v>46.16</c:v>
                </c:pt>
                <c:pt idx="13">
                  <c:v>53.84</c:v>
                </c:pt>
                <c:pt idx="14">
                  <c:v>72.540000000000006</c:v>
                </c:pt>
                <c:pt idx="15">
                  <c:v>27.46</c:v>
                </c:pt>
                <c:pt idx="16">
                  <c:v>46.59</c:v>
                </c:pt>
                <c:pt idx="17">
                  <c:v>53.41</c:v>
                </c:pt>
                <c:pt idx="18">
                  <c:v>55.07</c:v>
                </c:pt>
                <c:pt idx="19">
                  <c:v>44.93</c:v>
                </c:pt>
                <c:pt idx="20">
                  <c:v>58.16</c:v>
                </c:pt>
                <c:pt idx="21">
                  <c:v>41.84</c:v>
                </c:pt>
                <c:pt idx="22">
                  <c:v>37.979999999999997</c:v>
                </c:pt>
                <c:pt idx="23">
                  <c:v>62.02</c:v>
                </c:pt>
              </c:numCache>
            </c:numRef>
          </c:val>
          <c:smooth val="0"/>
          <c:extLst>
            <c:ext xmlns:c16="http://schemas.microsoft.com/office/drawing/2014/chart" uri="{C3380CC4-5D6E-409C-BE32-E72D297353CC}">
              <c16:uniqueId val="{00000003-D083-418E-8671-92DFF8924772}"/>
            </c:ext>
          </c:extLst>
        </c:ser>
        <c:dLbls>
          <c:dLblPos val="t"/>
          <c:showLegendKey val="0"/>
          <c:showVal val="1"/>
          <c:showCatName val="0"/>
          <c:showSerName val="0"/>
          <c:showPercent val="0"/>
          <c:showBubbleSize val="0"/>
        </c:dLbls>
        <c:smooth val="0"/>
        <c:axId val="853709936"/>
        <c:axId val="853690736"/>
      </c:lineChart>
      <c:catAx>
        <c:axId val="853709936"/>
        <c:scaling>
          <c:orientation val="minMax"/>
        </c:scaling>
        <c:delete val="0"/>
        <c:axPos val="b"/>
        <c:title>
          <c:tx>
            <c:rich>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sz="1400" b="1" i="0" u="none" strike="noStrike" cap="all" baseline="0"/>
                  <a:t>Month (2019)</a:t>
                </a:r>
                <a:endParaRPr lang="en-IN" sz="1400"/>
              </a:p>
            </c:rich>
          </c:tx>
          <c:overlay val="0"/>
          <c:spPr>
            <a:noFill/>
            <a:ln>
              <a:noFill/>
            </a:ln>
            <a:effectLst/>
          </c:spPr>
          <c:txPr>
            <a:bodyPr rot="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lt1">
                <a:lumMod val="95000"/>
                <a:alpha val="10000"/>
              </a:schemeClr>
            </a:solidFill>
            <a:round/>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853690736"/>
        <c:crosses val="autoZero"/>
        <c:auto val="1"/>
        <c:lblAlgn val="ctr"/>
        <c:lblOffset val="100"/>
        <c:noMultiLvlLbl val="0"/>
      </c:catAx>
      <c:valAx>
        <c:axId val="853690736"/>
        <c:scaling>
          <c:orientation val="minMax"/>
        </c:scaling>
        <c:delete val="0"/>
        <c:axPos val="l"/>
        <c:majorGridlines>
          <c:spPr>
            <a:ln w="9525" cap="flat" cmpd="sng" algn="ctr">
              <a:solidFill>
                <a:schemeClr val="lt1">
                  <a:lumMod val="95000"/>
                  <a:alpha val="10000"/>
                </a:schemeClr>
              </a:solidFill>
              <a:round/>
            </a:ln>
            <a:effectLst/>
          </c:spPr>
        </c:majorGridlines>
        <c:title>
          <c:tx>
            <c:rich>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r>
                  <a:rPr lang="en-IN" sz="1400" b="1" i="0" u="none" strike="noStrike" cap="all" baseline="0"/>
                  <a:t>Total Sales Amount</a:t>
                </a:r>
                <a:endParaRPr lang="en-IN" sz="1400"/>
              </a:p>
            </c:rich>
          </c:tx>
          <c:overlay val="0"/>
          <c:spPr>
            <a:noFill/>
            <a:ln>
              <a:noFill/>
            </a:ln>
            <a:effectLst/>
          </c:spPr>
          <c:txPr>
            <a:bodyPr rot="-5400000" spcFirstLastPara="1" vertOverflow="ellipsis" vert="horz" wrap="square" anchor="ctr" anchorCtr="1"/>
            <a:lstStyle/>
            <a:p>
              <a:pPr>
                <a:defRPr sz="900" b="1" i="0" u="none" strike="noStrike" kern="1200" cap="all" baseline="0">
                  <a:solidFill>
                    <a:schemeClr val="lt1">
                      <a:lumMod val="85000"/>
                    </a:schemeClr>
                  </a:solidFill>
                  <a:latin typeface="+mn-lt"/>
                  <a:ea typeface="+mn-ea"/>
                  <a:cs typeface="+mn-cs"/>
                </a:defRPr>
              </a:pPr>
              <a:endParaRPr lang="en-IN"/>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crossAx val="853709936"/>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lt1">
                  <a:lumMod val="85000"/>
                </a:schemeClr>
              </a:solidFill>
              <a:latin typeface="+mn-lt"/>
              <a:ea typeface="+mn-ea"/>
              <a:cs typeface="+mn-cs"/>
            </a:defRPr>
          </a:pPr>
          <a:endParaRPr lang="en-US"/>
        </a:p>
      </c:txPr>
    </c:legend>
    <c:plotVisOnly val="1"/>
    <c:dispBlanksAs val="gap"/>
    <c:showDLblsOverMax val="0"/>
  </c:chart>
  <c:spPr>
    <a:solidFill>
      <a:schemeClr val="bg2">
        <a:lumMod val="10000"/>
      </a:schemeClr>
    </a:solid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r>
              <a:rPr lang="en-US" sz="1800" b="1" i="0" u="none" strike="noStrike" cap="all" normalizeH="0" baseline="0" dirty="0">
                <a:solidFill>
                  <a:schemeClr val="bg1"/>
                </a:solidFill>
              </a:rPr>
              <a:t>Product Line Preferences by Customer Type</a:t>
            </a:r>
            <a:endParaRPr lang="en-US" sz="1800" dirty="0">
              <a:solidFill>
                <a:schemeClr val="bg1"/>
              </a:solidFill>
            </a:endParaRPr>
          </a:p>
        </c:rich>
      </c:tx>
      <c:overlay val="0"/>
      <c:spPr>
        <a:noFill/>
        <a:ln>
          <a:noFill/>
        </a:ln>
        <a:effectLst/>
      </c:spPr>
      <c:txPr>
        <a:bodyPr rot="0" spcFirstLastPara="1" vertOverflow="ellipsis" vert="horz" wrap="square" anchor="ctr" anchorCtr="1"/>
        <a:lstStyle/>
        <a:p>
          <a:pPr>
            <a:defRPr sz="2128" b="1" i="0" u="none" strike="noStrike" kern="1200" cap="all" spc="120" normalizeH="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strRef>
              <c:f>'task-7'!$C$1</c:f>
              <c:strCache>
                <c:ptCount val="1"/>
                <c:pt idx="0">
                  <c:v>sales_total</c:v>
                </c:pt>
              </c:strCache>
            </c:strRef>
          </c:tx>
          <c:spPr>
            <a:solidFill>
              <a:srgbClr val="FFFF00"/>
            </a:solidFill>
            <a:ln>
              <a:noFill/>
            </a:ln>
            <a:effectLst/>
          </c:spPr>
          <c:invertIfNegative val="0"/>
          <c:dPt>
            <c:idx val="1"/>
            <c:invertIfNegative val="0"/>
            <c:bubble3D val="0"/>
            <c:spPr>
              <a:solidFill>
                <a:srgbClr val="FFC000"/>
              </a:solidFill>
              <a:ln>
                <a:noFill/>
              </a:ln>
              <a:effectLst/>
            </c:spPr>
            <c:extLst>
              <c:ext xmlns:c16="http://schemas.microsoft.com/office/drawing/2014/chart" uri="{C3380CC4-5D6E-409C-BE32-E72D297353CC}">
                <c16:uniqueId val="{00000002-D486-4E98-A29F-03DD933F38E1}"/>
              </c:ext>
            </c:extLst>
          </c:dPt>
          <c:dLbls>
            <c:dLbl>
              <c:idx val="0"/>
              <c:layout>
                <c:manualLayout>
                  <c:x val="-1.7815789783781496E-3"/>
                  <c:y val="0.28609499480185668"/>
                </c:manualLayout>
              </c:layout>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D486-4E98-A29F-03DD933F38E1}"/>
                </c:ext>
              </c:extLst>
            </c:dLbl>
            <c:dLbl>
              <c:idx val="1"/>
              <c:layout>
                <c:manualLayout>
                  <c:x val="-1.7815789783782148E-3"/>
                  <c:y val="0.24890264547761531"/>
                </c:manualLayout>
              </c:layout>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D486-4E98-A29F-03DD933F38E1}"/>
                </c:ext>
              </c:extLst>
            </c:dLbl>
            <c:spPr>
              <a:noFill/>
              <a:ln>
                <a:noFill/>
              </a:ln>
              <a:effectLst/>
            </c:spPr>
            <c:txPr>
              <a:bodyPr rot="-5400000" spcFirstLastPara="1" vertOverflow="clip" horzOverflow="clip" vert="horz" wrap="square" lIns="38100" tIns="19050" rIns="38100" bIns="19050" anchor="ctr" anchorCtr="1">
                <a:spAutoFit/>
              </a:bodyPr>
              <a:lstStyle/>
              <a:p>
                <a:pPr>
                  <a:defRPr sz="1600" b="0" i="0" u="none" strike="noStrike" kern="1200" baseline="0">
                    <a:solidFill>
                      <a:schemeClr val="tx1">
                        <a:lumMod val="50000"/>
                        <a:lumOff val="50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trendline>
            <c:spPr>
              <a:ln w="19050" cap="rnd">
                <a:solidFill>
                  <a:schemeClr val="bg2">
                    <a:lumMod val="90000"/>
                  </a:schemeClr>
                </a:solidFill>
                <a:prstDash val="sysDash"/>
              </a:ln>
              <a:effectLst/>
            </c:spPr>
            <c:trendlineType val="log"/>
            <c:dispRSqr val="0"/>
            <c:dispEq val="0"/>
          </c:trendline>
          <c:errBars>
            <c:errBarType val="both"/>
            <c:errValType val="stdErr"/>
            <c:noEndCap val="0"/>
            <c:spPr>
              <a:noFill/>
              <a:ln w="9525">
                <a:solidFill>
                  <a:schemeClr val="tx1">
                    <a:lumMod val="65000"/>
                    <a:lumOff val="35000"/>
                  </a:schemeClr>
                </a:solidFill>
                <a:round/>
              </a:ln>
              <a:effectLst/>
            </c:spPr>
          </c:errBars>
          <c:cat>
            <c:multiLvlStrRef>
              <c:f>'task-7'!$A$2:$B$3</c:f>
              <c:multiLvlStrCache>
                <c:ptCount val="2"/>
                <c:lvl>
                  <c:pt idx="0">
                    <c:v>Food and beverages</c:v>
                  </c:pt>
                  <c:pt idx="1">
                    <c:v>Electronic accessories</c:v>
                  </c:pt>
                </c:lvl>
                <c:lvl>
                  <c:pt idx="0">
                    <c:v>Member</c:v>
                  </c:pt>
                  <c:pt idx="1">
                    <c:v>Normal</c:v>
                  </c:pt>
                </c:lvl>
              </c:multiLvlStrCache>
            </c:multiLvlStrRef>
          </c:cat>
          <c:val>
            <c:numRef>
              <c:f>'task-7'!$C$2:$C$3</c:f>
              <c:numCache>
                <c:formatCode>0</c:formatCode>
                <c:ptCount val="2"/>
                <c:pt idx="0">
                  <c:v>31357.62</c:v>
                </c:pt>
                <c:pt idx="1">
                  <c:v>29839.036499999998</c:v>
                </c:pt>
              </c:numCache>
            </c:numRef>
          </c:val>
          <c:extLst>
            <c:ext xmlns:c16="http://schemas.microsoft.com/office/drawing/2014/chart" uri="{C3380CC4-5D6E-409C-BE32-E72D297353CC}">
              <c16:uniqueId val="{00000000-D486-4E98-A29F-03DD933F38E1}"/>
            </c:ext>
          </c:extLst>
        </c:ser>
        <c:dLbls>
          <c:dLblPos val="outEnd"/>
          <c:showLegendKey val="0"/>
          <c:showVal val="1"/>
          <c:showCatName val="0"/>
          <c:showSerName val="0"/>
          <c:showPercent val="0"/>
          <c:showBubbleSize val="0"/>
        </c:dLbls>
        <c:gapWidth val="444"/>
        <c:overlap val="-90"/>
        <c:axId val="1167924928"/>
        <c:axId val="1167927808"/>
      </c:barChart>
      <c:catAx>
        <c:axId val="11679249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dirty="0">
                    <a:solidFill>
                      <a:schemeClr val="bg1"/>
                    </a:solidFill>
                    <a:latin typeface="DM Sans" pitchFamily="2" charset="0"/>
                  </a:rPr>
                  <a:t>Product</a:t>
                </a:r>
                <a:r>
                  <a:rPr lang="en-US" baseline="0" dirty="0">
                    <a:solidFill>
                      <a:schemeClr val="bg1"/>
                    </a:solidFill>
                    <a:latin typeface="DM Sans" pitchFamily="2" charset="0"/>
                  </a:rPr>
                  <a:t> line/ customers</a:t>
                </a:r>
                <a:endParaRPr lang="en-IN" dirty="0">
                  <a:solidFill>
                    <a:schemeClr val="bg1"/>
                  </a:solidFill>
                  <a:latin typeface="DM Sans" pitchFamily="2" charset="0"/>
                </a:endParaRPr>
              </a:p>
            </c:rich>
          </c:tx>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cap="all" spc="120" normalizeH="0" baseline="0">
                <a:solidFill>
                  <a:schemeClr val="bg1"/>
                </a:solidFill>
                <a:latin typeface="+mn-lt"/>
                <a:ea typeface="+mn-ea"/>
                <a:cs typeface="+mn-cs"/>
              </a:defRPr>
            </a:pPr>
            <a:endParaRPr lang="en-US"/>
          </a:p>
        </c:txPr>
        <c:crossAx val="1167927808"/>
        <c:crosses val="autoZero"/>
        <c:auto val="1"/>
        <c:lblAlgn val="ctr"/>
        <c:lblOffset val="100"/>
        <c:noMultiLvlLbl val="0"/>
      </c:catAx>
      <c:valAx>
        <c:axId val="1167927808"/>
        <c:scaling>
          <c:orientation val="minMax"/>
        </c:scaling>
        <c:delete val="1"/>
        <c:axPos val="l"/>
        <c:title>
          <c:tx>
            <c:rich>
              <a:bodyPr rot="-5400000" spcFirstLastPara="1" vertOverflow="ellipsis" vert="horz" wrap="square" anchor="ctr" anchorCtr="1"/>
              <a:lstStyle/>
              <a:p>
                <a:pPr>
                  <a:defRPr sz="1197" b="0" i="0" u="none" strike="noStrike" kern="1200" cap="all" baseline="0">
                    <a:solidFill>
                      <a:schemeClr val="bg1"/>
                    </a:solidFill>
                    <a:latin typeface="+mn-lt"/>
                    <a:ea typeface="+mn-ea"/>
                    <a:cs typeface="+mn-cs"/>
                  </a:defRPr>
                </a:pPr>
                <a:r>
                  <a:rPr lang="en-US" dirty="0">
                    <a:solidFill>
                      <a:schemeClr val="bg1"/>
                    </a:solidFill>
                    <a:latin typeface="DM Sans" pitchFamily="2" charset="0"/>
                  </a:rPr>
                  <a:t>Total</a:t>
                </a:r>
                <a:r>
                  <a:rPr lang="en-US" baseline="0" dirty="0">
                    <a:solidFill>
                      <a:schemeClr val="bg1"/>
                    </a:solidFill>
                    <a:latin typeface="DM Sans" pitchFamily="2" charset="0"/>
                  </a:rPr>
                  <a:t> sales</a:t>
                </a:r>
                <a:endParaRPr lang="en-IN" dirty="0">
                  <a:solidFill>
                    <a:schemeClr val="bg1"/>
                  </a:solidFill>
                  <a:latin typeface="DM Sans" pitchFamily="2" charset="0"/>
                </a:endParaRPr>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bg1"/>
                  </a:solidFill>
                  <a:latin typeface="+mn-lt"/>
                  <a:ea typeface="+mn-ea"/>
                  <a:cs typeface="+mn-cs"/>
                </a:defRPr>
              </a:pPr>
              <a:endParaRPr lang="en-IN"/>
            </a:p>
          </c:txPr>
        </c:title>
        <c:numFmt formatCode="0" sourceLinked="1"/>
        <c:majorTickMark val="none"/>
        <c:minorTickMark val="none"/>
        <c:tickLblPos val="nextTo"/>
        <c:crossAx val="1167924928"/>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1600" b="0" i="0" u="none" strike="noStrike" kern="1200" baseline="0">
              <a:solidFill>
                <a:schemeClr val="bg1"/>
              </a:solidFill>
              <a:latin typeface="+mn-lt"/>
              <a:ea typeface="+mn-ea"/>
              <a:cs typeface="+mn-cs"/>
            </a:defRPr>
          </a:pPr>
          <a:endParaRPr lang="en-US"/>
        </a:p>
      </c:txPr>
    </c:legend>
    <c:plotVisOnly val="1"/>
    <c:dispBlanksAs val="gap"/>
    <c:showDLblsOverMax val="0"/>
  </c:chart>
  <c:spPr>
    <a:solidFill>
      <a:schemeClr val="bg2">
        <a:lumMod val="10000"/>
      </a:schemeClr>
    </a:solid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scatterChart>
        <c:scatterStyle val="lineMarker"/>
        <c:varyColors val="0"/>
        <c:ser>
          <c:idx val="0"/>
          <c:order val="0"/>
          <c:tx>
            <c:strRef>
              <c:f>'task-8'!$A$1</c:f>
              <c:strCache>
                <c:ptCount val="1"/>
                <c:pt idx="0">
                  <c:v>customer_id</c:v>
                </c:pt>
              </c:strCache>
            </c:strRef>
          </c:tx>
          <c:spPr>
            <a:ln w="22225" cap="rnd">
              <a:solidFill>
                <a:srgbClr val="FFFF00"/>
              </a:solidFill>
              <a:round/>
            </a:ln>
            <a:effectLst/>
          </c:spPr>
          <c:marker>
            <c:symbol val="circle"/>
            <c:size val="5"/>
            <c:spPr>
              <a:solidFill>
                <a:schemeClr val="accent1"/>
              </a:solidFill>
              <a:ln w="9525">
                <a:solidFill>
                  <a:schemeClr val="accent1"/>
                </a:solidFill>
              </a:ln>
              <a:effectLst/>
            </c:spPr>
          </c:marker>
          <c:yVal>
            <c:numRef>
              <c:f>'task-8'!$A$2:$A$31</c:f>
              <c:numCache>
                <c:formatCode>General</c:formatCode>
                <c:ptCount val="30"/>
                <c:pt idx="0">
                  <c:v>1</c:v>
                </c:pt>
                <c:pt idx="1">
                  <c:v>1</c:v>
                </c:pt>
                <c:pt idx="2">
                  <c:v>2</c:v>
                </c:pt>
                <c:pt idx="3">
                  <c:v>2</c:v>
                </c:pt>
                <c:pt idx="4">
                  <c:v>3</c:v>
                </c:pt>
                <c:pt idx="5">
                  <c:v>3</c:v>
                </c:pt>
                <c:pt idx="6">
                  <c:v>4</c:v>
                </c:pt>
                <c:pt idx="7">
                  <c:v>4</c:v>
                </c:pt>
                <c:pt idx="8">
                  <c:v>5</c:v>
                </c:pt>
                <c:pt idx="9">
                  <c:v>5</c:v>
                </c:pt>
                <c:pt idx="10">
                  <c:v>6</c:v>
                </c:pt>
                <c:pt idx="11">
                  <c:v>6</c:v>
                </c:pt>
                <c:pt idx="12">
                  <c:v>7</c:v>
                </c:pt>
                <c:pt idx="13">
                  <c:v>7</c:v>
                </c:pt>
                <c:pt idx="14">
                  <c:v>8</c:v>
                </c:pt>
                <c:pt idx="15">
                  <c:v>8</c:v>
                </c:pt>
                <c:pt idx="16">
                  <c:v>9</c:v>
                </c:pt>
                <c:pt idx="17">
                  <c:v>9</c:v>
                </c:pt>
                <c:pt idx="18">
                  <c:v>10</c:v>
                </c:pt>
                <c:pt idx="19">
                  <c:v>10</c:v>
                </c:pt>
                <c:pt idx="20">
                  <c:v>11</c:v>
                </c:pt>
                <c:pt idx="21">
                  <c:v>11</c:v>
                </c:pt>
                <c:pt idx="22">
                  <c:v>12</c:v>
                </c:pt>
                <c:pt idx="23">
                  <c:v>12</c:v>
                </c:pt>
                <c:pt idx="24">
                  <c:v>13</c:v>
                </c:pt>
                <c:pt idx="25">
                  <c:v>13</c:v>
                </c:pt>
                <c:pt idx="26">
                  <c:v>14</c:v>
                </c:pt>
                <c:pt idx="27">
                  <c:v>14</c:v>
                </c:pt>
                <c:pt idx="28">
                  <c:v>15</c:v>
                </c:pt>
                <c:pt idx="29">
                  <c:v>15</c:v>
                </c:pt>
              </c:numCache>
            </c:numRef>
          </c:yVal>
          <c:smooth val="0"/>
          <c:extLst>
            <c:ext xmlns:c16="http://schemas.microsoft.com/office/drawing/2014/chart" uri="{C3380CC4-5D6E-409C-BE32-E72D297353CC}">
              <c16:uniqueId val="{00000000-0893-4E78-901D-E95BA61F88E7}"/>
            </c:ext>
          </c:extLst>
        </c:ser>
        <c:ser>
          <c:idx val="1"/>
          <c:order val="1"/>
          <c:tx>
            <c:strRef>
              <c:f>'task-8'!$B$1</c:f>
              <c:strCache>
                <c:ptCount val="1"/>
                <c:pt idx="0">
                  <c:v>customer_type</c:v>
                </c:pt>
              </c:strCache>
            </c:strRef>
          </c:tx>
          <c:spPr>
            <a:ln w="19050" cap="rnd">
              <a:solidFill>
                <a:srgbClr val="D07C00"/>
              </a:solidFill>
              <a:round/>
            </a:ln>
            <a:effectLst/>
          </c:spPr>
          <c:marker>
            <c:symbol val="circle"/>
            <c:size val="5"/>
            <c:spPr>
              <a:solidFill>
                <a:schemeClr val="accent2"/>
              </a:solidFill>
              <a:ln w="9525">
                <a:solidFill>
                  <a:schemeClr val="accent2"/>
                </a:solidFill>
              </a:ln>
              <a:effectLst/>
            </c:spPr>
          </c:marker>
          <c:yVal>
            <c:numRef>
              <c:f>'task-8'!$B$2:$B$31</c:f>
              <c:numCache>
                <c:formatCode>General</c:formatCode>
                <c:ptCount val="30"/>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numCache>
            </c:numRef>
          </c:yVal>
          <c:smooth val="0"/>
          <c:extLst>
            <c:ext xmlns:c16="http://schemas.microsoft.com/office/drawing/2014/chart" uri="{C3380CC4-5D6E-409C-BE32-E72D297353CC}">
              <c16:uniqueId val="{00000001-0893-4E78-901D-E95BA61F88E7}"/>
            </c:ext>
          </c:extLst>
        </c:ser>
        <c:dLbls>
          <c:showLegendKey val="0"/>
          <c:showVal val="0"/>
          <c:showCatName val="0"/>
          <c:showSerName val="0"/>
          <c:showPercent val="0"/>
          <c:showBubbleSize val="0"/>
        </c:dLbls>
        <c:axId val="1940240880"/>
        <c:axId val="1940241360"/>
      </c:scatterChart>
      <c:valAx>
        <c:axId val="1940240880"/>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dirty="0"/>
                  <a:t>Customer</a:t>
                </a:r>
                <a:r>
                  <a:rPr lang="en-US" sz="1400" baseline="0" dirty="0"/>
                  <a:t> Type</a:t>
                </a:r>
                <a:endParaRPr lang="en-IN" sz="1400"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40241360"/>
        <c:crosses val="autoZero"/>
        <c:crossBetween val="midCat"/>
      </c:valAx>
      <c:valAx>
        <c:axId val="194024136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400" dirty="0"/>
                  <a:t>Customer</a:t>
                </a:r>
                <a:r>
                  <a:rPr lang="en-US" sz="1400" baseline="0" dirty="0"/>
                  <a:t> ID</a:t>
                </a:r>
                <a:endParaRPr lang="en-IN" sz="1400"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0" i="0" u="none" strike="noStrike" kern="1200" baseline="0">
                <a:solidFill>
                  <a:schemeClr val="tx1">
                    <a:lumMod val="65000"/>
                    <a:lumOff val="35000"/>
                  </a:schemeClr>
                </a:solidFill>
                <a:latin typeface="+mn-lt"/>
                <a:ea typeface="+mn-ea"/>
                <a:cs typeface="+mn-cs"/>
              </a:defRPr>
            </a:pPr>
            <a:endParaRPr lang="en-US"/>
          </a:p>
        </c:txPr>
        <c:crossAx val="1940240880"/>
        <c:crosses val="autoZero"/>
        <c:crossBetween val="midCat"/>
      </c:valAx>
      <c:spPr>
        <a:noFill/>
        <a:ln>
          <a:noFill/>
        </a:ln>
        <a:effectLst/>
      </c:spPr>
    </c:plotArea>
    <c:plotVisOnly val="1"/>
    <c:dispBlanksAs val="gap"/>
    <c:showDLblsOverMax val="0"/>
  </c:chart>
  <c:spPr>
    <a:solidFill>
      <a:schemeClr val="bg2">
        <a:lumMod val="10000"/>
      </a:schemeClr>
    </a:solid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r>
              <a:rPr lang="en-US" sz="1600" b="1" i="0" u="none" strike="noStrike" baseline="0" dirty="0">
                <a:effectLst>
                  <a:outerShdw blurRad="50800" dist="38100" dir="5400000" algn="t" rotWithShape="0">
                    <a:prstClr val="black">
                      <a:alpha val="40000"/>
                    </a:prstClr>
                  </a:outerShdw>
                </a:effectLst>
              </a:rPr>
              <a:t>Revenue Contribution of Top 5 Customers</a:t>
            </a:r>
            <a:endParaRPr lang="en-US" dirty="0"/>
          </a:p>
        </c:rich>
      </c:tx>
      <c:overlay val="0"/>
      <c:spPr>
        <a:noFill/>
        <a:ln>
          <a:noFill/>
        </a:ln>
        <a:effectLst/>
      </c:spPr>
      <c:txPr>
        <a:bodyPr rot="0" spcFirstLastPara="1" vertOverflow="ellipsis" vert="horz" wrap="square" anchor="ctr" anchorCtr="1"/>
        <a:lstStyle/>
        <a:p>
          <a:pPr>
            <a:defRPr sz="1600" b="1" i="0" u="none" strike="noStrike" kern="1200" spc="100" baseline="0">
              <a:solidFill>
                <a:schemeClr val="lt1">
                  <a:lumMod val="95000"/>
                </a:schemeClr>
              </a:solidFill>
              <a:effectLst>
                <a:outerShdw blurRad="50800" dist="38100" dir="5400000" algn="t" rotWithShape="0">
                  <a:prstClr val="black">
                    <a:alpha val="40000"/>
                  </a:prstClr>
                </a:outerShdw>
              </a:effectLst>
              <a:latin typeface="+mn-lt"/>
              <a:ea typeface="+mn-ea"/>
              <a:cs typeface="+mn-cs"/>
            </a:defRPr>
          </a:pPr>
          <a:endParaRPr lang="en-US"/>
        </a:p>
      </c:txPr>
    </c:title>
    <c:autoTitleDeleted val="0"/>
    <c:plotArea>
      <c:layout/>
      <c:ofPieChart>
        <c:ofPieType val="pie"/>
        <c:varyColors val="1"/>
        <c:ser>
          <c:idx val="0"/>
          <c:order val="0"/>
          <c:tx>
            <c:strRef>
              <c:f>'task-9'!$C$1</c:f>
              <c:strCache>
                <c:ptCount val="1"/>
                <c:pt idx="0">
                  <c:v>total_sales</c:v>
                </c:pt>
              </c:strCache>
            </c:strRef>
          </c:tx>
          <c:dPt>
            <c:idx val="0"/>
            <c:bubble3D val="0"/>
            <c:spPr>
              <a:gradFill rotWithShape="1">
                <a:gsLst>
                  <a:gs pos="0">
                    <a:schemeClr val="accent6">
                      <a:lumMod val="50000"/>
                    </a:schemeClr>
                  </a:gs>
                  <a:gs pos="50000">
                    <a:schemeClr val="accent6">
                      <a:lumMod val="50000"/>
                    </a:schemeClr>
                  </a:gs>
                  <a:gs pos="100000">
                    <a:schemeClr val="accent6">
                      <a:lumMod val="5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1-A1B3-4B30-BECF-A63BC0B18EF9}"/>
              </c:ext>
            </c:extLst>
          </c:dPt>
          <c:dPt>
            <c:idx val="1"/>
            <c:bubble3D val="0"/>
            <c:spPr>
              <a:gradFill rotWithShape="1">
                <a:gsLst>
                  <a:gs pos="0">
                    <a:schemeClr val="accent3">
                      <a:lumMod val="50000"/>
                    </a:schemeClr>
                  </a:gs>
                  <a:gs pos="50000">
                    <a:schemeClr val="accent3">
                      <a:lumMod val="50000"/>
                    </a:schemeClr>
                  </a:gs>
                  <a:gs pos="100000">
                    <a:schemeClr val="accent3">
                      <a:lumMod val="5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3-A1B3-4B30-BECF-A63BC0B18EF9}"/>
              </c:ext>
            </c:extLst>
          </c:dPt>
          <c:dPt>
            <c:idx val="2"/>
            <c:bubble3D val="0"/>
            <c:spPr>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5-A1B3-4B30-BECF-A63BC0B18EF9}"/>
              </c:ext>
            </c:extLst>
          </c:dPt>
          <c:dPt>
            <c:idx val="3"/>
            <c:bubble3D val="0"/>
            <c:spPr>
              <a:gradFill rotWithShape="1">
                <a:gsLst>
                  <a:gs pos="0">
                    <a:srgbClr val="DFABAB"/>
                  </a:gs>
                  <a:gs pos="50000">
                    <a:srgbClr val="DFABAB"/>
                  </a:gs>
                  <a:gs pos="100000">
                    <a:schemeClr val="accent6">
                      <a:lumMod val="60000"/>
                      <a:lumOff val="40000"/>
                    </a:schemeClr>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7-A1B3-4B30-BECF-A63BC0B18EF9}"/>
              </c:ext>
            </c:extLst>
          </c:dPt>
          <c:dPt>
            <c:idx val="4"/>
            <c:bubble3D val="0"/>
            <c:spPr>
              <a:gradFill rotWithShape="1">
                <a:gsLst>
                  <a:gs pos="0">
                    <a:srgbClr val="FFE9AB"/>
                  </a:gs>
                  <a:gs pos="50000">
                    <a:srgbClr val="FFF0C5"/>
                  </a:gs>
                  <a:gs pos="100000">
                    <a:srgbClr val="FFE9AB"/>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9-A1B3-4B30-BECF-A63BC0B18EF9}"/>
              </c:ext>
            </c:extLst>
          </c:dPt>
          <c:dPt>
            <c:idx val="5"/>
            <c:bubble3D val="0"/>
            <c:spPr>
              <a:gradFill rotWithShape="1">
                <a:gsLst>
                  <a:gs pos="0">
                    <a:srgbClr val="FFE9AB"/>
                  </a:gs>
                  <a:gs pos="50000">
                    <a:srgbClr val="FFFF00"/>
                  </a:gs>
                  <a:gs pos="100000">
                    <a:srgbClr val="FFC000"/>
                  </a:gs>
                </a:gsLst>
                <a:lin ang="5400000" scaled="0"/>
              </a:gradFill>
              <a:ln>
                <a:noFill/>
              </a:ln>
              <a:effectLst>
                <a:outerShdw blurRad="57150" dist="19050" dir="5400000" algn="ctr" rotWithShape="0">
                  <a:srgbClr val="000000">
                    <a:alpha val="63000"/>
                  </a:srgbClr>
                </a:outerShdw>
              </a:effectLst>
              <a:scene3d>
                <a:camera prst="orthographicFront">
                  <a:rot lat="0" lon="0" rev="0"/>
                </a:camera>
                <a:lightRig rig="threePt" dir="t">
                  <a:rot lat="0" lon="0" rev="1200000"/>
                </a:lightRig>
              </a:scene3d>
              <a:sp3d>
                <a:bevelT w="63500" h="25400"/>
              </a:sp3d>
            </c:spPr>
            <c:extLst>
              <c:ext xmlns:c16="http://schemas.microsoft.com/office/drawing/2014/chart" uri="{C3380CC4-5D6E-409C-BE32-E72D297353CC}">
                <c16:uniqueId val="{0000000B-A1B3-4B30-BECF-A63BC0B18EF9}"/>
              </c:ext>
            </c:extLst>
          </c:dPt>
          <c:dLbls>
            <c:spPr>
              <a:noFill/>
              <a:ln>
                <a:noFill/>
              </a:ln>
              <a:effectLst/>
            </c:spPr>
            <c:txPr>
              <a:bodyPr rot="0" spcFirstLastPara="1" vertOverflow="ellipsis" vert="horz" wrap="square" lIns="38100" tIns="19050" rIns="38100" bIns="19050" anchor="ctr" anchorCtr="1">
                <a:spAutoFit/>
              </a:bodyPr>
              <a:lstStyle/>
              <a:p>
                <a:pPr>
                  <a:defRPr sz="1600" b="0" i="0" u="none" strike="noStrike" kern="1200" baseline="0">
                    <a:solidFill>
                      <a:schemeClr val="tx1"/>
                    </a:solidFill>
                    <a:latin typeface="DM Sans" pitchFamily="2" charset="0"/>
                    <a:ea typeface="+mn-ea"/>
                    <a:cs typeface="+mn-cs"/>
                  </a:defRPr>
                </a:pPr>
                <a:endParaRPr lang="en-US"/>
              </a:p>
            </c:txPr>
            <c:dLblPos val="bestFit"/>
            <c:showLegendKey val="0"/>
            <c:showVal val="1"/>
            <c:showCatName val="0"/>
            <c:showSerName val="0"/>
            <c:showPercent val="0"/>
            <c:showBubbleSize val="0"/>
            <c:showLeaderLines val="1"/>
            <c:leaderLines>
              <c:spPr>
                <a:ln w="9525">
                  <a:solidFill>
                    <a:schemeClr val="lt1">
                      <a:lumMod val="95000"/>
                      <a:alpha val="54000"/>
                    </a:schemeClr>
                  </a:solidFill>
                </a:ln>
                <a:effectLst/>
              </c:spPr>
            </c:leaderLines>
            <c:extLst>
              <c:ext xmlns:c15="http://schemas.microsoft.com/office/drawing/2012/chart" uri="{CE6537A1-D6FC-4f65-9D91-7224C49458BB}"/>
            </c:extLst>
          </c:dLbls>
          <c:cat>
            <c:multiLvlStrRef>
              <c:f>'task-9'!$A$2:$B$6</c:f>
              <c:multiLvlStrCache>
                <c:ptCount val="5"/>
                <c:lvl>
                  <c:pt idx="0">
                    <c:v>Normal</c:v>
                  </c:pt>
                  <c:pt idx="1">
                    <c:v>Member</c:v>
                  </c:pt>
                  <c:pt idx="2">
                    <c:v>Member</c:v>
                  </c:pt>
                  <c:pt idx="3">
                    <c:v>Normal</c:v>
                  </c:pt>
                  <c:pt idx="4">
                    <c:v>Member</c:v>
                  </c:pt>
                </c:lvl>
                <c:lvl>
                  <c:pt idx="0">
                    <c:v>8</c:v>
                  </c:pt>
                  <c:pt idx="1">
                    <c:v>3</c:v>
                  </c:pt>
                  <c:pt idx="2">
                    <c:v>2</c:v>
                  </c:pt>
                  <c:pt idx="3">
                    <c:v>15</c:v>
                  </c:pt>
                  <c:pt idx="4">
                    <c:v>11</c:v>
                  </c:pt>
                </c:lvl>
              </c:multiLvlStrCache>
            </c:multiLvlStrRef>
          </c:cat>
          <c:val>
            <c:numRef>
              <c:f>'task-9'!$C$2:$C$6</c:f>
              <c:numCache>
                <c:formatCode>0</c:formatCode>
                <c:ptCount val="5"/>
                <c:pt idx="0">
                  <c:v>15357.0165</c:v>
                </c:pt>
                <c:pt idx="1">
                  <c:v>13889.441999999999</c:v>
                </c:pt>
                <c:pt idx="2">
                  <c:v>12781.797</c:v>
                </c:pt>
                <c:pt idx="3">
                  <c:v>12500.6595</c:v>
                </c:pt>
                <c:pt idx="4">
                  <c:v>12228.1319999999</c:v>
                </c:pt>
              </c:numCache>
            </c:numRef>
          </c:val>
          <c:extLst>
            <c:ext xmlns:c16="http://schemas.microsoft.com/office/drawing/2014/chart" uri="{C3380CC4-5D6E-409C-BE32-E72D297353CC}">
              <c16:uniqueId val="{0000000C-A1B3-4B30-BECF-A63BC0B18EF9}"/>
            </c:ext>
          </c:extLst>
        </c:ser>
        <c:dLbls>
          <c:dLblPos val="bestFit"/>
          <c:showLegendKey val="0"/>
          <c:showVal val="1"/>
          <c:showCatName val="0"/>
          <c:showSerName val="0"/>
          <c:showPercent val="0"/>
          <c:showBubbleSize val="0"/>
          <c:showLeaderLines val="1"/>
        </c:dLbls>
        <c:gapWidth val="100"/>
        <c:secondPieSize val="75"/>
        <c:serLines>
          <c:spPr>
            <a:ln w="9525" cap="flat" cmpd="sng" algn="ctr">
              <a:solidFill>
                <a:schemeClr val="lt1">
                  <a:lumMod val="95000"/>
                  <a:alpha val="54000"/>
                </a:schemeClr>
              </a:solidFill>
              <a:round/>
            </a:ln>
            <a:effectLst/>
          </c:spPr>
        </c:serLines>
      </c:ofPieChart>
      <c:spPr>
        <a:noFill/>
        <a:ln>
          <a:noFill/>
        </a:ln>
        <a:effectLst/>
      </c:spPr>
    </c:plotArea>
    <c:legend>
      <c:legendPos val="b"/>
      <c:overlay val="0"/>
      <c:spPr>
        <a:noFill/>
        <a:ln>
          <a:noFill/>
        </a:ln>
        <a:effectLst/>
      </c:spPr>
      <c:txPr>
        <a:bodyPr rot="0" spcFirstLastPara="1" vertOverflow="ellipsis" vert="horz" wrap="square" anchor="ctr" anchorCtr="1"/>
        <a:lstStyle/>
        <a:p>
          <a:pPr>
            <a:defRPr sz="1600" b="0" i="0" u="none" strike="noStrike" kern="1200" baseline="0">
              <a:solidFill>
                <a:schemeClr val="lt1">
                  <a:lumMod val="85000"/>
                </a:schemeClr>
              </a:solidFill>
              <a:latin typeface="DM Sans" pitchFamily="2" charset="0"/>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2">
        <a:lumMod val="10000"/>
      </a:schemeClr>
    </a:solidFill>
    <a:ln>
      <a:solidFill>
        <a:schemeClr val="bg2">
          <a:lumMod val="10000"/>
        </a:schemeClr>
      </a:solid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128" b="1" i="0" u="none" strike="noStrike" kern="1200" baseline="0">
                <a:solidFill>
                  <a:schemeClr val="bg1"/>
                </a:solidFill>
                <a:latin typeface="+mn-lt"/>
                <a:ea typeface="+mn-ea"/>
                <a:cs typeface="+mn-cs"/>
              </a:defRPr>
            </a:pPr>
            <a:r>
              <a:rPr lang="en-US" sz="2400" b="1" i="0" u="none" strike="noStrike" kern="1200" baseline="0" dirty="0">
                <a:solidFill>
                  <a:schemeClr val="bg1"/>
                </a:solidFill>
                <a:latin typeface="Poppins Bold" panose="00000800000000000000" charset="0"/>
                <a:cs typeface="Poppins Bold" panose="00000800000000000000" charset="0"/>
              </a:rPr>
              <a:t>Sales Trends by Day of the Week</a:t>
            </a:r>
            <a:endParaRPr lang="en-IN" dirty="0">
              <a:solidFill>
                <a:schemeClr val="bg1"/>
              </a:solidFill>
            </a:endParaRPr>
          </a:p>
        </c:rich>
      </c:tx>
      <c:layout>
        <c:manualLayout>
          <c:xMode val="edge"/>
          <c:yMode val="edge"/>
          <c:x val="0.11552876792383696"/>
          <c:y val="1.6941404971613141E-2"/>
        </c:manualLayout>
      </c:layout>
      <c:overlay val="0"/>
      <c:spPr>
        <a:noFill/>
        <a:ln>
          <a:noFill/>
        </a:ln>
        <a:effectLst/>
      </c:spPr>
      <c:txPr>
        <a:bodyPr rot="0" spcFirstLastPara="1" vertOverflow="ellipsis" vert="horz" wrap="square" anchor="ctr" anchorCtr="1"/>
        <a:lstStyle/>
        <a:p>
          <a:pPr>
            <a:defRPr sz="2128" b="1" i="0" u="none" strike="noStrike" kern="1200" baseline="0">
              <a:solidFill>
                <a:schemeClr val="bg1"/>
              </a:solidFill>
              <a:latin typeface="+mn-lt"/>
              <a:ea typeface="+mn-ea"/>
              <a:cs typeface="+mn-cs"/>
            </a:defRPr>
          </a:pPr>
          <a:endParaRPr lang="en-IN"/>
        </a:p>
      </c:txPr>
    </c:title>
    <c:autoTitleDeleted val="0"/>
    <c:plotArea>
      <c:layout/>
      <c:barChart>
        <c:barDir val="col"/>
        <c:grouping val="percentStacked"/>
        <c:varyColors val="0"/>
        <c:ser>
          <c:idx val="0"/>
          <c:order val="0"/>
          <c:tx>
            <c:strRef>
              <c:f>'task-10'!$B$1</c:f>
              <c:strCache>
                <c:ptCount val="1"/>
                <c:pt idx="0">
                  <c:v>Total_sales</c:v>
                </c:pt>
              </c:strCache>
            </c:strRef>
          </c:tx>
          <c:spPr>
            <a:solidFill>
              <a:srgbClr val="FFFF00"/>
            </a:solidFill>
            <a:ln>
              <a:noFill/>
            </a:ln>
            <a:effectLst>
              <a:outerShdw blurRad="40000" dist="23000" dir="5400000" rotWithShape="0">
                <a:srgbClr val="000000">
                  <a:alpha val="35000"/>
                </a:srgbClr>
              </a:outerShdw>
            </a:effectLst>
            <a:scene3d>
              <a:camera prst="orthographicFront"/>
              <a:lightRig rig="threePt" dir="t">
                <a:rot lat="0" lon="0" rev="1200000"/>
              </a:lightRig>
            </a:scene3d>
            <a:sp3d>
              <a:bevelT h="38100"/>
              <a:bevelB w="12700" h="69850"/>
            </a:sp3d>
          </c:spPr>
          <c:invertIfNegative val="0"/>
          <c:cat>
            <c:strRef>
              <c:f>'task-10'!$A$2:$A$9</c:f>
              <c:strCache>
                <c:ptCount val="8"/>
                <c:pt idx="0">
                  <c:v>NULL</c:v>
                </c:pt>
                <c:pt idx="1">
                  <c:v>Monday</c:v>
                </c:pt>
                <c:pt idx="2">
                  <c:v>Tuesday</c:v>
                </c:pt>
                <c:pt idx="3">
                  <c:v>Wednesday</c:v>
                </c:pt>
                <c:pt idx="4">
                  <c:v>Thursday</c:v>
                </c:pt>
                <c:pt idx="5">
                  <c:v>Friday</c:v>
                </c:pt>
                <c:pt idx="6">
                  <c:v>Saturday</c:v>
                </c:pt>
                <c:pt idx="7">
                  <c:v>Sunday</c:v>
                </c:pt>
              </c:strCache>
            </c:strRef>
          </c:cat>
          <c:val>
            <c:numRef>
              <c:f>'task-10'!$B$2:$B$9</c:f>
              <c:numCache>
                <c:formatCode>0</c:formatCode>
                <c:ptCount val="8"/>
                <c:pt idx="0">
                  <c:v>187611.49</c:v>
                </c:pt>
                <c:pt idx="1">
                  <c:v>13821.41</c:v>
                </c:pt>
                <c:pt idx="2">
                  <c:v>29125.439999999999</c:v>
                </c:pt>
                <c:pt idx="3">
                  <c:v>14454.94</c:v>
                </c:pt>
                <c:pt idx="4">
                  <c:v>14122.46</c:v>
                </c:pt>
                <c:pt idx="5">
                  <c:v>17454.13</c:v>
                </c:pt>
                <c:pt idx="6">
                  <c:v>20890.62</c:v>
                </c:pt>
                <c:pt idx="7">
                  <c:v>25486.26</c:v>
                </c:pt>
              </c:numCache>
            </c:numRef>
          </c:val>
          <c:extLst>
            <c:ext xmlns:c16="http://schemas.microsoft.com/office/drawing/2014/chart" uri="{C3380CC4-5D6E-409C-BE32-E72D297353CC}">
              <c16:uniqueId val="{00000000-71AA-4593-A5B3-4A1FE3CA7DD1}"/>
            </c:ext>
          </c:extLst>
        </c:ser>
        <c:ser>
          <c:idx val="1"/>
          <c:order val="1"/>
          <c:tx>
            <c:strRef>
              <c:f>'task-10'!$C$1</c:f>
              <c:strCache>
                <c:ptCount val="1"/>
                <c:pt idx="0">
                  <c:v>Num_transactions</c:v>
                </c:pt>
              </c:strCache>
            </c:strRef>
          </c:tx>
          <c:spPr>
            <a:solidFill>
              <a:schemeClr val="accent6">
                <a:lumMod val="75000"/>
              </a:schemeClr>
            </a:soli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c:spPr>
          <c:invertIfNegative val="0"/>
          <c:cat>
            <c:strRef>
              <c:f>'task-10'!$A$2:$A$9</c:f>
              <c:strCache>
                <c:ptCount val="8"/>
                <c:pt idx="0">
                  <c:v>NULL</c:v>
                </c:pt>
                <c:pt idx="1">
                  <c:v>Monday</c:v>
                </c:pt>
                <c:pt idx="2">
                  <c:v>Tuesday</c:v>
                </c:pt>
                <c:pt idx="3">
                  <c:v>Wednesday</c:v>
                </c:pt>
                <c:pt idx="4">
                  <c:v>Thursday</c:v>
                </c:pt>
                <c:pt idx="5">
                  <c:v>Friday</c:v>
                </c:pt>
                <c:pt idx="6">
                  <c:v>Saturday</c:v>
                </c:pt>
                <c:pt idx="7">
                  <c:v>Sunday</c:v>
                </c:pt>
              </c:strCache>
            </c:strRef>
          </c:cat>
          <c:val>
            <c:numRef>
              <c:f>'task-10'!$C$2:$C$9</c:f>
              <c:numCache>
                <c:formatCode>General</c:formatCode>
                <c:ptCount val="8"/>
                <c:pt idx="0">
                  <c:v>587</c:v>
                </c:pt>
                <c:pt idx="1">
                  <c:v>47</c:v>
                </c:pt>
                <c:pt idx="2">
                  <c:v>80</c:v>
                </c:pt>
                <c:pt idx="3">
                  <c:v>50</c:v>
                </c:pt>
                <c:pt idx="4">
                  <c:v>52</c:v>
                </c:pt>
                <c:pt idx="5">
                  <c:v>53</c:v>
                </c:pt>
                <c:pt idx="6">
                  <c:v>56</c:v>
                </c:pt>
                <c:pt idx="7">
                  <c:v>75</c:v>
                </c:pt>
              </c:numCache>
            </c:numRef>
          </c:val>
          <c:extLst>
            <c:ext xmlns:c16="http://schemas.microsoft.com/office/drawing/2014/chart" uri="{C3380CC4-5D6E-409C-BE32-E72D297353CC}">
              <c16:uniqueId val="{00000001-71AA-4593-A5B3-4A1FE3CA7DD1}"/>
            </c:ext>
          </c:extLst>
        </c:ser>
        <c:dLbls>
          <c:showLegendKey val="0"/>
          <c:showVal val="0"/>
          <c:showCatName val="0"/>
          <c:showSerName val="0"/>
          <c:showPercent val="0"/>
          <c:showBubbleSize val="0"/>
        </c:dLbls>
        <c:gapWidth val="150"/>
        <c:overlap val="100"/>
        <c:axId val="642244159"/>
        <c:axId val="642258079"/>
      </c:barChart>
      <c:catAx>
        <c:axId val="642244159"/>
        <c:scaling>
          <c:orientation val="minMax"/>
        </c:scaling>
        <c:delete val="0"/>
        <c:axPos val="b"/>
        <c:numFmt formatCode="General" sourceLinked="1"/>
        <c:majorTickMark val="none"/>
        <c:minorTickMark val="none"/>
        <c:tickLblPos val="nextTo"/>
        <c:spPr>
          <a:noFill/>
          <a:ln w="12700"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crossAx val="642258079"/>
        <c:crosses val="autoZero"/>
        <c:auto val="1"/>
        <c:lblAlgn val="ctr"/>
        <c:lblOffset val="100"/>
        <c:noMultiLvlLbl val="0"/>
      </c:catAx>
      <c:valAx>
        <c:axId val="642258079"/>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crossAx val="642244159"/>
        <c:crosses val="autoZero"/>
        <c:crossBetween val="between"/>
      </c:valAx>
      <c:spPr>
        <a:solidFill>
          <a:schemeClr val="bg2">
            <a:lumMod val="10000"/>
          </a:schemeClr>
        </a:solidFill>
        <a:ln>
          <a:noFill/>
        </a:ln>
        <a:effectLst/>
      </c:spPr>
    </c:plotArea>
    <c:legend>
      <c:legendPos val="b"/>
      <c:overlay val="0"/>
      <c:spPr>
        <a:noFill/>
        <a:ln>
          <a:noFill/>
        </a:ln>
        <a:effectLst/>
      </c:spPr>
      <c:txPr>
        <a:bodyPr rot="0" spcFirstLastPara="1" vertOverflow="ellipsis" vert="horz" wrap="square" anchor="ctr" anchorCtr="1"/>
        <a:lstStyle/>
        <a:p>
          <a:pPr>
            <a:defRPr sz="1400" b="0" i="0" u="none" strike="noStrike" kern="1200" baseline="0">
              <a:solidFill>
                <a:schemeClr val="bg1"/>
              </a:solidFill>
              <a:latin typeface="+mn-lt"/>
              <a:ea typeface="+mn-ea"/>
              <a:cs typeface="+mn-cs"/>
            </a:defRPr>
          </a:pPr>
          <a:endParaRPr lang="en-US"/>
        </a:p>
      </c:txPr>
    </c:legend>
    <c:plotVisOnly val="1"/>
    <c:dispBlanksAs val="gap"/>
    <c:showDLblsOverMax val="0"/>
  </c:chart>
  <c:spPr>
    <a:solidFill>
      <a:schemeClr val="bg2">
        <a:lumMod val="10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20">
  <a:schemeClr val="dk1"/>
  <cs:variation>
    <a:tint val="88500"/>
  </cs:variation>
  <cs:variation>
    <a:tint val="55000"/>
  </cs:variation>
  <cs:variation>
    <a:tint val="75000"/>
  </cs:variation>
  <cs:variation>
    <a:tint val="98500"/>
  </cs:variation>
  <cs:variation>
    <a:tint val="30000"/>
  </cs:variation>
  <cs:variation>
    <a:tint val="60000"/>
  </cs:variation>
  <cs:variation>
    <a:tint val="8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1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94">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dk1">
            <a:lumMod val="50000"/>
            <a:lumOff val="50000"/>
          </a:schemeClr>
        </a:solidFill>
        <a:round/>
      </a:ln>
    </cs:spPr>
  </cs:gridlineMajor>
  <cs:gridlineMinor>
    <cs:lnRef idx="0"/>
    <cs:fillRef idx="0"/>
    <cs:effectRef idx="0"/>
    <cs:fontRef idx="minor">
      <a:schemeClr val="tx1"/>
    </cs:fontRef>
    <cs:spPr>
      <a:ln>
        <a:solidFill>
          <a:schemeClr val="dk1">
            <a:lumMod val="60000"/>
            <a:lumOff val="40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6.xml><?xml version="1.0" encoding="utf-8"?>
<cs:chartStyle xmlns:cs="http://schemas.microsoft.com/office/drawing/2012/chartStyle" xmlns:a="http://schemas.openxmlformats.org/drawingml/2006/main" id="233">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9525" cap="flat" cmpd="sng" algn="ctr">
        <a:solidFill>
          <a:schemeClr val="lt1">
            <a:lumMod val="95000"/>
            <a:alpha val="10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7.xml><?xml version="1.0" encoding="utf-8"?>
<cs:chartStyle xmlns:cs="http://schemas.microsoft.com/office/drawing/2012/chartStyle" xmlns:a="http://schemas.openxmlformats.org/drawingml/2006/main" id="202">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064" kern="1200" cap="all" spc="120" normalizeH="0" baseline="0"/>
  </cs:categoryAxis>
  <cs:chartArea mods="allowNoFillOverride allowNoLineOverride">
    <cs:lnRef idx="0"/>
    <cs:fillRef idx="0"/>
    <cs:effectRef idx="0"/>
    <cs:fontRef idx="minor">
      <a:schemeClr val="dk1"/>
    </cs:fontRef>
    <cs:spPr>
      <a:solidFill>
        <a:schemeClr val="lt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50000"/>
        <a:lumOff val="50000"/>
      </a:schemeClr>
    </cs:fontRef>
    <cs:defRPr sz="1064" b="0" i="0" u="none" strike="noStrike" kern="1200" baseline="0"/>
    <cs:bodyPr rot="-5400000" spcFirstLastPara="1" vertOverflow="clip" horzOverflow="clip" vert="horz" wrap="square" lIns="38100" tIns="19050" rIns="38100" bIns="19050" anchor="ctr" anchorCtr="1">
      <a:spAutoFit/>
    </cs:bodyPr>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22225" cap="rnd">
        <a:solidFill>
          <a:schemeClr val="phClr"/>
        </a:solidFill>
        <a:round/>
      </a:ln>
    </cs:spPr>
  </cs:dataPointLine>
  <cs:dataPointMarker>
    <cs:lnRef idx="0">
      <cs:styleClr val="auto"/>
    </cs:lnRef>
    <cs:fillRef idx="0">
      <cs:styleClr val="auto"/>
    </cs:fillRef>
    <cs:effectRef idx="0"/>
    <cs:fontRef idx="minor">
      <a:schemeClr val="dk1"/>
    </cs:fontRef>
    <cs:spPr>
      <a:solidFill>
        <a:schemeClr val="phClr"/>
      </a:solidFill>
      <a:ln w="9525">
        <a:solidFill>
          <a:schemeClr val="phClr"/>
        </a:solidFill>
        <a:round/>
      </a:ln>
    </cs:spPr>
  </cs:dataPointMarker>
  <cs:dataPointMarkerLayout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15000"/>
            <a:lumOff val="85000"/>
          </a:schemeClr>
        </a:solidFill>
      </a:ln>
    </cs:spPr>
  </cs:downBar>
  <cs:dropLine>
    <cs:lnRef idx="0"/>
    <cs:fillRef idx="0"/>
    <cs:effectRef idx="0"/>
    <cs:fontRef idx="minor">
      <a:schemeClr val="dk1"/>
    </cs:fontRef>
    <cs:spPr>
      <a:ln w="9525">
        <a:solidFill>
          <a:schemeClr val="tx1">
            <a:lumMod val="35000"/>
            <a:lumOff val="65000"/>
          </a:schemeClr>
        </a:solidFill>
      </a:ln>
    </cs:spPr>
  </cs:dropLine>
  <cs:errorBar>
    <cs:lnRef idx="0"/>
    <cs:fillRef idx="0"/>
    <cs:effectRef idx="0"/>
    <cs:fontRef idx="minor">
      <a:schemeClr val="dk1"/>
    </cs:fontRef>
    <cs:spPr>
      <a:ln w="9525">
        <a:solidFill>
          <a:schemeClr val="tx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spc="120" normalizeH="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064" kern="1200"/>
  </cs:trendlineLabel>
  <cs:upBar>
    <cs:lnRef idx="0"/>
    <cs:fillRef idx="0"/>
    <cs:effectRef idx="0"/>
    <cs:fontRef idx="minor">
      <a:schemeClr val="dk1"/>
    </cs:fontRef>
    <cs:spPr>
      <a:solidFill>
        <a:schemeClr val="lt1"/>
      </a:solidFill>
      <a:ln w="9525">
        <a:solidFill>
          <a:schemeClr val="tx1">
            <a:lumMod val="65000"/>
            <a:lumOff val="35000"/>
          </a:schemeClr>
        </a:solidFill>
      </a:ln>
    </cs:spPr>
  </cs:upBar>
  <cs:valueAxis>
    <cs:lnRef idx="0"/>
    <cs:fillRef idx="0"/>
    <cs:effectRef idx="0"/>
    <cs:fontRef idx="minor">
      <a:schemeClr val="tx1">
        <a:lumMod val="65000"/>
        <a:lumOff val="35000"/>
      </a:schemeClr>
    </cs:fontRef>
    <cs:spPr>
      <a:ln w="9525" cap="flat" cmpd="sng" algn="ctr">
        <a:solidFill>
          <a:schemeClr val="dk1">
            <a:lumMod val="15000"/>
            <a:lumOff val="85000"/>
          </a:schemeClr>
        </a:solidFill>
        <a:round/>
      </a:ln>
    </cs:spPr>
    <cs:defRPr sz="1197" kern="1200"/>
  </cs:valueAxis>
  <cs:wall>
    <cs:lnRef idx="0"/>
    <cs:fillRef idx="0"/>
    <cs:effectRef idx="0"/>
    <cs:fontRef idx="minor">
      <a:schemeClr val="dk1"/>
    </cs:fontRef>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8">
  <cs:axisTitle>
    <cs:lnRef idx="0"/>
    <cs:fillRef idx="0"/>
    <cs:effectRef idx="0"/>
    <cs:fontRef idx="minor">
      <a:schemeClr val="lt1">
        <a:lumMod val="85000"/>
      </a:schemeClr>
    </cs:fontRef>
    <cs:defRPr sz="900" b="1" kern="1200" cap="all"/>
  </cs:axisTitle>
  <cs:category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categoryAxis>
  <cs:chartArea>
    <cs:lnRef idx="0"/>
    <cs:fillRef idx="0"/>
    <cs:effectRef idx="0"/>
    <cs:fontRef idx="minor">
      <a:schemeClr val="dk1"/>
    </cs:fontRef>
    <cs:spPr>
      <a:gradFill flip="none" rotWithShape="1">
        <a:gsLst>
          <a:gs pos="0">
            <a:schemeClr val="dk1">
              <a:lumMod val="65000"/>
              <a:lumOff val="35000"/>
            </a:schemeClr>
          </a:gs>
          <a:gs pos="100000">
            <a:schemeClr val="dk1">
              <a:lumMod val="85000"/>
              <a:lumOff val="15000"/>
            </a:schemeClr>
          </a:gs>
        </a:gsLst>
        <a:path path="circle">
          <a:fillToRect l="50000" t="50000" r="50000" b="50000"/>
        </a:path>
        <a:tileRect/>
      </a:gradFill>
    </cs:spPr>
    <cs:defRPr sz="1000" kern="1200"/>
  </cs:chartArea>
  <cs:dataLabel>
    <cs:lnRef idx="0"/>
    <cs:fillRef idx="0"/>
    <cs:effectRef idx="0"/>
    <cs:fontRef idx="minor">
      <a:schemeClr val="lt1">
        <a:lumMod val="85000"/>
      </a:schemeClr>
    </cs:fontRef>
    <cs:defRPr sz="900" kern="1200"/>
  </cs:dataLabel>
  <cs:dataLabelCallout>
    <cs:lnRef idx="0"/>
    <cs:fillRef idx="0"/>
    <cs:effectRef idx="0"/>
    <cs:fontRef idx="minor">
      <a:schemeClr val="dk1">
        <a:lumMod val="65000"/>
        <a:lumOff val="35000"/>
      </a:schemeClr>
    </cs:fontRef>
    <cs:spPr>
      <a:solidFill>
        <a:schemeClr val="lt1"/>
      </a:solidFill>
    </cs:spPr>
    <cs:defRPr sz="900"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lt1">
        <a:lumMod val="85000"/>
      </a:schemeClr>
    </cs:fontRef>
    <cs:spPr>
      <a:ln w="9525">
        <a:solidFill>
          <a:schemeClr val="lt1">
            <a:lumMod val="95000"/>
            <a:alpha val="54000"/>
          </a:schemeClr>
        </a:solidFill>
      </a:ln>
    </cs:spPr>
    <cs:defRPr sz="900" kern="1200"/>
  </cs:dataTable>
  <cs:downBar>
    <cs:lnRef idx="0"/>
    <cs:fillRef idx="0"/>
    <cs:effectRef idx="0"/>
    <cs:fontRef idx="minor">
      <a:schemeClr val="tx1"/>
    </cs:fontRef>
    <cs:spPr>
      <a:solidFill>
        <a:schemeClr val="dk1">
          <a:lumMod val="75000"/>
          <a:lumOff val="25000"/>
        </a:schemeClr>
      </a:solidFill>
      <a:ln w="9525">
        <a:solidFill>
          <a:schemeClr val="lt1">
            <a:lumMod val="95000"/>
            <a:alpha val="54000"/>
          </a:schemeClr>
        </a:solidFill>
      </a:ln>
    </cs:spPr>
  </cs:downBar>
  <cs:dropLine>
    <cs:lnRef idx="0"/>
    <cs:fillRef idx="0"/>
    <cs:effectRef idx="0"/>
    <cs:fontRef idx="minor">
      <a:schemeClr val="tx1"/>
    </cs:fontRef>
    <cs:spPr>
      <a:ln w="9525">
        <a:solidFill>
          <a:schemeClr val="lt1">
            <a:lumMod val="95000"/>
            <a:alpha val="54000"/>
          </a:schemeClr>
        </a:solidFill>
        <a:prstDash val="dash"/>
      </a:ln>
    </cs:spPr>
  </cs:dropLine>
  <cs:errorBar>
    <cs:lnRef idx="0"/>
    <cs:fillRef idx="0"/>
    <cs:effectRef idx="0"/>
    <cs:fontRef idx="minor">
      <a:schemeClr val="tx1"/>
    </cs:fontRef>
    <cs:spPr>
      <a:ln w="9525" cap="flat" cmpd="sng" algn="ctr">
        <a:solidFill>
          <a:schemeClr val="lt1">
            <a:lumMod val="9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lt1">
            <a:lumMod val="95000"/>
            <a:alpha val="10000"/>
          </a:schemeClr>
        </a:solidFill>
        <a:round/>
      </a:ln>
    </cs:spPr>
  </cs:gridlineMajor>
  <cs:gridlineMinor>
    <cs:lnRef idx="0"/>
    <cs:fillRef idx="0"/>
    <cs:effectRef idx="0"/>
    <cs:fontRef idx="minor">
      <a:schemeClr val="tx1"/>
    </cs:fontRef>
    <cs:spPr>
      <a:ln>
        <a:solidFill>
          <a:schemeClr val="lt1">
            <a:lumMod val="95000"/>
            <a:alpha val="5000"/>
          </a:schemeClr>
        </a:solidFill>
      </a:ln>
    </cs:spPr>
  </cs:gridlineMinor>
  <cs:hiLoLine>
    <cs:lnRef idx="0"/>
    <cs:fillRef idx="0"/>
    <cs:effectRef idx="0"/>
    <cs:fontRef idx="minor">
      <a:schemeClr val="tx1"/>
    </cs:fontRef>
    <cs:spPr>
      <a:ln w="9525">
        <a:solidFill>
          <a:schemeClr val="lt1">
            <a:lumMod val="95000"/>
            <a:alpha val="54000"/>
          </a:schemeClr>
        </a:solidFill>
        <a:prstDash val="dash"/>
      </a:ln>
    </cs:spPr>
  </cs:hiLoLine>
  <cs:leaderLine>
    <cs:lnRef idx="0"/>
    <cs:fillRef idx="0"/>
    <cs:effectRef idx="0"/>
    <cs:fontRef idx="minor">
      <a:schemeClr val="tx1"/>
    </cs:fontRef>
    <cs:spPr>
      <a:ln w="9525">
        <a:solidFill>
          <a:schemeClr val="lt1">
            <a:lumMod val="95000"/>
            <a:alpha val="54000"/>
          </a:schemeClr>
        </a:solidFill>
      </a:ln>
    </cs:spPr>
  </cs:leaderLine>
  <cs:legend>
    <cs:lnRef idx="0"/>
    <cs:fillRef idx="0"/>
    <cs:effectRef idx="0"/>
    <cs:fontRef idx="minor">
      <a:schemeClr val="lt1">
        <a:lumMod val="85000"/>
      </a:schemeClr>
    </cs:fontRef>
    <cs:defRPr sz="900" kern="1200"/>
  </cs:legend>
  <cs:plotArea>
    <cs:lnRef idx="0"/>
    <cs:fillRef idx="0"/>
    <cs:effectRef idx="0"/>
    <cs:fontRef idx="minor">
      <a:schemeClr val="tx1"/>
    </cs:fontRef>
  </cs:plotArea>
  <cs:plotArea3D>
    <cs:lnRef idx="0"/>
    <cs:fillRef idx="0"/>
    <cs:effectRef idx="0"/>
    <cs:fontRef idx="minor">
      <a:schemeClr val="tx1"/>
    </cs:fontRef>
  </cs:plotArea3D>
  <cs:seriesAxis>
    <cs:lnRef idx="0"/>
    <cs:fillRef idx="0"/>
    <cs:effectRef idx="0"/>
    <cs:fontRef idx="minor">
      <a:schemeClr val="lt1">
        <a:lumMod val="85000"/>
      </a:schemeClr>
    </cs:fontRef>
    <cs:spPr>
      <a:ln w="12700" cap="flat" cmpd="sng" algn="ctr">
        <a:solidFill>
          <a:schemeClr val="lt1">
            <a:lumMod val="95000"/>
            <a:alpha val="54000"/>
          </a:schemeClr>
        </a:solidFill>
        <a:round/>
      </a:ln>
    </cs:spPr>
    <cs:defRPr sz="900" kern="1200"/>
  </cs:seriesAxis>
  <cs:seriesLine>
    <cs:lnRef idx="0"/>
    <cs:fillRef idx="0"/>
    <cs:effectRef idx="0"/>
    <cs:fontRef idx="minor">
      <a:schemeClr val="lt1"/>
    </cs:fontRef>
    <cs:spPr>
      <a:ln w="9525" cap="flat" cmpd="sng" algn="ctr">
        <a:solidFill>
          <a:schemeClr val="lt1">
            <a:lumMod val="95000"/>
            <a:alpha val="54000"/>
          </a:schemeClr>
        </a:solidFill>
        <a:round/>
      </a:ln>
    </cs:spPr>
  </cs:seriesLine>
  <cs:title>
    <cs:lnRef idx="0"/>
    <cs:fillRef idx="0"/>
    <cs:effectRef idx="0"/>
    <cs:fontRef idx="minor">
      <a:schemeClr val="lt1">
        <a:lumMod val="95000"/>
      </a:schemeClr>
    </cs:fontRef>
    <cs:defRPr sz="1600" b="1" kern="1200" spc="100" baseline="0">
      <a:effectLst>
        <a:outerShdw blurRad="50800" dist="38100" dir="5400000" algn="t" rotWithShape="0">
          <a:prstClr val="black">
            <a:alpha val="40000"/>
          </a:prstClr>
        </a:outerShdw>
      </a:effectLst>
    </cs:defRPr>
  </cs:title>
  <cs:trendline>
    <cs:lnRef idx="0">
      <cs:styleClr val="auto"/>
    </cs:lnRef>
    <cs:fillRef idx="0"/>
    <cs:effectRef idx="0"/>
    <cs:fontRef idx="minor">
      <a:schemeClr val="tx1"/>
    </cs:fontRef>
    <cs:spPr>
      <a:ln w="19050" cap="rnd">
        <a:solidFill>
          <a:schemeClr val="phClr"/>
        </a:solidFill>
      </a:ln>
    </cs:spPr>
  </cs:trendline>
  <cs:trendlineLabel>
    <cs:lnRef idx="0"/>
    <cs:fillRef idx="0"/>
    <cs:effectRef idx="0"/>
    <cs:fontRef idx="minor">
      <a:schemeClr val="lt1">
        <a:lumMod val="85000"/>
      </a:schemeClr>
    </cs:fontRef>
    <cs:defRPr sz="900" kern="1200"/>
  </cs:trendlineLabel>
  <cs:upBar>
    <cs:lnRef idx="0"/>
    <cs:fillRef idx="0"/>
    <cs:effectRef idx="0"/>
    <cs:fontRef idx="minor">
      <a:schemeClr val="tx1"/>
    </cs:fontRef>
    <cs:spPr>
      <a:solidFill>
        <a:schemeClr val="lt1"/>
      </a:solidFill>
      <a:ln w="9525">
        <a:solidFill>
          <a:schemeClr val="lt1">
            <a:lumMod val="95000"/>
            <a:alpha val="54000"/>
          </a:schemeClr>
        </a:solidFill>
      </a:ln>
    </cs:spPr>
  </cs:upBar>
  <cs:valueAxis>
    <cs:lnRef idx="0"/>
    <cs:fillRef idx="0"/>
    <cs:effectRef idx="0"/>
    <cs:fontRef idx="minor">
      <a:schemeClr val="lt1">
        <a:lumMod val="85000"/>
      </a:schemeClr>
    </cs:fontRef>
    <cs:defRPr sz="900" kern="1200"/>
  </cs:valueAxis>
  <cs:wall>
    <cs:lnRef idx="0"/>
    <cs:fillRef idx="0"/>
    <cs:effectRef idx="0"/>
    <cs:fontRef idx="minor">
      <a:schemeClr val="tx1"/>
    </cs:fontRef>
  </cs:wall>
</cs:chartStyle>
</file>

<file path=ppt/charts/style10.xml><?xml version="1.0" encoding="utf-8"?>
<cs:chartStyle xmlns:cs="http://schemas.microsoft.com/office/drawing/2012/chartStyle" xmlns:a="http://schemas.openxmlformats.org/drawingml/2006/main" id="348">
  <cs:axisTitle>
    <cs:lnRef idx="0"/>
    <cs:fillRef idx="0"/>
    <cs:effectRef idx="0"/>
    <cs:fontRef idx="minor">
      <a:schemeClr val="tx1">
        <a:lumMod val="65000"/>
        <a:lumOff val="35000"/>
      </a:schemeClr>
    </cs:fontRef>
    <cs:defRPr sz="1197" kern="1200"/>
  </cs:axisTitle>
  <cs:category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2"/>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3">
      <cs:styleClr val="auto"/>
    </cs:fillRef>
    <cs:effectRef idx="3"/>
    <cs:fontRef idx="minor">
      <a:schemeClr val="tx1"/>
    </cs:fontRef>
  </cs:dataPoint>
  <cs:dataPoint3D>
    <cs:lnRef idx="0"/>
    <cs:fillRef idx="3">
      <cs:styleClr val="auto"/>
    </cs:fillRef>
    <cs:effectRef idx="3"/>
    <cs:fontRef idx="minor">
      <a:schemeClr val="tx1"/>
    </cs:fontRef>
  </cs:dataPoint3D>
  <cs:dataPointLine>
    <cs:lnRef idx="0">
      <cs:styleClr val="auto"/>
    </cs:lnRef>
    <cs:fillRef idx="3"/>
    <cs:effectRef idx="3"/>
    <cs:fontRef idx="minor">
      <a:schemeClr val="tx1"/>
    </cs:fontRef>
    <cs:spPr>
      <a:ln w="34925" cap="rnd">
        <a:solidFill>
          <a:schemeClr val="phClr"/>
        </a:solidFill>
        <a:round/>
      </a:ln>
    </cs:spPr>
  </cs:dataPointLine>
  <cs:dataPointMarker>
    <cs:lnRef idx="0">
      <cs:styleClr val="auto"/>
    </cs:lnRef>
    <cs:fillRef idx="3">
      <cs:styleClr val="auto"/>
    </cs:fillRef>
    <cs:effectRef idx="3"/>
    <cs:fontRef idx="minor">
      <a:schemeClr val="tx1"/>
    </cs:fontRef>
    <cs:spPr>
      <a:ln w="9525">
        <a:solidFill>
          <a:schemeClr val="phClr"/>
        </a:solidFill>
        <a:round/>
      </a:ln>
    </cs:spPr>
  </cs:dataPointMarker>
  <cs:dataPointMarkerLayout symbol="circle" size="6"/>
  <cs:dataPointWireframe>
    <cs:lnRef idx="0">
      <cs:styleClr val="auto"/>
    </cs:lnRef>
    <cs:fillRef idx="3"/>
    <cs:effectRef idx="3"/>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lt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cs:lnRef idx="0"/>
    <cs:fillRef idx="0"/>
    <cs:effectRef idx="0"/>
    <cs:fontRef idx="minor">
      <a:schemeClr val="lt1"/>
    </cs:fontRef>
  </cs:plotArea>
  <cs:plotArea3D>
    <cs:lnRef idx="0"/>
    <cs:fillRef idx="0"/>
    <cs:effectRef idx="0"/>
    <cs:fontRef idx="minor">
      <a:schemeClr val="lt1"/>
    </cs:fontRef>
  </cs:plotArea3D>
  <cs:seriesAxis>
    <cs:lnRef idx="0"/>
    <cs:fillRef idx="0"/>
    <cs:effectRef idx="0"/>
    <cs:fontRef idx="minor">
      <a:schemeClr val="tx1">
        <a:lumMod val="65000"/>
        <a:lumOff val="35000"/>
      </a:schemeClr>
    </cs:fontRef>
    <cs:spPr>
      <a:ln w="12700"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baseline="0"/>
  </cs:title>
  <cs:trendline>
    <cs:lnRef idx="0">
      <cs:styleClr val="auto"/>
    </cs:lnRef>
    <cs:fillRef idx="0"/>
    <cs:effectRef idx="0"/>
    <cs:fontRef idx="minor">
      <a:schemeClr val="lt1"/>
    </cs:fontRef>
    <cs:spPr>
      <a:ln w="19050" cap="rnd">
        <a:solidFill>
          <a:schemeClr val="phClr"/>
        </a:solidFill>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lt1"/>
    </cs:fontRef>
  </cs:wall>
</cs:chartStyle>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93FB77-98C7-4972-A162-56ACA9500559}"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22E3473-4D96-451C-AF54-BA61D76CD303}">
      <dgm:prSet custT="1"/>
      <dgm:spPr/>
      <dgm:t>
        <a:bodyPr/>
        <a:lstStyle/>
        <a:p>
          <a:pPr>
            <a:lnSpc>
              <a:spcPct val="100000"/>
            </a:lnSpc>
          </a:pPr>
          <a:r>
            <a:rPr lang="en-US" sz="1600" dirty="0">
              <a:latin typeface="DM Sans" pitchFamily="2" charset="0"/>
            </a:rPr>
            <a:t>Walmart, operating across multiple cities and product categories, faces challenges in understanding sales trends, customer preferences, and operational efficiency. This project analyzes the Walmart Sales Dataset (~1,000 transactions, 18 attributes) to address these challenges by uncovering key patterns in revenue, customer behavior, and product performance.</a:t>
          </a:r>
        </a:p>
      </dgm:t>
    </dgm:pt>
    <dgm:pt modelId="{E7536DC4-53BF-4161-A6C9-A3CCE012D48C}" type="parTrans" cxnId="{C2452F52-83E5-4648-951A-C01716362676}">
      <dgm:prSet/>
      <dgm:spPr/>
      <dgm:t>
        <a:bodyPr/>
        <a:lstStyle/>
        <a:p>
          <a:endParaRPr lang="en-US"/>
        </a:p>
      </dgm:t>
    </dgm:pt>
    <dgm:pt modelId="{2837A264-C52F-4A9E-A3D5-3AAC589F6BBB}" type="sibTrans" cxnId="{C2452F52-83E5-4648-951A-C01716362676}">
      <dgm:prSet/>
      <dgm:spPr/>
      <dgm:t>
        <a:bodyPr/>
        <a:lstStyle/>
        <a:p>
          <a:endParaRPr lang="en-US"/>
        </a:p>
      </dgm:t>
    </dgm:pt>
    <dgm:pt modelId="{F1EECF39-8CE2-4866-8CFD-1FA614DAEAD2}">
      <dgm:prSet custT="1"/>
      <dgm:spPr/>
      <dgm:t>
        <a:bodyPr/>
        <a:lstStyle/>
        <a:p>
          <a:pPr>
            <a:lnSpc>
              <a:spcPct val="100000"/>
            </a:lnSpc>
          </a:pPr>
          <a:r>
            <a:rPr lang="en-US" sz="1600" dirty="0">
              <a:latin typeface="DM Sans" pitchFamily="2" charset="0"/>
            </a:rPr>
            <a:t>Using </a:t>
          </a:r>
          <a:r>
            <a:rPr lang="en-US" sz="1600" b="1" dirty="0">
              <a:latin typeface="DM Sans" pitchFamily="2" charset="0"/>
            </a:rPr>
            <a:t>MySQL Workbench</a:t>
          </a:r>
          <a:r>
            <a:rPr lang="en-US" sz="1600" dirty="0">
              <a:latin typeface="DM Sans" pitchFamily="2" charset="0"/>
            </a:rPr>
            <a:t>, I applied aggregation, window functions, ranking, segmentation, and time-series analysis to deliver actionable insights aimed at boosting sales growth, improving customer retention, and optimizing inventory.</a:t>
          </a:r>
        </a:p>
      </dgm:t>
    </dgm:pt>
    <dgm:pt modelId="{6B46B4F3-58AB-41C3-B9AA-F1F9E2B881E7}" type="parTrans" cxnId="{0DE079F4-F600-4D2B-9DFC-3589AA4C6727}">
      <dgm:prSet/>
      <dgm:spPr/>
      <dgm:t>
        <a:bodyPr/>
        <a:lstStyle/>
        <a:p>
          <a:endParaRPr lang="en-US"/>
        </a:p>
      </dgm:t>
    </dgm:pt>
    <dgm:pt modelId="{0DC51462-ECFB-4C70-9C8F-3C7463B23294}" type="sibTrans" cxnId="{0DE079F4-F600-4D2B-9DFC-3589AA4C6727}">
      <dgm:prSet/>
      <dgm:spPr/>
      <dgm:t>
        <a:bodyPr/>
        <a:lstStyle/>
        <a:p>
          <a:endParaRPr lang="en-US"/>
        </a:p>
      </dgm:t>
    </dgm:pt>
    <dgm:pt modelId="{F3A7DA92-55CA-4A87-BEDA-48662B94FAF0}">
      <dgm:prSet custT="1"/>
      <dgm:spPr/>
      <dgm:t>
        <a:bodyPr/>
        <a:lstStyle/>
        <a:p>
          <a:pPr>
            <a:lnSpc>
              <a:spcPct val="100000"/>
            </a:lnSpc>
          </a:pPr>
          <a:r>
            <a:rPr lang="en-US" sz="1600" b="1" dirty="0">
              <a:latin typeface="DM Sans" pitchFamily="2" charset="0"/>
            </a:rPr>
            <a:t>Tools:</a:t>
          </a:r>
          <a:r>
            <a:rPr lang="en-US" sz="1600" dirty="0">
              <a:latin typeface="DM Sans" pitchFamily="2" charset="0"/>
            </a:rPr>
            <a:t> MySQL Workbench, Excel, power BI PowerPoint</a:t>
          </a:r>
        </a:p>
      </dgm:t>
    </dgm:pt>
    <dgm:pt modelId="{686F61D6-C4AD-4624-977B-9014BBA99F03}" type="parTrans" cxnId="{C7C974F7-CA41-447D-BCBA-297568BF9F2A}">
      <dgm:prSet/>
      <dgm:spPr/>
      <dgm:t>
        <a:bodyPr/>
        <a:lstStyle/>
        <a:p>
          <a:endParaRPr lang="en-US"/>
        </a:p>
      </dgm:t>
    </dgm:pt>
    <dgm:pt modelId="{5DD9BF40-C3F6-4AA4-8D39-F72CD7CDC2BD}" type="sibTrans" cxnId="{C7C974F7-CA41-447D-BCBA-297568BF9F2A}">
      <dgm:prSet/>
      <dgm:spPr/>
      <dgm:t>
        <a:bodyPr/>
        <a:lstStyle/>
        <a:p>
          <a:endParaRPr lang="en-US"/>
        </a:p>
      </dgm:t>
    </dgm:pt>
    <dgm:pt modelId="{100645C3-5FE6-4F04-9AC5-1BAC168E5E0D}" type="pres">
      <dgm:prSet presAssocID="{7E93FB77-98C7-4972-A162-56ACA9500559}" presName="root" presStyleCnt="0">
        <dgm:presLayoutVars>
          <dgm:dir/>
          <dgm:resizeHandles val="exact"/>
        </dgm:presLayoutVars>
      </dgm:prSet>
      <dgm:spPr/>
    </dgm:pt>
    <dgm:pt modelId="{C383DAEB-6B8C-4535-8004-6A92BBB32A67}" type="pres">
      <dgm:prSet presAssocID="{B22E3473-4D96-451C-AF54-BA61D76CD303}" presName="compNode" presStyleCnt="0"/>
      <dgm:spPr/>
    </dgm:pt>
    <dgm:pt modelId="{310645EB-EE67-4564-9161-6A382A782067}" type="pres">
      <dgm:prSet presAssocID="{B22E3473-4D96-451C-AF54-BA61D76CD303}" presName="bgRect" presStyleLbl="bgShp" presStyleIdx="0" presStyleCnt="3" custLinFactNeighborY="-8618"/>
      <dgm:spPr>
        <a:solidFill>
          <a:srgbClr val="FFE9AB"/>
        </a:solidFill>
        <a:ln>
          <a:solidFill>
            <a:srgbClr val="FFE9AB"/>
          </a:solidFill>
        </a:ln>
      </dgm:spPr>
    </dgm:pt>
    <dgm:pt modelId="{E4316B50-28C7-426D-AE35-513E190A9E47}" type="pres">
      <dgm:prSet presAssocID="{B22E3473-4D96-451C-AF54-BA61D76CD303}" presName="iconRect" presStyleLbl="node1" presStyleIdx="0" presStyleCnt="3" custLinFactNeighborX="-24227" custLinFactNeighborY="540"/>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hopping cart"/>
        </a:ext>
      </dgm:extLst>
    </dgm:pt>
    <dgm:pt modelId="{32516D69-1702-40E8-B8D5-2A3E6E8A28C3}" type="pres">
      <dgm:prSet presAssocID="{B22E3473-4D96-451C-AF54-BA61D76CD303}" presName="spaceRect" presStyleCnt="0"/>
      <dgm:spPr/>
    </dgm:pt>
    <dgm:pt modelId="{2E2F2736-B1C2-42C5-B4A5-14C000E7253C}" type="pres">
      <dgm:prSet presAssocID="{B22E3473-4D96-451C-AF54-BA61D76CD303}" presName="parTx" presStyleLbl="revTx" presStyleIdx="0" presStyleCnt="3" custScaleX="114646" custLinFactNeighborX="-3962" custLinFactNeighborY="454">
        <dgm:presLayoutVars>
          <dgm:chMax val="0"/>
          <dgm:chPref val="0"/>
        </dgm:presLayoutVars>
      </dgm:prSet>
      <dgm:spPr/>
    </dgm:pt>
    <dgm:pt modelId="{7E8FB2E2-1D2C-45A8-BB20-2B0DBB7EFEBD}" type="pres">
      <dgm:prSet presAssocID="{2837A264-C52F-4A9E-A3D5-3AAC589F6BBB}" presName="sibTrans" presStyleCnt="0"/>
      <dgm:spPr/>
    </dgm:pt>
    <dgm:pt modelId="{822130EF-BD13-4ACB-8AA2-13B6CE0E09F2}" type="pres">
      <dgm:prSet presAssocID="{F1EECF39-8CE2-4866-8CFD-1FA614DAEAD2}" presName="compNode" presStyleCnt="0"/>
      <dgm:spPr/>
    </dgm:pt>
    <dgm:pt modelId="{B75F6CE5-F6BE-4015-BBEB-AAFFF84F8439}" type="pres">
      <dgm:prSet presAssocID="{F1EECF39-8CE2-4866-8CFD-1FA614DAEAD2}" presName="bgRect" presStyleLbl="bgShp" presStyleIdx="1" presStyleCnt="3"/>
      <dgm:spPr>
        <a:solidFill>
          <a:srgbClr val="FFE9AB"/>
        </a:solidFill>
      </dgm:spPr>
    </dgm:pt>
    <dgm:pt modelId="{4787BAEB-E90D-42B2-B7C7-30B1D9514519}" type="pres">
      <dgm:prSet presAssocID="{F1EECF39-8CE2-4866-8CFD-1FA614DAEAD2}" presName="iconRect" presStyleLbl="node1" presStyleIdx="1" presStyleCnt="3" custLinFactNeighborX="-24227" custLinFactNeighborY="-663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ears"/>
        </a:ext>
      </dgm:extLst>
    </dgm:pt>
    <dgm:pt modelId="{EAAEBA8E-D53B-486D-80F0-C0376B5EAD9B}" type="pres">
      <dgm:prSet presAssocID="{F1EECF39-8CE2-4866-8CFD-1FA614DAEAD2}" presName="spaceRect" presStyleCnt="0"/>
      <dgm:spPr/>
    </dgm:pt>
    <dgm:pt modelId="{FDED1688-1122-48D0-875C-437766E25488}" type="pres">
      <dgm:prSet presAssocID="{F1EECF39-8CE2-4866-8CFD-1FA614DAEAD2}" presName="parTx" presStyleLbl="revTx" presStyleIdx="1" presStyleCnt="3" custLinFactNeighborX="-7740" custLinFactNeighborY="0">
        <dgm:presLayoutVars>
          <dgm:chMax val="0"/>
          <dgm:chPref val="0"/>
        </dgm:presLayoutVars>
      </dgm:prSet>
      <dgm:spPr/>
    </dgm:pt>
    <dgm:pt modelId="{FA0B63CC-2798-4C9F-85F4-A08669635F91}" type="pres">
      <dgm:prSet presAssocID="{0DC51462-ECFB-4C70-9C8F-3C7463B23294}" presName="sibTrans" presStyleCnt="0"/>
      <dgm:spPr/>
    </dgm:pt>
    <dgm:pt modelId="{38E389DF-0F78-4662-98D7-7B5CF3D8F867}" type="pres">
      <dgm:prSet presAssocID="{F3A7DA92-55CA-4A87-BEDA-48662B94FAF0}" presName="compNode" presStyleCnt="0"/>
      <dgm:spPr/>
    </dgm:pt>
    <dgm:pt modelId="{973CD5C4-5C57-4465-82ED-2F8D1A8D4B5D}" type="pres">
      <dgm:prSet presAssocID="{F3A7DA92-55CA-4A87-BEDA-48662B94FAF0}" presName="bgRect" presStyleLbl="bgShp" presStyleIdx="2" presStyleCnt="3"/>
      <dgm:spPr>
        <a:solidFill>
          <a:srgbClr val="FFE9AB"/>
        </a:solidFill>
      </dgm:spPr>
    </dgm:pt>
    <dgm:pt modelId="{842E66AE-BAD9-4614-8FB6-0E4B7A237539}" type="pres">
      <dgm:prSet presAssocID="{F3A7DA92-55CA-4A87-BEDA-48662B94FAF0}" presName="iconRect" presStyleLbl="node1" presStyleIdx="2" presStyleCnt="3" custLinFactNeighborX="-24227" custLinFactNeighborY="-5561"/>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Bar chart"/>
        </a:ext>
      </dgm:extLst>
    </dgm:pt>
    <dgm:pt modelId="{3851701D-2810-4FC6-933B-01AADAAE49A7}" type="pres">
      <dgm:prSet presAssocID="{F3A7DA92-55CA-4A87-BEDA-48662B94FAF0}" presName="spaceRect" presStyleCnt="0"/>
      <dgm:spPr/>
    </dgm:pt>
    <dgm:pt modelId="{3804BFCF-DDC8-42A1-9D85-135E30373189}" type="pres">
      <dgm:prSet presAssocID="{F3A7DA92-55CA-4A87-BEDA-48662B94FAF0}" presName="parTx" presStyleLbl="revTx" presStyleIdx="2" presStyleCnt="3" custLinFactNeighborX="-5377" custLinFactNeighborY="-2331">
        <dgm:presLayoutVars>
          <dgm:chMax val="0"/>
          <dgm:chPref val="0"/>
        </dgm:presLayoutVars>
      </dgm:prSet>
      <dgm:spPr/>
    </dgm:pt>
  </dgm:ptLst>
  <dgm:cxnLst>
    <dgm:cxn modelId="{85B47766-3D09-493B-8C44-8BF443AEAACD}" type="presOf" srcId="{F1EECF39-8CE2-4866-8CFD-1FA614DAEAD2}" destId="{FDED1688-1122-48D0-875C-437766E25488}" srcOrd="0" destOrd="0" presId="urn:microsoft.com/office/officeart/2018/2/layout/IconVerticalSolidList"/>
    <dgm:cxn modelId="{1F9FE76B-9FAA-4A5D-AA02-13612F1DEEFC}" type="presOf" srcId="{B22E3473-4D96-451C-AF54-BA61D76CD303}" destId="{2E2F2736-B1C2-42C5-B4A5-14C000E7253C}" srcOrd="0" destOrd="0" presId="urn:microsoft.com/office/officeart/2018/2/layout/IconVerticalSolidList"/>
    <dgm:cxn modelId="{C2452F52-83E5-4648-951A-C01716362676}" srcId="{7E93FB77-98C7-4972-A162-56ACA9500559}" destId="{B22E3473-4D96-451C-AF54-BA61D76CD303}" srcOrd="0" destOrd="0" parTransId="{E7536DC4-53BF-4161-A6C9-A3CCE012D48C}" sibTransId="{2837A264-C52F-4A9E-A3D5-3AAC589F6BBB}"/>
    <dgm:cxn modelId="{E4A8EF56-FEE6-4F23-87CE-91D709D3DF18}" type="presOf" srcId="{7E93FB77-98C7-4972-A162-56ACA9500559}" destId="{100645C3-5FE6-4F04-9AC5-1BAC168E5E0D}" srcOrd="0" destOrd="0" presId="urn:microsoft.com/office/officeart/2018/2/layout/IconVerticalSolidList"/>
    <dgm:cxn modelId="{B55ECCE8-B282-453A-9860-A3F3F80AFCB0}" type="presOf" srcId="{F3A7DA92-55CA-4A87-BEDA-48662B94FAF0}" destId="{3804BFCF-DDC8-42A1-9D85-135E30373189}" srcOrd="0" destOrd="0" presId="urn:microsoft.com/office/officeart/2018/2/layout/IconVerticalSolidList"/>
    <dgm:cxn modelId="{0DE079F4-F600-4D2B-9DFC-3589AA4C6727}" srcId="{7E93FB77-98C7-4972-A162-56ACA9500559}" destId="{F1EECF39-8CE2-4866-8CFD-1FA614DAEAD2}" srcOrd="1" destOrd="0" parTransId="{6B46B4F3-58AB-41C3-B9AA-F1F9E2B881E7}" sibTransId="{0DC51462-ECFB-4C70-9C8F-3C7463B23294}"/>
    <dgm:cxn modelId="{C7C974F7-CA41-447D-BCBA-297568BF9F2A}" srcId="{7E93FB77-98C7-4972-A162-56ACA9500559}" destId="{F3A7DA92-55CA-4A87-BEDA-48662B94FAF0}" srcOrd="2" destOrd="0" parTransId="{686F61D6-C4AD-4624-977B-9014BBA99F03}" sibTransId="{5DD9BF40-C3F6-4AA4-8D39-F72CD7CDC2BD}"/>
    <dgm:cxn modelId="{DF3C656F-866A-4AD3-8060-C177A3B64457}" type="presParOf" srcId="{100645C3-5FE6-4F04-9AC5-1BAC168E5E0D}" destId="{C383DAEB-6B8C-4535-8004-6A92BBB32A67}" srcOrd="0" destOrd="0" presId="urn:microsoft.com/office/officeart/2018/2/layout/IconVerticalSolidList"/>
    <dgm:cxn modelId="{7B436FCC-B7AC-4911-BA00-F4E1B9A0A62E}" type="presParOf" srcId="{C383DAEB-6B8C-4535-8004-6A92BBB32A67}" destId="{310645EB-EE67-4564-9161-6A382A782067}" srcOrd="0" destOrd="0" presId="urn:microsoft.com/office/officeart/2018/2/layout/IconVerticalSolidList"/>
    <dgm:cxn modelId="{AD07A5AA-2197-4195-A304-72D37B8EEF9E}" type="presParOf" srcId="{C383DAEB-6B8C-4535-8004-6A92BBB32A67}" destId="{E4316B50-28C7-426D-AE35-513E190A9E47}" srcOrd="1" destOrd="0" presId="urn:microsoft.com/office/officeart/2018/2/layout/IconVerticalSolidList"/>
    <dgm:cxn modelId="{0E186D44-155E-4F21-9153-0513638ADC0C}" type="presParOf" srcId="{C383DAEB-6B8C-4535-8004-6A92BBB32A67}" destId="{32516D69-1702-40E8-B8D5-2A3E6E8A28C3}" srcOrd="2" destOrd="0" presId="urn:microsoft.com/office/officeart/2018/2/layout/IconVerticalSolidList"/>
    <dgm:cxn modelId="{474C2E35-2C65-4C11-87C2-349C0E7245B5}" type="presParOf" srcId="{C383DAEB-6B8C-4535-8004-6A92BBB32A67}" destId="{2E2F2736-B1C2-42C5-B4A5-14C000E7253C}" srcOrd="3" destOrd="0" presId="urn:microsoft.com/office/officeart/2018/2/layout/IconVerticalSolidList"/>
    <dgm:cxn modelId="{FE4B75AB-41C6-4B9C-B033-7413501985A1}" type="presParOf" srcId="{100645C3-5FE6-4F04-9AC5-1BAC168E5E0D}" destId="{7E8FB2E2-1D2C-45A8-BB20-2B0DBB7EFEBD}" srcOrd="1" destOrd="0" presId="urn:microsoft.com/office/officeart/2018/2/layout/IconVerticalSolidList"/>
    <dgm:cxn modelId="{6618E7EC-17BB-4E2D-A3C3-98FCC5D6D283}" type="presParOf" srcId="{100645C3-5FE6-4F04-9AC5-1BAC168E5E0D}" destId="{822130EF-BD13-4ACB-8AA2-13B6CE0E09F2}" srcOrd="2" destOrd="0" presId="urn:microsoft.com/office/officeart/2018/2/layout/IconVerticalSolidList"/>
    <dgm:cxn modelId="{741053F1-0E7E-42DE-97B5-953A2ED12C5F}" type="presParOf" srcId="{822130EF-BD13-4ACB-8AA2-13B6CE0E09F2}" destId="{B75F6CE5-F6BE-4015-BBEB-AAFFF84F8439}" srcOrd="0" destOrd="0" presId="urn:microsoft.com/office/officeart/2018/2/layout/IconVerticalSolidList"/>
    <dgm:cxn modelId="{04D49E7E-FBC2-42E2-89CA-C8D44A904C41}" type="presParOf" srcId="{822130EF-BD13-4ACB-8AA2-13B6CE0E09F2}" destId="{4787BAEB-E90D-42B2-B7C7-30B1D9514519}" srcOrd="1" destOrd="0" presId="urn:microsoft.com/office/officeart/2018/2/layout/IconVerticalSolidList"/>
    <dgm:cxn modelId="{DA757E88-06D6-4300-AE90-BCB332E240F1}" type="presParOf" srcId="{822130EF-BD13-4ACB-8AA2-13B6CE0E09F2}" destId="{EAAEBA8E-D53B-486D-80F0-C0376B5EAD9B}" srcOrd="2" destOrd="0" presId="urn:microsoft.com/office/officeart/2018/2/layout/IconVerticalSolidList"/>
    <dgm:cxn modelId="{DFE2FB36-4C3C-4A62-8C5D-EC1669975BC0}" type="presParOf" srcId="{822130EF-BD13-4ACB-8AA2-13B6CE0E09F2}" destId="{FDED1688-1122-48D0-875C-437766E25488}" srcOrd="3" destOrd="0" presId="urn:microsoft.com/office/officeart/2018/2/layout/IconVerticalSolidList"/>
    <dgm:cxn modelId="{41B79F04-0EDA-40AF-8CFD-29BC6DB01F2E}" type="presParOf" srcId="{100645C3-5FE6-4F04-9AC5-1BAC168E5E0D}" destId="{FA0B63CC-2798-4C9F-85F4-A08669635F91}" srcOrd="3" destOrd="0" presId="urn:microsoft.com/office/officeart/2018/2/layout/IconVerticalSolidList"/>
    <dgm:cxn modelId="{D0AF8548-E473-49DA-9C4B-90F2208E172F}" type="presParOf" srcId="{100645C3-5FE6-4F04-9AC5-1BAC168E5E0D}" destId="{38E389DF-0F78-4662-98D7-7B5CF3D8F867}" srcOrd="4" destOrd="0" presId="urn:microsoft.com/office/officeart/2018/2/layout/IconVerticalSolidList"/>
    <dgm:cxn modelId="{0E2AA1B3-91BF-4D14-A3EF-ED61C9208E93}" type="presParOf" srcId="{38E389DF-0F78-4662-98D7-7B5CF3D8F867}" destId="{973CD5C4-5C57-4465-82ED-2F8D1A8D4B5D}" srcOrd="0" destOrd="0" presId="urn:microsoft.com/office/officeart/2018/2/layout/IconVerticalSolidList"/>
    <dgm:cxn modelId="{06A108DF-CE65-4A53-959A-8B353F6C050C}" type="presParOf" srcId="{38E389DF-0F78-4662-98D7-7B5CF3D8F867}" destId="{842E66AE-BAD9-4614-8FB6-0E4B7A237539}" srcOrd="1" destOrd="0" presId="urn:microsoft.com/office/officeart/2018/2/layout/IconVerticalSolidList"/>
    <dgm:cxn modelId="{825FECB3-7032-4DAB-BDC2-E050E0C15EE2}" type="presParOf" srcId="{38E389DF-0F78-4662-98D7-7B5CF3D8F867}" destId="{3851701D-2810-4FC6-933B-01AADAAE49A7}" srcOrd="2" destOrd="0" presId="urn:microsoft.com/office/officeart/2018/2/layout/IconVerticalSolidList"/>
    <dgm:cxn modelId="{BDA2B4BD-1A4F-4062-9FB7-FA19551FD6B5}" type="presParOf" srcId="{38E389DF-0F78-4662-98D7-7B5CF3D8F867}" destId="{3804BFCF-DDC8-42A1-9D85-135E30373189}" srcOrd="3" destOrd="0" presId="urn:microsoft.com/office/officeart/2018/2/layout/IconVerticalSolidList"/>
  </dgm:cxnLst>
  <dgm:bg/>
  <dgm:whole/>
  <dgm:extLst>
    <a:ext uri="http://schemas.microsoft.com/office/drawing/2008/diagram">
      <dsp:dataModelExt xmlns:dsp="http://schemas.microsoft.com/office/drawing/2008/diagram" relId="rId9"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0645EB-EE67-4564-9161-6A382A782067}">
      <dsp:nvSpPr>
        <dsp:cNvPr id="0" name=""/>
        <dsp:cNvSpPr/>
      </dsp:nvSpPr>
      <dsp:spPr>
        <a:xfrm>
          <a:off x="-143699" y="0"/>
          <a:ext cx="8610600" cy="1709561"/>
        </a:xfrm>
        <a:prstGeom prst="roundRect">
          <a:avLst>
            <a:gd name="adj" fmla="val 10000"/>
          </a:avLst>
        </a:prstGeom>
        <a:solidFill>
          <a:srgbClr val="FFE9AB"/>
        </a:solidFill>
        <a:ln>
          <a:solidFill>
            <a:srgbClr val="FFE9AB"/>
          </a:solidFill>
        </a:ln>
        <a:effectLst/>
      </dsp:spPr>
      <dsp:style>
        <a:lnRef idx="0">
          <a:scrgbClr r="0" g="0" b="0"/>
        </a:lnRef>
        <a:fillRef idx="1">
          <a:scrgbClr r="0" g="0" b="0"/>
        </a:fillRef>
        <a:effectRef idx="0">
          <a:scrgbClr r="0" g="0" b="0"/>
        </a:effectRef>
        <a:fontRef idx="minor"/>
      </dsp:style>
    </dsp:sp>
    <dsp:sp modelId="{E4316B50-28C7-426D-AE35-513E190A9E47}">
      <dsp:nvSpPr>
        <dsp:cNvPr id="0" name=""/>
        <dsp:cNvSpPr/>
      </dsp:nvSpPr>
      <dsp:spPr>
        <a:xfrm>
          <a:off x="145201" y="398529"/>
          <a:ext cx="942098" cy="9402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E2F2736-B1C2-42C5-B4A5-14C000E7253C}">
      <dsp:nvSpPr>
        <dsp:cNvPr id="0" name=""/>
        <dsp:cNvSpPr/>
      </dsp:nvSpPr>
      <dsp:spPr>
        <a:xfrm>
          <a:off x="1104876" y="16569"/>
          <a:ext cx="7393899" cy="1711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105" tIns="181105" rIns="181105" bIns="181105"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DM Sans" pitchFamily="2" charset="0"/>
            </a:rPr>
            <a:t>Walmart, operating across multiple cities and product categories, faces challenges in understanding sales trends, customer preferences, and operational efficiency. This project analyzes the Walmart Sales Dataset (~1,000 transactions, 18 attributes) to address these challenges by uncovering key patterns in revenue, customer behavior, and product performance.</a:t>
          </a:r>
        </a:p>
      </dsp:txBody>
      <dsp:txXfrm>
        <a:off x="1104876" y="16569"/>
        <a:ext cx="7393899" cy="1711233"/>
      </dsp:txXfrm>
    </dsp:sp>
    <dsp:sp modelId="{B75F6CE5-F6BE-4015-BBEB-AAFFF84F8439}">
      <dsp:nvSpPr>
        <dsp:cNvPr id="0" name=""/>
        <dsp:cNvSpPr/>
      </dsp:nvSpPr>
      <dsp:spPr>
        <a:xfrm>
          <a:off x="-143699" y="2090029"/>
          <a:ext cx="8610600" cy="1709561"/>
        </a:xfrm>
        <a:prstGeom prst="roundRect">
          <a:avLst>
            <a:gd name="adj" fmla="val 10000"/>
          </a:avLst>
        </a:prstGeom>
        <a:solidFill>
          <a:srgbClr val="FFE9AB"/>
        </a:solidFill>
        <a:ln>
          <a:noFill/>
        </a:ln>
        <a:effectLst/>
      </dsp:spPr>
      <dsp:style>
        <a:lnRef idx="0">
          <a:scrgbClr r="0" g="0" b="0"/>
        </a:lnRef>
        <a:fillRef idx="1">
          <a:scrgbClr r="0" g="0" b="0"/>
        </a:fillRef>
        <a:effectRef idx="0">
          <a:scrgbClr r="0" g="0" b="0"/>
        </a:effectRef>
        <a:fontRef idx="minor"/>
      </dsp:style>
    </dsp:sp>
    <dsp:sp modelId="{4787BAEB-E90D-42B2-B7C7-30B1D9514519}">
      <dsp:nvSpPr>
        <dsp:cNvPr id="0" name=""/>
        <dsp:cNvSpPr/>
      </dsp:nvSpPr>
      <dsp:spPr>
        <a:xfrm>
          <a:off x="145201" y="2412267"/>
          <a:ext cx="942098" cy="9402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DED1688-1122-48D0-875C-437766E25488}">
      <dsp:nvSpPr>
        <dsp:cNvPr id="0" name=""/>
        <dsp:cNvSpPr/>
      </dsp:nvSpPr>
      <dsp:spPr>
        <a:xfrm>
          <a:off x="1333505" y="2090029"/>
          <a:ext cx="6449330" cy="1711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105" tIns="181105" rIns="181105" bIns="181105"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DM Sans" pitchFamily="2" charset="0"/>
            </a:rPr>
            <a:t>Using </a:t>
          </a:r>
          <a:r>
            <a:rPr lang="en-US" sz="1600" b="1" kern="1200" dirty="0">
              <a:latin typeface="DM Sans" pitchFamily="2" charset="0"/>
            </a:rPr>
            <a:t>MySQL Workbench</a:t>
          </a:r>
          <a:r>
            <a:rPr lang="en-US" sz="1600" kern="1200" dirty="0">
              <a:latin typeface="DM Sans" pitchFamily="2" charset="0"/>
            </a:rPr>
            <a:t>, I applied aggregation, window functions, ranking, segmentation, and time-series analysis to deliver actionable insights aimed at boosting sales growth, improving customer retention, and optimizing inventory.</a:t>
          </a:r>
        </a:p>
      </dsp:txBody>
      <dsp:txXfrm>
        <a:off x="1333505" y="2090029"/>
        <a:ext cx="6449330" cy="1711233"/>
      </dsp:txXfrm>
    </dsp:sp>
    <dsp:sp modelId="{973CD5C4-5C57-4465-82ED-2F8D1A8D4B5D}">
      <dsp:nvSpPr>
        <dsp:cNvPr id="0" name=""/>
        <dsp:cNvSpPr/>
      </dsp:nvSpPr>
      <dsp:spPr>
        <a:xfrm>
          <a:off x="-143699" y="4171259"/>
          <a:ext cx="8610600" cy="1709561"/>
        </a:xfrm>
        <a:prstGeom prst="roundRect">
          <a:avLst>
            <a:gd name="adj" fmla="val 10000"/>
          </a:avLst>
        </a:prstGeom>
        <a:solidFill>
          <a:srgbClr val="FFE9AB"/>
        </a:solidFill>
        <a:ln>
          <a:noFill/>
        </a:ln>
        <a:effectLst/>
      </dsp:spPr>
      <dsp:style>
        <a:lnRef idx="0">
          <a:scrgbClr r="0" g="0" b="0"/>
        </a:lnRef>
        <a:fillRef idx="1">
          <a:scrgbClr r="0" g="0" b="0"/>
        </a:fillRef>
        <a:effectRef idx="0">
          <a:scrgbClr r="0" g="0" b="0"/>
        </a:effectRef>
        <a:fontRef idx="minor"/>
      </dsp:style>
    </dsp:sp>
    <dsp:sp modelId="{842E66AE-BAD9-4614-8FB6-0E4B7A237539}">
      <dsp:nvSpPr>
        <dsp:cNvPr id="0" name=""/>
        <dsp:cNvSpPr/>
      </dsp:nvSpPr>
      <dsp:spPr>
        <a:xfrm>
          <a:off x="145201" y="4503622"/>
          <a:ext cx="942098" cy="9402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804BFCF-DDC8-42A1-9D85-135E30373189}">
      <dsp:nvSpPr>
        <dsp:cNvPr id="0" name=""/>
        <dsp:cNvSpPr/>
      </dsp:nvSpPr>
      <dsp:spPr>
        <a:xfrm>
          <a:off x="1485903" y="4131370"/>
          <a:ext cx="6449330" cy="1711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81105" tIns="181105" rIns="181105" bIns="181105" numCol="1" spcCol="1270" anchor="ctr" anchorCtr="0">
          <a:noAutofit/>
        </a:bodyPr>
        <a:lstStyle/>
        <a:p>
          <a:pPr marL="0" lvl="0" indent="0" algn="l" defTabSz="711200">
            <a:lnSpc>
              <a:spcPct val="100000"/>
            </a:lnSpc>
            <a:spcBef>
              <a:spcPct val="0"/>
            </a:spcBef>
            <a:spcAft>
              <a:spcPct val="35000"/>
            </a:spcAft>
            <a:buNone/>
          </a:pPr>
          <a:r>
            <a:rPr lang="en-US" sz="1600" b="1" kern="1200" dirty="0">
              <a:latin typeface="DM Sans" pitchFamily="2" charset="0"/>
            </a:rPr>
            <a:t>Tools:</a:t>
          </a:r>
          <a:r>
            <a:rPr lang="en-US" sz="1600" kern="1200" dirty="0">
              <a:latin typeface="DM Sans" pitchFamily="2" charset="0"/>
            </a:rPr>
            <a:t> MySQL Workbench, Excel, power BI PowerPoint</a:t>
          </a:r>
        </a:p>
      </dsp:txBody>
      <dsp:txXfrm>
        <a:off x="1485903" y="4131370"/>
        <a:ext cx="6449330" cy="171123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79C666-4C58-423D-8ABF-7103EDB4CD5E}" type="datetimeFigureOut">
              <a:rPr lang="en-IN" smtClean="0"/>
              <a:t>12-09-2025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D98F1C-B3E5-4830-A760-F73FCB69BDE9}" type="slidenum">
              <a:rPr lang="en-IN" smtClean="0"/>
              <a:t>‹#›</a:t>
            </a:fld>
            <a:endParaRPr lang="en-IN"/>
          </a:p>
        </p:txBody>
      </p:sp>
    </p:spTree>
    <p:extLst>
      <p:ext uri="{BB962C8B-B14F-4D97-AF65-F5344CB8AC3E}">
        <p14:creationId xmlns:p14="http://schemas.microsoft.com/office/powerpoint/2010/main" val="36875069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D98F1C-B3E5-4830-A760-F73FCB69BDE9}" type="slidenum">
              <a:rPr lang="en-IN" smtClean="0"/>
              <a:t>3</a:t>
            </a:fld>
            <a:endParaRPr lang="en-IN"/>
          </a:p>
        </p:txBody>
      </p:sp>
    </p:spTree>
    <p:extLst>
      <p:ext uri="{BB962C8B-B14F-4D97-AF65-F5344CB8AC3E}">
        <p14:creationId xmlns:p14="http://schemas.microsoft.com/office/powerpoint/2010/main" val="100640137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ED98F1C-B3E5-4830-A760-F73FCB69BDE9}" type="slidenum">
              <a:rPr lang="en-IN" smtClean="0"/>
              <a:t>13</a:t>
            </a:fld>
            <a:endParaRPr lang="en-IN"/>
          </a:p>
        </p:txBody>
      </p:sp>
    </p:spTree>
    <p:extLst>
      <p:ext uri="{BB962C8B-B14F-4D97-AF65-F5344CB8AC3E}">
        <p14:creationId xmlns:p14="http://schemas.microsoft.com/office/powerpoint/2010/main" val="34048408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FC713-9C55-EC16-AA61-886BBBDD01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3340B-9EA4-905B-E55E-FE69A24A67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4329F3-5ACB-7446-F934-67C321F238D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A150013-E7CF-698B-29C5-63295E0CD333}"/>
              </a:ext>
            </a:extLst>
          </p:cNvPr>
          <p:cNvSpPr>
            <a:spLocks noGrp="1"/>
          </p:cNvSpPr>
          <p:nvPr>
            <p:ph type="sldNum" sz="quarter" idx="5"/>
          </p:nvPr>
        </p:nvSpPr>
        <p:spPr/>
        <p:txBody>
          <a:bodyPr/>
          <a:lstStyle/>
          <a:p>
            <a:fld id="{5ED98F1C-B3E5-4830-A760-F73FCB69BDE9}" type="slidenum">
              <a:rPr lang="en-IN" smtClean="0"/>
              <a:t>14</a:t>
            </a:fld>
            <a:endParaRPr lang="en-IN" dirty="0"/>
          </a:p>
        </p:txBody>
      </p:sp>
    </p:spTree>
    <p:extLst>
      <p:ext uri="{BB962C8B-B14F-4D97-AF65-F5344CB8AC3E}">
        <p14:creationId xmlns:p14="http://schemas.microsoft.com/office/powerpoint/2010/main" val="3929923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3.svg"/><Relationship Id="rId7" Type="http://schemas.openxmlformats.org/officeDocument/2006/relationships/diagramQuickStyle" Target="../diagrams/quickStyle1.xml"/><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4.png"/><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chart" Target="../charts/chart1.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chart" Target="../charts/chart2.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hart" Target="../charts/chart3.xml"/><Relationship Id="rId5" Type="http://schemas.openxmlformats.org/officeDocument/2006/relationships/image" Target="../media/image13.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chart" Target="../charts/chart4.xm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hart" Target="../charts/chart5.xml"/><Relationship Id="rId5" Type="http://schemas.openxmlformats.org/officeDocument/2006/relationships/image" Target="../media/image17.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20.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9.jpeg"/><Relationship Id="rId5" Type="http://schemas.openxmlformats.org/officeDocument/2006/relationships/image" Target="../media/image18.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chart" Target="../charts/chart6.xml"/></Relationships>
</file>

<file path=ppt/slides/_rels/slide1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chart" Target="../charts/chart7.xml"/><Relationship Id="rId5" Type="http://schemas.openxmlformats.org/officeDocument/2006/relationships/image" Target="../media/image21.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chart" Target="../charts/chart8.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chart" Target="../charts/chart9.xml"/><Relationship Id="rId5" Type="http://schemas.openxmlformats.org/officeDocument/2006/relationships/image" Target="../media/image4.png"/><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chart" Target="../charts/chart10.xml"/><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4.png"/><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11C82CC-20D4-AC8F-C25B-AE77809B7340}"/>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7DA3C418-758E-4180-A5D0-8655D68045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00" cy="10287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8C8EF06-5EC3-4883-AFAF-D74FF46550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 y="0"/>
            <a:ext cx="7703956" cy="10307472"/>
          </a:xfrm>
          <a:prstGeom prst="rect">
            <a:avLst/>
          </a:pr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19F212C-0093-4CA4-1206-AACE90D83C03}"/>
              </a:ext>
            </a:extLst>
          </p:cNvPr>
          <p:cNvSpPr/>
          <p:nvPr/>
        </p:nvSpPr>
        <p:spPr>
          <a:xfrm>
            <a:off x="-239900" y="-30714"/>
            <a:ext cx="7239004" cy="10368897"/>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Picture 2" descr="Wal-Mart Supercenter in Citrus Heights">
            <a:extLst>
              <a:ext uri="{FF2B5EF4-FFF2-40B4-BE49-F238E27FC236}">
                <a16:creationId xmlns:a16="http://schemas.microsoft.com/office/drawing/2014/main" id="{D1BB2F7B-1A20-011F-6093-DDE85DF322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0048"/>
          <a:stretch>
            <a:fillRect/>
          </a:stretch>
        </p:blipFill>
        <p:spPr bwMode="auto">
          <a:xfrm>
            <a:off x="4409277" y="-61426"/>
            <a:ext cx="13914818" cy="10368898"/>
          </a:xfrm>
          <a:custGeom>
            <a:avLst/>
            <a:gdLst/>
            <a:ahLst/>
            <a:cxnLst/>
            <a:rect l="l" t="t" r="r" b="b"/>
            <a:pathLst>
              <a:path w="9276545" h="6871647">
                <a:moveTo>
                  <a:pt x="9276545" y="0"/>
                </a:moveTo>
                <a:lnTo>
                  <a:pt x="9276545" y="6858000"/>
                </a:lnTo>
                <a:lnTo>
                  <a:pt x="1546051" y="6871647"/>
                </a:lnTo>
                <a:lnTo>
                  <a:pt x="1535751" y="6828910"/>
                </a:lnTo>
                <a:cubicBezTo>
                  <a:pt x="1530460" y="6775140"/>
                  <a:pt x="1515370" y="6618042"/>
                  <a:pt x="1514301" y="6549029"/>
                </a:cubicBezTo>
                <a:cubicBezTo>
                  <a:pt x="1518045" y="6491396"/>
                  <a:pt x="1528503" y="6450608"/>
                  <a:pt x="1529339" y="6414828"/>
                </a:cubicBezTo>
                <a:cubicBezTo>
                  <a:pt x="1525062" y="6359280"/>
                  <a:pt x="1502062" y="6307149"/>
                  <a:pt x="1493941" y="6268848"/>
                </a:cubicBezTo>
                <a:cubicBezTo>
                  <a:pt x="1502669" y="6254191"/>
                  <a:pt x="1469920" y="6200171"/>
                  <a:pt x="1480613" y="6185025"/>
                </a:cubicBezTo>
                <a:cubicBezTo>
                  <a:pt x="1481020" y="6164522"/>
                  <a:pt x="1458164" y="6060790"/>
                  <a:pt x="1443364" y="6018360"/>
                </a:cubicBezTo>
                <a:cubicBezTo>
                  <a:pt x="1426694" y="5970758"/>
                  <a:pt x="1390307" y="5920074"/>
                  <a:pt x="1380584" y="5899407"/>
                </a:cubicBezTo>
                <a:cubicBezTo>
                  <a:pt x="1370860" y="5878740"/>
                  <a:pt x="1392244" y="5920877"/>
                  <a:pt x="1385023" y="5894356"/>
                </a:cubicBezTo>
                <a:cubicBezTo>
                  <a:pt x="1377800" y="5867835"/>
                  <a:pt x="1345702" y="5770498"/>
                  <a:pt x="1337254" y="5740279"/>
                </a:cubicBezTo>
                <a:cubicBezTo>
                  <a:pt x="1353956" y="5738860"/>
                  <a:pt x="1323673" y="5722040"/>
                  <a:pt x="1334321" y="5713042"/>
                </a:cubicBezTo>
                <a:cubicBezTo>
                  <a:pt x="1343675" y="5706701"/>
                  <a:pt x="1336672" y="5700118"/>
                  <a:pt x="1335877" y="5692870"/>
                </a:cubicBezTo>
                <a:cubicBezTo>
                  <a:pt x="1343201" y="5683812"/>
                  <a:pt x="1329617" y="5652064"/>
                  <a:pt x="1319978" y="5643427"/>
                </a:cubicBezTo>
                <a:cubicBezTo>
                  <a:pt x="1286551" y="5622177"/>
                  <a:pt x="1310947" y="5579803"/>
                  <a:pt x="1285321" y="5562271"/>
                </a:cubicBezTo>
                <a:cubicBezTo>
                  <a:pt x="1281540" y="5556238"/>
                  <a:pt x="1279983" y="5550455"/>
                  <a:pt x="1279815" y="5544867"/>
                </a:cubicBezTo>
                <a:lnTo>
                  <a:pt x="1282507" y="5529404"/>
                </a:lnTo>
                <a:lnTo>
                  <a:pt x="1289604" y="5525378"/>
                </a:lnTo>
                <a:lnTo>
                  <a:pt x="1287766" y="5515726"/>
                </a:lnTo>
                <a:lnTo>
                  <a:pt x="1288829" y="5513051"/>
                </a:lnTo>
                <a:cubicBezTo>
                  <a:pt x="1290896" y="5507946"/>
                  <a:pt x="1292688" y="5502897"/>
                  <a:pt x="1293373" y="5497833"/>
                </a:cubicBezTo>
                <a:cubicBezTo>
                  <a:pt x="1288690" y="5483829"/>
                  <a:pt x="1272696" y="5459278"/>
                  <a:pt x="1260736" y="5429027"/>
                </a:cubicBezTo>
                <a:cubicBezTo>
                  <a:pt x="1238579" y="5396416"/>
                  <a:pt x="1238884" y="5351600"/>
                  <a:pt x="1221610" y="5316328"/>
                </a:cubicBezTo>
                <a:lnTo>
                  <a:pt x="1216099" y="5309330"/>
                </a:lnTo>
                <a:lnTo>
                  <a:pt x="1217278" y="5279477"/>
                </a:lnTo>
                <a:cubicBezTo>
                  <a:pt x="1221588" y="5274318"/>
                  <a:pt x="1222716" y="5266940"/>
                  <a:pt x="1218469" y="5260597"/>
                </a:cubicBezTo>
                <a:lnTo>
                  <a:pt x="1206220" y="5152555"/>
                </a:lnTo>
                <a:cubicBezTo>
                  <a:pt x="1205294" y="5116878"/>
                  <a:pt x="1196908" y="5101727"/>
                  <a:pt x="1212921" y="5046536"/>
                </a:cubicBezTo>
                <a:cubicBezTo>
                  <a:pt x="1234138" y="4987918"/>
                  <a:pt x="1204801" y="4903116"/>
                  <a:pt x="1212183" y="4837345"/>
                </a:cubicBezTo>
                <a:cubicBezTo>
                  <a:pt x="1183151" y="4802424"/>
                  <a:pt x="1209228" y="4821062"/>
                  <a:pt x="1202048" y="4784195"/>
                </a:cubicBezTo>
                <a:cubicBezTo>
                  <a:pt x="1202483" y="4760878"/>
                  <a:pt x="1202919" y="4737561"/>
                  <a:pt x="1203354" y="4714245"/>
                </a:cubicBezTo>
                <a:lnTo>
                  <a:pt x="1201502" y="4700836"/>
                </a:lnTo>
                <a:lnTo>
                  <a:pt x="1194919" y="4697224"/>
                </a:lnTo>
                <a:lnTo>
                  <a:pt x="1187792" y="4677162"/>
                </a:lnTo>
                <a:cubicBezTo>
                  <a:pt x="1186060" y="4669625"/>
                  <a:pt x="1185291" y="4661478"/>
                  <a:pt x="1186080" y="4652429"/>
                </a:cubicBezTo>
                <a:cubicBezTo>
                  <a:pt x="1199189" y="4622456"/>
                  <a:pt x="1167081" y="4571771"/>
                  <a:pt x="1184722" y="4534840"/>
                </a:cubicBezTo>
                <a:cubicBezTo>
                  <a:pt x="1182407" y="4499077"/>
                  <a:pt x="1175424" y="4460227"/>
                  <a:pt x="1172188" y="4437851"/>
                </a:cubicBezTo>
                <a:cubicBezTo>
                  <a:pt x="1161331" y="4428466"/>
                  <a:pt x="1178123" y="4398274"/>
                  <a:pt x="1165306" y="4400581"/>
                </a:cubicBezTo>
                <a:cubicBezTo>
                  <a:pt x="1171061" y="4389819"/>
                  <a:pt x="1173552" y="4346771"/>
                  <a:pt x="1168602" y="4335651"/>
                </a:cubicBezTo>
                <a:lnTo>
                  <a:pt x="1178384" y="4280215"/>
                </a:lnTo>
                <a:lnTo>
                  <a:pt x="1177294" y="4274660"/>
                </a:lnTo>
                <a:cubicBezTo>
                  <a:pt x="1177138" y="4268882"/>
                  <a:pt x="1177520" y="4251103"/>
                  <a:pt x="1177448" y="4245552"/>
                </a:cubicBezTo>
                <a:cubicBezTo>
                  <a:pt x="1177252" y="4244155"/>
                  <a:pt x="1177058" y="4242757"/>
                  <a:pt x="1176863" y="4241361"/>
                </a:cubicBezTo>
                <a:lnTo>
                  <a:pt x="1162386" y="4207167"/>
                </a:lnTo>
                <a:cubicBezTo>
                  <a:pt x="1162950" y="4202536"/>
                  <a:pt x="1174655" y="4199565"/>
                  <a:pt x="1174343" y="4192380"/>
                </a:cubicBezTo>
                <a:lnTo>
                  <a:pt x="1160516" y="4164062"/>
                </a:lnTo>
                <a:lnTo>
                  <a:pt x="1161365" y="4158623"/>
                </a:lnTo>
                <a:lnTo>
                  <a:pt x="1144878" y="4076261"/>
                </a:lnTo>
                <a:lnTo>
                  <a:pt x="1123687" y="4005692"/>
                </a:lnTo>
                <a:lnTo>
                  <a:pt x="1096720" y="3754257"/>
                </a:lnTo>
                <a:cubicBezTo>
                  <a:pt x="1083618" y="3639924"/>
                  <a:pt x="1064313" y="3636659"/>
                  <a:pt x="1047682" y="3517638"/>
                </a:cubicBezTo>
                <a:cubicBezTo>
                  <a:pt x="1048550" y="3477187"/>
                  <a:pt x="1049418" y="3436735"/>
                  <a:pt x="1050285" y="3396284"/>
                </a:cubicBezTo>
                <a:lnTo>
                  <a:pt x="1030166" y="3320814"/>
                </a:lnTo>
                <a:lnTo>
                  <a:pt x="1034128" y="3260443"/>
                </a:lnTo>
                <a:lnTo>
                  <a:pt x="1007751" y="3198916"/>
                </a:lnTo>
                <a:cubicBezTo>
                  <a:pt x="1003323" y="3193074"/>
                  <a:pt x="1001150" y="3187393"/>
                  <a:pt x="1000384" y="3181839"/>
                </a:cubicBezTo>
                <a:cubicBezTo>
                  <a:pt x="1000734" y="3176675"/>
                  <a:pt x="1001085" y="3171511"/>
                  <a:pt x="1001435" y="3166346"/>
                </a:cubicBezTo>
                <a:lnTo>
                  <a:pt x="968918" y="3112638"/>
                </a:lnTo>
                <a:cubicBezTo>
                  <a:pt x="957125" y="3092489"/>
                  <a:pt x="955617" y="3065232"/>
                  <a:pt x="934483" y="3031628"/>
                </a:cubicBezTo>
                <a:cubicBezTo>
                  <a:pt x="914631" y="2997037"/>
                  <a:pt x="908933" y="3005661"/>
                  <a:pt x="879229" y="2948196"/>
                </a:cubicBezTo>
                <a:cubicBezTo>
                  <a:pt x="850845" y="2897154"/>
                  <a:pt x="820829" y="2806798"/>
                  <a:pt x="798666" y="2761198"/>
                </a:cubicBezTo>
                <a:cubicBezTo>
                  <a:pt x="773970" y="2714562"/>
                  <a:pt x="758278" y="2715446"/>
                  <a:pt x="746962" y="2694939"/>
                </a:cubicBezTo>
                <a:lnTo>
                  <a:pt x="712796" y="2614779"/>
                </a:lnTo>
                <a:lnTo>
                  <a:pt x="697701" y="2600020"/>
                </a:lnTo>
                <a:cubicBezTo>
                  <a:pt x="697743" y="2598787"/>
                  <a:pt x="697784" y="2597555"/>
                  <a:pt x="697823" y="2596321"/>
                </a:cubicBezTo>
                <a:lnTo>
                  <a:pt x="679645" y="2572602"/>
                </a:lnTo>
                <a:lnTo>
                  <a:pt x="680789" y="2571831"/>
                </a:lnTo>
                <a:cubicBezTo>
                  <a:pt x="682946" y="2569560"/>
                  <a:pt x="683757" y="2566863"/>
                  <a:pt x="681771" y="2563200"/>
                </a:cubicBezTo>
                <a:cubicBezTo>
                  <a:pt x="705290" y="2562299"/>
                  <a:pt x="688388" y="2558438"/>
                  <a:pt x="680456" y="2547723"/>
                </a:cubicBezTo>
                <a:cubicBezTo>
                  <a:pt x="679482" y="2534148"/>
                  <a:pt x="677183" y="2493617"/>
                  <a:pt x="675922" y="2481749"/>
                </a:cubicBezTo>
                <a:lnTo>
                  <a:pt x="672894" y="2476509"/>
                </a:lnTo>
                <a:lnTo>
                  <a:pt x="673143" y="2476297"/>
                </a:lnTo>
                <a:cubicBezTo>
                  <a:pt x="673152" y="2474932"/>
                  <a:pt x="672405" y="2473126"/>
                  <a:pt x="670567" y="2470561"/>
                </a:cubicBezTo>
                <a:lnTo>
                  <a:pt x="667369" y="2466951"/>
                </a:lnTo>
                <a:lnTo>
                  <a:pt x="661495" y="2456785"/>
                </a:lnTo>
                <a:cubicBezTo>
                  <a:pt x="661510" y="2455387"/>
                  <a:pt x="661525" y="2453987"/>
                  <a:pt x="661540" y="2452588"/>
                </a:cubicBezTo>
                <a:lnTo>
                  <a:pt x="664540" y="2449913"/>
                </a:lnTo>
                <a:lnTo>
                  <a:pt x="663581" y="2449129"/>
                </a:lnTo>
                <a:cubicBezTo>
                  <a:pt x="653014" y="2444453"/>
                  <a:pt x="642406" y="2445872"/>
                  <a:pt x="663129" y="2426579"/>
                </a:cubicBezTo>
                <a:cubicBezTo>
                  <a:pt x="643271" y="2414167"/>
                  <a:pt x="657229" y="2404769"/>
                  <a:pt x="650205" y="2379928"/>
                </a:cubicBezTo>
                <a:cubicBezTo>
                  <a:pt x="634911" y="2374359"/>
                  <a:pt x="634260" y="2365346"/>
                  <a:pt x="638008" y="2354824"/>
                </a:cubicBezTo>
                <a:cubicBezTo>
                  <a:pt x="621083" y="2334576"/>
                  <a:pt x="620949" y="2310146"/>
                  <a:pt x="609851" y="2284299"/>
                </a:cubicBezTo>
                <a:lnTo>
                  <a:pt x="585585" y="2155739"/>
                </a:lnTo>
                <a:lnTo>
                  <a:pt x="581391" y="2152892"/>
                </a:lnTo>
                <a:cubicBezTo>
                  <a:pt x="578821" y="2150768"/>
                  <a:pt x="577525" y="2149149"/>
                  <a:pt x="577083" y="2147807"/>
                </a:cubicBezTo>
                <a:lnTo>
                  <a:pt x="577251" y="2147544"/>
                </a:lnTo>
                <a:lnTo>
                  <a:pt x="546845" y="2085601"/>
                </a:lnTo>
                <a:cubicBezTo>
                  <a:pt x="538270" y="2073917"/>
                  <a:pt x="486356" y="1955894"/>
                  <a:pt x="470837" y="1931362"/>
                </a:cubicBezTo>
                <a:lnTo>
                  <a:pt x="428154" y="1657167"/>
                </a:lnTo>
                <a:lnTo>
                  <a:pt x="392797" y="1510175"/>
                </a:lnTo>
                <a:cubicBezTo>
                  <a:pt x="380165" y="1504446"/>
                  <a:pt x="369910" y="1451095"/>
                  <a:pt x="372847" y="1440507"/>
                </a:cubicBezTo>
                <a:cubicBezTo>
                  <a:pt x="369015" y="1433783"/>
                  <a:pt x="338503" y="1376212"/>
                  <a:pt x="344479" y="1367690"/>
                </a:cubicBezTo>
                <a:cubicBezTo>
                  <a:pt x="332264" y="1342150"/>
                  <a:pt x="321736" y="1310521"/>
                  <a:pt x="299558" y="1287266"/>
                </a:cubicBezTo>
                <a:cubicBezTo>
                  <a:pt x="277380" y="1264010"/>
                  <a:pt x="259203" y="1269909"/>
                  <a:pt x="243216" y="1249403"/>
                </a:cubicBezTo>
                <a:cubicBezTo>
                  <a:pt x="227230" y="1228898"/>
                  <a:pt x="218454" y="1166841"/>
                  <a:pt x="203639" y="1164232"/>
                </a:cubicBezTo>
                <a:cubicBezTo>
                  <a:pt x="192352" y="1144923"/>
                  <a:pt x="198158" y="1133798"/>
                  <a:pt x="169195" y="1087898"/>
                </a:cubicBezTo>
                <a:cubicBezTo>
                  <a:pt x="139228" y="1002950"/>
                  <a:pt x="140891" y="969630"/>
                  <a:pt x="98775" y="910071"/>
                </a:cubicBezTo>
                <a:cubicBezTo>
                  <a:pt x="45025" y="831068"/>
                  <a:pt x="34038" y="817468"/>
                  <a:pt x="43820" y="712632"/>
                </a:cubicBezTo>
                <a:cubicBezTo>
                  <a:pt x="34816" y="659496"/>
                  <a:pt x="43273" y="613587"/>
                  <a:pt x="44748" y="591246"/>
                </a:cubicBezTo>
                <a:lnTo>
                  <a:pt x="36767" y="546725"/>
                </a:lnTo>
                <a:cubicBezTo>
                  <a:pt x="36093" y="528360"/>
                  <a:pt x="35418" y="509996"/>
                  <a:pt x="34744" y="491632"/>
                </a:cubicBezTo>
                <a:cubicBezTo>
                  <a:pt x="34670" y="458441"/>
                  <a:pt x="29296" y="473054"/>
                  <a:pt x="29222" y="439863"/>
                </a:cubicBezTo>
                <a:cubicBezTo>
                  <a:pt x="29152" y="439762"/>
                  <a:pt x="2578" y="397168"/>
                  <a:pt x="2507" y="397065"/>
                </a:cubicBezTo>
                <a:cubicBezTo>
                  <a:pt x="-7796" y="385479"/>
                  <a:pt x="17492" y="336832"/>
                  <a:pt x="9810" y="317232"/>
                </a:cubicBezTo>
                <a:lnTo>
                  <a:pt x="25323" y="268841"/>
                </a:lnTo>
                <a:cubicBezTo>
                  <a:pt x="20582" y="241406"/>
                  <a:pt x="55391" y="238509"/>
                  <a:pt x="50278" y="195107"/>
                </a:cubicBezTo>
                <a:cubicBezTo>
                  <a:pt x="49891" y="157638"/>
                  <a:pt x="41873" y="124837"/>
                  <a:pt x="47653" y="93413"/>
                </a:cubicBezTo>
                <a:cubicBezTo>
                  <a:pt x="41389" y="80245"/>
                  <a:pt x="38874" y="67990"/>
                  <a:pt x="48323" y="56668"/>
                </a:cubicBezTo>
                <a:cubicBezTo>
                  <a:pt x="46028" y="30349"/>
                  <a:pt x="37896" y="18658"/>
                  <a:pt x="38423" y="5323"/>
                </a:cubicBezTo>
                <a:lnTo>
                  <a:pt x="39875" y="1"/>
                </a:lnTo>
                <a:close/>
              </a:path>
            </a:pathLst>
          </a:custGeom>
          <a:noFill/>
          <a:extLst>
            <a:ext uri="{909E8E84-426E-40DD-AFC4-6F175D3DCCD1}">
              <a14:hiddenFill xmlns:a14="http://schemas.microsoft.com/office/drawing/2010/main">
                <a:solidFill>
                  <a:srgbClr val="FFFFFF"/>
                </a:solidFill>
              </a14:hiddenFill>
            </a:ext>
          </a:extLst>
        </p:spPr>
      </p:pic>
      <p:sp>
        <p:nvSpPr>
          <p:cNvPr id="14" name="TextBox 7">
            <a:extLst>
              <a:ext uri="{FF2B5EF4-FFF2-40B4-BE49-F238E27FC236}">
                <a16:creationId xmlns:a16="http://schemas.microsoft.com/office/drawing/2014/main" id="{2543CC5A-3305-CEB9-1A6B-BA257E379C9B}"/>
              </a:ext>
            </a:extLst>
          </p:cNvPr>
          <p:cNvSpPr txBox="1"/>
          <p:nvPr/>
        </p:nvSpPr>
        <p:spPr>
          <a:xfrm>
            <a:off x="260550" y="3204516"/>
            <a:ext cx="6246126" cy="2799921"/>
          </a:xfrm>
          <a:prstGeom prst="rect">
            <a:avLst/>
          </a:prstGeom>
        </p:spPr>
        <p:txBody>
          <a:bodyPr vert="horz" lIns="91440" tIns="45720" rIns="91440" bIns="45720" rtlCol="0" anchor="b">
            <a:noAutofit/>
          </a:bodyPr>
          <a:lstStyle/>
          <a:p>
            <a:pPr lvl="0">
              <a:lnSpc>
                <a:spcPct val="90000"/>
              </a:lnSpc>
              <a:spcBef>
                <a:spcPct val="0"/>
              </a:spcBef>
              <a:spcAft>
                <a:spcPts val="600"/>
              </a:spcAft>
            </a:pPr>
            <a:r>
              <a:rPr lang="en-US" sz="4000" dirty="0">
                <a:solidFill>
                  <a:schemeClr val="bg1"/>
                </a:solidFill>
                <a:latin typeface="Poppins" panose="00000500000000000000" pitchFamily="2" charset="0"/>
                <a:ea typeface="+mj-ea"/>
                <a:cs typeface="Poppins" panose="00000500000000000000" pitchFamily="2" charset="0"/>
              </a:rPr>
              <a:t>Sales Performance Analysis of Walmart Stores</a:t>
            </a:r>
          </a:p>
          <a:p>
            <a:pPr lvl="0">
              <a:lnSpc>
                <a:spcPct val="90000"/>
              </a:lnSpc>
              <a:spcBef>
                <a:spcPct val="0"/>
              </a:spcBef>
              <a:spcAft>
                <a:spcPts val="600"/>
              </a:spcAft>
            </a:pPr>
            <a:endParaRPr lang="en-US" sz="4000" dirty="0">
              <a:solidFill>
                <a:schemeClr val="bg1"/>
              </a:solidFill>
              <a:latin typeface="Poppins" panose="00000500000000000000" pitchFamily="2" charset="0"/>
              <a:ea typeface="+mj-ea"/>
              <a:cs typeface="Poppins" panose="00000500000000000000" pitchFamily="2" charset="0"/>
            </a:endParaRPr>
          </a:p>
        </p:txBody>
      </p:sp>
      <p:sp>
        <p:nvSpPr>
          <p:cNvPr id="8" name="AutoShape 4" descr="Walmart PNG Images - CleanPNG">
            <a:extLst>
              <a:ext uri="{FF2B5EF4-FFF2-40B4-BE49-F238E27FC236}">
                <a16:creationId xmlns:a16="http://schemas.microsoft.com/office/drawing/2014/main" id="{79840A56-D004-3659-4155-4A15A8A8FEF1}"/>
              </a:ext>
            </a:extLst>
          </p:cNvPr>
          <p:cNvSpPr>
            <a:spLocks noChangeAspect="1" noChangeArrowheads="1"/>
          </p:cNvSpPr>
          <p:nvPr/>
        </p:nvSpPr>
        <p:spPr bwMode="auto">
          <a:xfrm>
            <a:off x="8991600" y="4991100"/>
            <a:ext cx="1981200" cy="19812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
        <p:nvSpPr>
          <p:cNvPr id="24" name="TextBox 23">
            <a:extLst>
              <a:ext uri="{FF2B5EF4-FFF2-40B4-BE49-F238E27FC236}">
                <a16:creationId xmlns:a16="http://schemas.microsoft.com/office/drawing/2014/main" id="{B3302FA8-0D9E-1600-0B76-47611A7BC951}"/>
              </a:ext>
            </a:extLst>
          </p:cNvPr>
          <p:cNvSpPr txBox="1"/>
          <p:nvPr/>
        </p:nvSpPr>
        <p:spPr>
          <a:xfrm>
            <a:off x="256539" y="5753100"/>
            <a:ext cx="6246126" cy="1446550"/>
          </a:xfrm>
          <a:prstGeom prst="rect">
            <a:avLst/>
          </a:prstGeom>
          <a:noFill/>
        </p:spPr>
        <p:txBody>
          <a:bodyPr wrap="square">
            <a:spAutoFit/>
          </a:bodyPr>
          <a:lstStyle/>
          <a:p>
            <a:pPr lvl="0">
              <a:spcBef>
                <a:spcPct val="0"/>
              </a:spcBef>
            </a:pPr>
            <a:r>
              <a:rPr lang="en-US" sz="4400" dirty="0">
                <a:solidFill>
                  <a:schemeClr val="bg1"/>
                </a:solidFill>
                <a:latin typeface="Poppins Bold" panose="020B0604020202020204" charset="0"/>
                <a:cs typeface="Poppins Bold" panose="020B0604020202020204" charset="0"/>
              </a:rPr>
              <a:t>Using Advanced MySQL Techniques</a:t>
            </a:r>
            <a:endParaRPr lang="en-US" sz="4400" b="1" spc="1212" dirty="0">
              <a:solidFill>
                <a:schemeClr val="bg1"/>
              </a:solidFill>
              <a:latin typeface="Poppins Bold" panose="020B0604020202020204" charset="0"/>
              <a:ea typeface="Poppins Bold"/>
              <a:cs typeface="Poppins Bold" panose="020B0604020202020204" charset="0"/>
              <a:sym typeface="Poppins Bold"/>
            </a:endParaRPr>
          </a:p>
        </p:txBody>
      </p:sp>
      <p:sp>
        <p:nvSpPr>
          <p:cNvPr id="26" name="Rectangle 25">
            <a:extLst>
              <a:ext uri="{FF2B5EF4-FFF2-40B4-BE49-F238E27FC236}">
                <a16:creationId xmlns:a16="http://schemas.microsoft.com/office/drawing/2014/main" id="{F0FEAFFD-7D4A-65EC-0845-BC13F9C36727}"/>
              </a:ext>
            </a:extLst>
          </p:cNvPr>
          <p:cNvSpPr/>
          <p:nvPr/>
        </p:nvSpPr>
        <p:spPr>
          <a:xfrm>
            <a:off x="13258800" y="6210300"/>
            <a:ext cx="5181600" cy="1371600"/>
          </a:xfrm>
          <a:prstGeom prst="rect">
            <a:avLst/>
          </a:prstGeom>
          <a:solidFill>
            <a:srgbClr val="FFF0C5"/>
          </a:solidFill>
          <a:ln>
            <a:solidFill>
              <a:srgbClr val="FFF0C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5"/>
          <p:cNvSpPr txBox="1"/>
          <p:nvPr/>
        </p:nvSpPr>
        <p:spPr>
          <a:xfrm>
            <a:off x="13554628" y="6674844"/>
            <a:ext cx="4476833" cy="526811"/>
          </a:xfrm>
          <a:prstGeom prst="rect">
            <a:avLst/>
          </a:prstGeom>
        </p:spPr>
        <p:txBody>
          <a:bodyPr wrap="square" lIns="0" tIns="0" rIns="0" bIns="0" rtlCol="0" anchor="t">
            <a:spAutoFit/>
          </a:bodyPr>
          <a:lstStyle/>
          <a:p>
            <a:pPr marL="0" lvl="0" indent="0" algn="ctr">
              <a:lnSpc>
                <a:spcPts val="4265"/>
              </a:lnSpc>
              <a:spcBef>
                <a:spcPct val="0"/>
              </a:spcBef>
            </a:pPr>
            <a:r>
              <a:rPr lang="en-US" sz="3091" b="1" spc="435" dirty="0">
                <a:solidFill>
                  <a:srgbClr val="2B2A2A"/>
                </a:solidFill>
                <a:latin typeface="DM Sans Bold"/>
                <a:ea typeface="DM Sans Bold"/>
                <a:cs typeface="DM Sans Bold"/>
                <a:sym typeface="DM Sans Bold"/>
              </a:rPr>
              <a:t>BY- Bulbul Singh</a:t>
            </a:r>
          </a:p>
        </p:txBody>
      </p:sp>
    </p:spTree>
    <p:extLst>
      <p:ext uri="{BB962C8B-B14F-4D97-AF65-F5344CB8AC3E}">
        <p14:creationId xmlns:p14="http://schemas.microsoft.com/office/powerpoint/2010/main" val="4174162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a:extLst>
              <a:ext uri="{FF2B5EF4-FFF2-40B4-BE49-F238E27FC236}">
                <a16:creationId xmlns:a16="http://schemas.microsoft.com/office/drawing/2014/main" id="{00257F73-C00F-D260-D067-DFD25F008709}"/>
              </a:ext>
            </a:extLst>
          </p:cNvPr>
          <p:cNvSpPr/>
          <p:nvPr/>
        </p:nvSpPr>
        <p:spPr>
          <a:xfrm>
            <a:off x="-276705" y="-1143190"/>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TextBox 4">
            <a:extLst>
              <a:ext uri="{FF2B5EF4-FFF2-40B4-BE49-F238E27FC236}">
                <a16:creationId xmlns:a16="http://schemas.microsoft.com/office/drawing/2014/main" id="{8FB61333-F05C-C6FE-525E-DCCB384DDAB7}"/>
              </a:ext>
            </a:extLst>
          </p:cNvPr>
          <p:cNvSpPr txBox="1"/>
          <p:nvPr/>
        </p:nvSpPr>
        <p:spPr>
          <a:xfrm>
            <a:off x="3200400" y="419100"/>
            <a:ext cx="11530731" cy="1107996"/>
          </a:xfrm>
          <a:prstGeom prst="rect">
            <a:avLst/>
          </a:prstGeom>
        </p:spPr>
        <p:txBody>
          <a:bodyPr lIns="0" tIns="0" rIns="0" bIns="0" rtlCol="0" anchor="t">
            <a:spAutoFit/>
          </a:bodyPr>
          <a:lstStyle/>
          <a:p>
            <a:pPr lvl="0" algn="ctr">
              <a:spcBef>
                <a:spcPct val="0"/>
              </a:spcBef>
            </a:pPr>
            <a:r>
              <a:rPr lang="en-US" sz="7200" b="1" spc="1212" dirty="0">
                <a:solidFill>
                  <a:srgbClr val="2B2A2A"/>
                </a:solidFill>
                <a:latin typeface="Poppins Bold" panose="020B0604020202020204" charset="0"/>
                <a:ea typeface="Poppins Bold"/>
                <a:cs typeface="Poppins Bold" panose="020B0604020202020204" charset="0"/>
                <a:sym typeface="Poppins Bold"/>
              </a:rPr>
              <a:t>Introduction</a:t>
            </a:r>
          </a:p>
        </p:txBody>
      </p:sp>
      <p:grpSp>
        <p:nvGrpSpPr>
          <p:cNvPr id="6" name="Group 4">
            <a:extLst>
              <a:ext uri="{FF2B5EF4-FFF2-40B4-BE49-F238E27FC236}">
                <a16:creationId xmlns:a16="http://schemas.microsoft.com/office/drawing/2014/main" id="{5A23ED20-24F4-275F-00AF-6D53CAE47F63}"/>
              </a:ext>
            </a:extLst>
          </p:cNvPr>
          <p:cNvGrpSpPr/>
          <p:nvPr/>
        </p:nvGrpSpPr>
        <p:grpSpPr>
          <a:xfrm>
            <a:off x="2175377" y="2645860"/>
            <a:ext cx="13937245" cy="6506180"/>
            <a:chOff x="0" y="0"/>
            <a:chExt cx="3670715" cy="1713562"/>
          </a:xfrm>
          <a:solidFill>
            <a:schemeClr val="bg2">
              <a:lumMod val="10000"/>
            </a:schemeClr>
          </a:solidFill>
        </p:grpSpPr>
        <p:sp>
          <p:nvSpPr>
            <p:cNvPr id="7" name="Freeform 5">
              <a:extLst>
                <a:ext uri="{FF2B5EF4-FFF2-40B4-BE49-F238E27FC236}">
                  <a16:creationId xmlns:a16="http://schemas.microsoft.com/office/drawing/2014/main" id="{E717F0CB-1512-59E4-20D6-047A7F81F650}"/>
                </a:ext>
              </a:extLst>
            </p:cNvPr>
            <p:cNvSpPr/>
            <p:nvPr/>
          </p:nvSpPr>
          <p:spPr>
            <a:xfrm>
              <a:off x="0" y="0"/>
              <a:ext cx="3670715" cy="1713562"/>
            </a:xfrm>
            <a:custGeom>
              <a:avLst/>
              <a:gdLst/>
              <a:ahLst/>
              <a:cxnLst/>
              <a:rect l="l" t="t" r="r" b="b"/>
              <a:pathLst>
                <a:path w="3670715" h="1713562">
                  <a:moveTo>
                    <a:pt x="0" y="0"/>
                  </a:moveTo>
                  <a:lnTo>
                    <a:pt x="3670715" y="0"/>
                  </a:lnTo>
                  <a:lnTo>
                    <a:pt x="3670715" y="1713562"/>
                  </a:lnTo>
                  <a:lnTo>
                    <a:pt x="0" y="1713562"/>
                  </a:lnTo>
                  <a:close/>
                </a:path>
              </a:pathLst>
            </a:custGeom>
            <a:grpFill/>
            <a:ln cap="sq">
              <a:noFill/>
              <a:prstDash val="solid"/>
              <a:miter/>
            </a:ln>
          </p:spPr>
          <p:txBody>
            <a:bodyPr/>
            <a:lstStyle/>
            <a:p>
              <a:endParaRPr lang="en-IN" dirty="0"/>
            </a:p>
          </p:txBody>
        </p:sp>
        <p:sp>
          <p:nvSpPr>
            <p:cNvPr id="8" name="TextBox 6">
              <a:extLst>
                <a:ext uri="{FF2B5EF4-FFF2-40B4-BE49-F238E27FC236}">
                  <a16:creationId xmlns:a16="http://schemas.microsoft.com/office/drawing/2014/main" id="{62BD1C54-AB6A-D661-F796-CD68A86DF1B7}"/>
                </a:ext>
              </a:extLst>
            </p:cNvPr>
            <p:cNvSpPr txBox="1"/>
            <p:nvPr/>
          </p:nvSpPr>
          <p:spPr>
            <a:xfrm>
              <a:off x="0" y="-19050"/>
              <a:ext cx="3670715" cy="1732612"/>
            </a:xfrm>
            <a:prstGeom prst="rect">
              <a:avLst/>
            </a:prstGeom>
            <a:grpFill/>
          </p:spPr>
          <p:txBody>
            <a:bodyPr lIns="50800" tIns="50800" rIns="50800" bIns="50800" rtlCol="0" anchor="ctr"/>
            <a:lstStyle/>
            <a:p>
              <a:pPr marL="0" lvl="0" indent="0" algn="ctr">
                <a:lnSpc>
                  <a:spcPts val="2859"/>
                </a:lnSpc>
                <a:spcBef>
                  <a:spcPct val="0"/>
                </a:spcBef>
              </a:pPr>
              <a:endParaRPr dirty="0"/>
            </a:p>
          </p:txBody>
        </p:sp>
      </p:grpSp>
      <p:pic>
        <p:nvPicPr>
          <p:cNvPr id="10" name="Picture 2">
            <a:extLst>
              <a:ext uri="{FF2B5EF4-FFF2-40B4-BE49-F238E27FC236}">
                <a16:creationId xmlns:a16="http://schemas.microsoft.com/office/drawing/2014/main" id="{8B8EDF13-5406-CE90-2462-7C7C9831225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54400" y="-34787"/>
            <a:ext cx="2283419" cy="16736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TextBox 12">
            <a:extLst>
              <a:ext uri="{FF2B5EF4-FFF2-40B4-BE49-F238E27FC236}">
                <a16:creationId xmlns:a16="http://schemas.microsoft.com/office/drawing/2014/main" id="{6CB37C83-D278-12BE-5801-54A1324EA568}"/>
              </a:ext>
            </a:extLst>
          </p:cNvPr>
          <p:cNvGraphicFramePr/>
          <p:nvPr>
            <p:extLst>
              <p:ext uri="{D42A27DB-BD31-4B8C-83A1-F6EECF244321}">
                <p14:modId xmlns:p14="http://schemas.microsoft.com/office/powerpoint/2010/main" val="549979018"/>
              </p:ext>
            </p:extLst>
          </p:nvPr>
        </p:nvGraphicFramePr>
        <p:xfrm>
          <a:off x="4838699" y="2917138"/>
          <a:ext cx="8610600" cy="589129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1274793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5119C12-B897-A5CE-A4AB-73206F1D9E05}"/>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61E70B1-14C9-C596-C540-BF34B767C77A}"/>
              </a:ext>
            </a:extLst>
          </p:cNvPr>
          <p:cNvSpPr/>
          <p:nvPr/>
        </p:nvSpPr>
        <p:spPr>
          <a:xfrm>
            <a:off x="-454941" y="-1743986"/>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sp>
        <p:nvSpPr>
          <p:cNvPr id="3" name="TextBox 4">
            <a:extLst>
              <a:ext uri="{FF2B5EF4-FFF2-40B4-BE49-F238E27FC236}">
                <a16:creationId xmlns:a16="http://schemas.microsoft.com/office/drawing/2014/main" id="{00BBEE45-D2C1-F91D-EDBD-D21DFEF89D50}"/>
              </a:ext>
            </a:extLst>
          </p:cNvPr>
          <p:cNvSpPr txBox="1"/>
          <p:nvPr/>
        </p:nvSpPr>
        <p:spPr>
          <a:xfrm>
            <a:off x="3200400" y="419100"/>
            <a:ext cx="11530731" cy="1231106"/>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 1 – Top Branch by Average </a:t>
            </a:r>
            <a:r>
              <a:rPr lang="en-IN" sz="4000" dirty="0">
                <a:latin typeface="Poppins Bold" panose="00000800000000000000" charset="0"/>
                <a:cs typeface="Poppins Bold" panose="00000800000000000000" charset="0"/>
              </a:rPr>
              <a:t>month-over-month</a:t>
            </a:r>
            <a:r>
              <a:rPr lang="en-US" sz="4000" dirty="0">
                <a:latin typeface="Poppins Bold" panose="00000800000000000000" charset="0"/>
                <a:cs typeface="Poppins Bold" panose="00000800000000000000" charset="0"/>
              </a:rPr>
              <a:t> Sales Growth Rate</a:t>
            </a:r>
            <a:endParaRPr lang="en-US" sz="4000" b="1" spc="1212" dirty="0">
              <a:solidFill>
                <a:srgbClr val="2B2A2A"/>
              </a:solidFill>
              <a:latin typeface="Poppins Bold" panose="00000800000000000000" charset="0"/>
              <a:ea typeface="Poppins Bold"/>
              <a:cs typeface="Poppins Bold" panose="00000800000000000000" charset="0"/>
              <a:sym typeface="Poppins Bold"/>
            </a:endParaRPr>
          </a:p>
        </p:txBody>
      </p:sp>
      <p:grpSp>
        <p:nvGrpSpPr>
          <p:cNvPr id="4" name="Group 4">
            <a:extLst>
              <a:ext uri="{FF2B5EF4-FFF2-40B4-BE49-F238E27FC236}">
                <a16:creationId xmlns:a16="http://schemas.microsoft.com/office/drawing/2014/main" id="{065139AA-9DD4-E04C-0BB0-F3FF705AF50A}"/>
              </a:ext>
            </a:extLst>
          </p:cNvPr>
          <p:cNvGrpSpPr/>
          <p:nvPr/>
        </p:nvGrpSpPr>
        <p:grpSpPr>
          <a:xfrm>
            <a:off x="190464" y="1215792"/>
            <a:ext cx="13016249" cy="8600495"/>
            <a:chOff x="-1058884" y="-19050"/>
            <a:chExt cx="3428148" cy="2265151"/>
          </a:xfrm>
        </p:grpSpPr>
        <p:sp>
          <p:nvSpPr>
            <p:cNvPr id="5" name="Freeform 5">
              <a:extLst>
                <a:ext uri="{FF2B5EF4-FFF2-40B4-BE49-F238E27FC236}">
                  <a16:creationId xmlns:a16="http://schemas.microsoft.com/office/drawing/2014/main" id="{701ED16E-A441-E4FA-9A21-266532CFA087}"/>
                </a:ext>
              </a:extLst>
            </p:cNvPr>
            <p:cNvSpPr/>
            <p:nvPr/>
          </p:nvSpPr>
          <p:spPr>
            <a:xfrm>
              <a:off x="-1058884" y="305192"/>
              <a:ext cx="1309274" cy="1940909"/>
            </a:xfrm>
            <a:custGeom>
              <a:avLst/>
              <a:gdLst/>
              <a:ahLst/>
              <a:cxnLst/>
              <a:rect l="l" t="t" r="r" b="b"/>
              <a:pathLst>
                <a:path w="2369264" h="2084956">
                  <a:moveTo>
                    <a:pt x="0" y="0"/>
                  </a:moveTo>
                  <a:lnTo>
                    <a:pt x="2369264" y="0"/>
                  </a:lnTo>
                  <a:lnTo>
                    <a:pt x="2369264" y="2084956"/>
                  </a:lnTo>
                  <a:lnTo>
                    <a:pt x="0" y="2084956"/>
                  </a:lnTo>
                  <a:close/>
                </a:path>
              </a:pathLst>
            </a:custGeom>
            <a:solidFill>
              <a:schemeClr val="bg2">
                <a:lumMod val="10000"/>
              </a:schemeClr>
            </a:solidFill>
            <a:ln w="9525" cap="sq">
              <a:solidFill>
                <a:srgbClr val="2B2A2A"/>
              </a:solidFill>
              <a:prstDash val="solid"/>
              <a:miter/>
            </a:ln>
          </p:spPr>
          <p:txBody>
            <a:bodyPr/>
            <a:lstStyle/>
            <a:p>
              <a:pPr algn="ctr"/>
              <a:endParaRPr lang="en-IN" dirty="0"/>
            </a:p>
          </p:txBody>
        </p:sp>
        <p:sp>
          <p:nvSpPr>
            <p:cNvPr id="6" name="TextBox 6">
              <a:extLst>
                <a:ext uri="{FF2B5EF4-FFF2-40B4-BE49-F238E27FC236}">
                  <a16:creationId xmlns:a16="http://schemas.microsoft.com/office/drawing/2014/main" id="{1985C551-E0E4-FE7F-F415-82558DC6E9F8}"/>
                </a:ext>
              </a:extLst>
            </p:cNvPr>
            <p:cNvSpPr txBox="1"/>
            <p:nvPr/>
          </p:nvSpPr>
          <p:spPr>
            <a:xfrm>
              <a:off x="0" y="-19050"/>
              <a:ext cx="2369264" cy="2104006"/>
            </a:xfrm>
            <a:prstGeom prst="rect">
              <a:avLst/>
            </a:prstGeom>
          </p:spPr>
          <p:txBody>
            <a:bodyPr lIns="50800" tIns="50800" rIns="50800" bIns="50800" rtlCol="0" anchor="ctr"/>
            <a:lstStyle/>
            <a:p>
              <a:pPr algn="ctr">
                <a:lnSpc>
                  <a:spcPts val="2859"/>
                </a:lnSpc>
              </a:pPr>
              <a:endParaRPr dirty="0"/>
            </a:p>
          </p:txBody>
        </p:sp>
      </p:grpSp>
      <p:sp>
        <p:nvSpPr>
          <p:cNvPr id="7" name="TextBox 14">
            <a:extLst>
              <a:ext uri="{FF2B5EF4-FFF2-40B4-BE49-F238E27FC236}">
                <a16:creationId xmlns:a16="http://schemas.microsoft.com/office/drawing/2014/main" id="{50B03E73-856A-AECC-4E53-72E55A2F36C1}"/>
              </a:ext>
            </a:extLst>
          </p:cNvPr>
          <p:cNvSpPr txBox="1"/>
          <p:nvPr/>
        </p:nvSpPr>
        <p:spPr>
          <a:xfrm>
            <a:off x="864243" y="2359134"/>
            <a:ext cx="5949563" cy="932563"/>
          </a:xfrm>
          <a:prstGeom prst="rect">
            <a:avLst/>
          </a:prstGeom>
        </p:spPr>
        <p:txBody>
          <a:bodyPr lIns="0" tIns="0" rIns="0" bIns="0" rtlCol="0" anchor="t">
            <a:spAutoFit/>
          </a:bodyPr>
          <a:lstStyle/>
          <a:p>
            <a:pPr marL="0" lvl="0" indent="0" algn="l">
              <a:lnSpc>
                <a:spcPts val="8811"/>
              </a:lnSpc>
              <a:spcBef>
                <a:spcPct val="0"/>
              </a:spcBef>
            </a:pPr>
            <a:r>
              <a:rPr lang="en-US" sz="2400" spc="625" dirty="0">
                <a:solidFill>
                  <a:srgbClr val="FEFFFF"/>
                </a:solidFill>
                <a:latin typeface="Poppins"/>
                <a:ea typeface="Poppins"/>
                <a:cs typeface="Poppins"/>
                <a:sym typeface="Poppins"/>
              </a:rPr>
              <a:t>BUSINESS PROBLEM</a:t>
            </a:r>
            <a:endParaRPr lang="en-US" sz="6384" spc="625" dirty="0">
              <a:solidFill>
                <a:srgbClr val="FEFFFF"/>
              </a:solidFill>
              <a:latin typeface="Poppins"/>
              <a:ea typeface="Poppins"/>
              <a:cs typeface="Poppins"/>
              <a:sym typeface="Poppins"/>
            </a:endParaRPr>
          </a:p>
        </p:txBody>
      </p:sp>
      <p:sp>
        <p:nvSpPr>
          <p:cNvPr id="8" name="TextBox 12">
            <a:extLst>
              <a:ext uri="{FF2B5EF4-FFF2-40B4-BE49-F238E27FC236}">
                <a16:creationId xmlns:a16="http://schemas.microsoft.com/office/drawing/2014/main" id="{2D993B30-A719-24AA-A8E3-35DA6DEC4FCF}"/>
              </a:ext>
            </a:extLst>
          </p:cNvPr>
          <p:cNvSpPr txBox="1"/>
          <p:nvPr/>
        </p:nvSpPr>
        <p:spPr>
          <a:xfrm>
            <a:off x="536371" y="3658781"/>
            <a:ext cx="4572000" cy="2266198"/>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Walmart wants to identify which branch is growing the fastest month-over-month to allocate marketing budgets and operational resources effectively.</a:t>
            </a:r>
            <a:endParaRPr lang="en-US" sz="1975" spc="41" dirty="0">
              <a:solidFill>
                <a:schemeClr val="bg1"/>
              </a:solidFill>
              <a:latin typeface="DM Sans" pitchFamily="2" charset="0"/>
              <a:ea typeface="DM Sans"/>
              <a:cs typeface="DM Sans"/>
              <a:sym typeface="DM Sans"/>
            </a:endParaRPr>
          </a:p>
        </p:txBody>
      </p:sp>
      <p:sp>
        <p:nvSpPr>
          <p:cNvPr id="9" name="TextBox 12">
            <a:extLst>
              <a:ext uri="{FF2B5EF4-FFF2-40B4-BE49-F238E27FC236}">
                <a16:creationId xmlns:a16="http://schemas.microsoft.com/office/drawing/2014/main" id="{8402B7BD-2101-EEE8-760A-5222B655CD91}"/>
              </a:ext>
            </a:extLst>
          </p:cNvPr>
          <p:cNvSpPr txBox="1"/>
          <p:nvPr/>
        </p:nvSpPr>
        <p:spPr>
          <a:xfrm>
            <a:off x="511812" y="7458458"/>
            <a:ext cx="4572000" cy="1342868"/>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Find the branch with the highest </a:t>
            </a:r>
            <a:r>
              <a:rPr lang="en-US" sz="2000" b="1" dirty="0">
                <a:solidFill>
                  <a:schemeClr val="bg1"/>
                </a:solidFill>
                <a:latin typeface="DM Sans" pitchFamily="2" charset="0"/>
              </a:rPr>
              <a:t>average month-over-month (MoM) sales growth.</a:t>
            </a:r>
            <a:endParaRPr lang="en-US" sz="1975" spc="41" dirty="0">
              <a:solidFill>
                <a:schemeClr val="bg1"/>
              </a:solidFill>
              <a:latin typeface="DM Sans" pitchFamily="2" charset="0"/>
              <a:ea typeface="DM Sans"/>
              <a:cs typeface="DM Sans"/>
              <a:sym typeface="DM Sans"/>
            </a:endParaRPr>
          </a:p>
        </p:txBody>
      </p:sp>
      <p:sp>
        <p:nvSpPr>
          <p:cNvPr id="10" name="TextBox 14">
            <a:extLst>
              <a:ext uri="{FF2B5EF4-FFF2-40B4-BE49-F238E27FC236}">
                <a16:creationId xmlns:a16="http://schemas.microsoft.com/office/drawing/2014/main" id="{81C70C4D-73BF-DC1B-CB5C-68D67E03A079}"/>
              </a:ext>
            </a:extLst>
          </p:cNvPr>
          <p:cNvSpPr txBox="1"/>
          <p:nvPr/>
        </p:nvSpPr>
        <p:spPr>
          <a:xfrm>
            <a:off x="649357" y="6122782"/>
            <a:ext cx="5949563" cy="932563"/>
          </a:xfrm>
          <a:prstGeom prst="rect">
            <a:avLst/>
          </a:prstGeom>
        </p:spPr>
        <p:txBody>
          <a:bodyPr lIns="0" tIns="0" rIns="0" bIns="0" rtlCol="0" anchor="t">
            <a:spAutoFit/>
          </a:bodyPr>
          <a:lstStyle/>
          <a:p>
            <a:pPr lvl="0">
              <a:lnSpc>
                <a:spcPts val="8811"/>
              </a:lnSpc>
              <a:spcBef>
                <a:spcPct val="0"/>
              </a:spcBef>
            </a:pPr>
            <a:r>
              <a:rPr lang="en-US" sz="2400" spc="625" dirty="0">
                <a:solidFill>
                  <a:srgbClr val="FEFFFF"/>
                </a:solidFill>
                <a:latin typeface="Poppins"/>
                <a:ea typeface="Poppins"/>
                <a:cs typeface="Poppins"/>
                <a:sym typeface="Poppins"/>
              </a:rPr>
              <a:t>OBJECTIVE</a:t>
            </a:r>
            <a:endParaRPr lang="en-US" sz="6384" spc="625" dirty="0">
              <a:solidFill>
                <a:srgbClr val="FEFFFF"/>
              </a:solidFill>
              <a:latin typeface="Poppins"/>
              <a:ea typeface="Poppins"/>
              <a:cs typeface="Poppins"/>
              <a:sym typeface="Poppins"/>
            </a:endParaRPr>
          </a:p>
        </p:txBody>
      </p:sp>
      <p:grpSp>
        <p:nvGrpSpPr>
          <p:cNvPr id="11" name="Group 4">
            <a:extLst>
              <a:ext uri="{FF2B5EF4-FFF2-40B4-BE49-F238E27FC236}">
                <a16:creationId xmlns:a16="http://schemas.microsoft.com/office/drawing/2014/main" id="{83B99A8A-13F7-6C8B-B0A7-D9F608DBD3A5}"/>
              </a:ext>
            </a:extLst>
          </p:cNvPr>
          <p:cNvGrpSpPr/>
          <p:nvPr/>
        </p:nvGrpSpPr>
        <p:grpSpPr>
          <a:xfrm>
            <a:off x="5835393" y="2423180"/>
            <a:ext cx="4971151" cy="1025196"/>
            <a:chOff x="0" y="0"/>
            <a:chExt cx="2369264" cy="2084956"/>
          </a:xfrm>
          <a:solidFill>
            <a:schemeClr val="bg1"/>
          </a:solidFill>
        </p:grpSpPr>
        <p:sp>
          <p:nvSpPr>
            <p:cNvPr id="12" name="Freeform 5">
              <a:extLst>
                <a:ext uri="{FF2B5EF4-FFF2-40B4-BE49-F238E27FC236}">
                  <a16:creationId xmlns:a16="http://schemas.microsoft.com/office/drawing/2014/main" id="{8464D911-6EDE-9C8E-BBF4-04666F426C54}"/>
                </a:ext>
              </a:extLst>
            </p:cNvPr>
            <p:cNvSpPr/>
            <p:nvPr/>
          </p:nvSpPr>
          <p:spPr>
            <a:xfrm>
              <a:off x="0" y="0"/>
              <a:ext cx="2369264" cy="2084956"/>
            </a:xfrm>
            <a:custGeom>
              <a:avLst/>
              <a:gdLst/>
              <a:ahLst/>
              <a:cxnLst/>
              <a:rect l="l" t="t" r="r" b="b"/>
              <a:pathLst>
                <a:path w="2369264" h="2084956">
                  <a:moveTo>
                    <a:pt x="0" y="0"/>
                  </a:moveTo>
                  <a:lnTo>
                    <a:pt x="2369264" y="0"/>
                  </a:lnTo>
                  <a:lnTo>
                    <a:pt x="2369264" y="2084956"/>
                  </a:lnTo>
                  <a:lnTo>
                    <a:pt x="0" y="2084956"/>
                  </a:lnTo>
                  <a:close/>
                </a:path>
              </a:pathLst>
            </a:custGeom>
            <a:grpFill/>
            <a:ln w="9525" cap="sq">
              <a:noFill/>
              <a:prstDash val="solid"/>
              <a:miter/>
            </a:ln>
          </p:spPr>
          <p:txBody>
            <a:bodyPr/>
            <a:lstStyle/>
            <a:p>
              <a:endParaRPr lang="en-IN" dirty="0"/>
            </a:p>
          </p:txBody>
        </p:sp>
        <p:sp>
          <p:nvSpPr>
            <p:cNvPr id="13" name="TextBox 6">
              <a:extLst>
                <a:ext uri="{FF2B5EF4-FFF2-40B4-BE49-F238E27FC236}">
                  <a16:creationId xmlns:a16="http://schemas.microsoft.com/office/drawing/2014/main" id="{99C067AA-1346-FB18-4712-70A7AF7681F7}"/>
                </a:ext>
              </a:extLst>
            </p:cNvPr>
            <p:cNvSpPr txBox="1"/>
            <p:nvPr/>
          </p:nvSpPr>
          <p:spPr>
            <a:xfrm>
              <a:off x="0" y="-19050"/>
              <a:ext cx="2369264" cy="2104006"/>
            </a:xfrm>
            <a:prstGeom prst="rect">
              <a:avLst/>
            </a:prstGeom>
            <a:grpFill/>
            <a:ln>
              <a:noFill/>
            </a:ln>
          </p:spPr>
          <p:txBody>
            <a:bodyPr lIns="50800" tIns="50800" rIns="50800" bIns="50800" rtlCol="0" anchor="ctr"/>
            <a:lstStyle/>
            <a:p>
              <a:pPr algn="ctr">
                <a:lnSpc>
                  <a:spcPts val="2859"/>
                </a:lnSpc>
              </a:pPr>
              <a:endParaRPr dirty="0"/>
            </a:p>
          </p:txBody>
        </p:sp>
      </p:grpSp>
      <p:sp>
        <p:nvSpPr>
          <p:cNvPr id="14" name="TextBox 14">
            <a:extLst>
              <a:ext uri="{FF2B5EF4-FFF2-40B4-BE49-F238E27FC236}">
                <a16:creationId xmlns:a16="http://schemas.microsoft.com/office/drawing/2014/main" id="{D4D8A100-815F-6577-6FCC-9328AF4797FD}"/>
              </a:ext>
            </a:extLst>
          </p:cNvPr>
          <p:cNvSpPr txBox="1"/>
          <p:nvPr/>
        </p:nvSpPr>
        <p:spPr>
          <a:xfrm>
            <a:off x="7728593" y="1902743"/>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SQL Query </a:t>
            </a:r>
            <a:endParaRPr lang="en-US" sz="6384" spc="625" dirty="0">
              <a:latin typeface="Poppins"/>
              <a:ea typeface="Poppins"/>
              <a:cs typeface="Poppins"/>
              <a:sym typeface="Poppins"/>
            </a:endParaRPr>
          </a:p>
        </p:txBody>
      </p:sp>
      <p:graphicFrame>
        <p:nvGraphicFramePr>
          <p:cNvPr id="19" name="Table 18">
            <a:extLst>
              <a:ext uri="{FF2B5EF4-FFF2-40B4-BE49-F238E27FC236}">
                <a16:creationId xmlns:a16="http://schemas.microsoft.com/office/drawing/2014/main" id="{54E32FD9-03B4-668F-78CA-D4EB86197D59}"/>
              </a:ext>
            </a:extLst>
          </p:cNvPr>
          <p:cNvGraphicFramePr>
            <a:graphicFrameLocks noGrp="1"/>
          </p:cNvGraphicFramePr>
          <p:nvPr>
            <p:extLst>
              <p:ext uri="{D42A27DB-BD31-4B8C-83A1-F6EECF244321}">
                <p14:modId xmlns:p14="http://schemas.microsoft.com/office/powerpoint/2010/main" val="1109864790"/>
              </p:ext>
            </p:extLst>
          </p:nvPr>
        </p:nvGraphicFramePr>
        <p:xfrm>
          <a:off x="13330656" y="2699944"/>
          <a:ext cx="4642937" cy="1999924"/>
        </p:xfrm>
        <a:graphic>
          <a:graphicData uri="http://schemas.openxmlformats.org/drawingml/2006/table">
            <a:tbl>
              <a:tblPr/>
              <a:tblGrid>
                <a:gridCol w="990600">
                  <a:extLst>
                    <a:ext uri="{9D8B030D-6E8A-4147-A177-3AD203B41FA5}">
                      <a16:colId xmlns:a16="http://schemas.microsoft.com/office/drawing/2014/main" val="3719659729"/>
                    </a:ext>
                  </a:extLst>
                </a:gridCol>
                <a:gridCol w="3652337">
                  <a:extLst>
                    <a:ext uri="{9D8B030D-6E8A-4147-A177-3AD203B41FA5}">
                      <a16:colId xmlns:a16="http://schemas.microsoft.com/office/drawing/2014/main" val="1283615676"/>
                    </a:ext>
                  </a:extLst>
                </a:gridCol>
              </a:tblGrid>
              <a:tr h="499981">
                <a:tc>
                  <a:txBody>
                    <a:bodyPr/>
                    <a:lstStyle/>
                    <a:p>
                      <a:pPr algn="ctr" fontAlgn="ctr">
                        <a:buNone/>
                      </a:pPr>
                      <a:r>
                        <a:rPr lang="en-IN" sz="2000" b="1" i="0" u="none" strike="noStrike" dirty="0">
                          <a:solidFill>
                            <a:srgbClr val="FFFFFF"/>
                          </a:solidFill>
                          <a:effectLst/>
                          <a:latin typeface="DM Sans" pitchFamily="2" charset="0"/>
                        </a:rPr>
                        <a:t>Branch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tc>
                  <a:txBody>
                    <a:bodyPr/>
                    <a:lstStyle/>
                    <a:p>
                      <a:pPr algn="ctr" fontAlgn="ctr">
                        <a:buNone/>
                      </a:pPr>
                      <a:r>
                        <a:rPr lang="en-IN" sz="2000" b="1" i="0" u="none" strike="noStrike" dirty="0">
                          <a:solidFill>
                            <a:srgbClr val="FFFFFF"/>
                          </a:solidFill>
                          <a:effectLst/>
                          <a:latin typeface="DM Sans" pitchFamily="2" charset="0"/>
                        </a:rPr>
                        <a:t>Avg_MOM_Growth_pct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0000"/>
                    </a:solidFill>
                  </a:tcPr>
                </a:tc>
                <a:extLst>
                  <a:ext uri="{0D108BD9-81ED-4DB2-BD59-A6C34878D82A}">
                    <a16:rowId xmlns:a16="http://schemas.microsoft.com/office/drawing/2014/main" val="1540627739"/>
                  </a:ext>
                </a:extLst>
              </a:tr>
              <a:tr h="499981">
                <a:tc>
                  <a:txBody>
                    <a:bodyPr/>
                    <a:lstStyle/>
                    <a:p>
                      <a:pPr algn="ctr" fontAlgn="ctr">
                        <a:buNone/>
                      </a:pPr>
                      <a:r>
                        <a:rPr lang="en-IN" sz="2000" b="0" i="0" u="none" strike="noStrike" dirty="0">
                          <a:solidFill>
                            <a:srgbClr val="000000"/>
                          </a:solidFill>
                          <a:effectLst/>
                          <a:latin typeface="DM Sans" pitchFamily="2" charset="0"/>
                        </a:rPr>
                        <a:t>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D40"/>
                    </a:solidFill>
                  </a:tcPr>
                </a:tc>
                <a:tc>
                  <a:txBody>
                    <a:bodyPr/>
                    <a:lstStyle/>
                    <a:p>
                      <a:pPr algn="ctr" fontAlgn="ctr">
                        <a:buNone/>
                      </a:pPr>
                      <a:r>
                        <a:rPr lang="en-IN" sz="2000" b="0" i="0" u="none" strike="noStrike" dirty="0">
                          <a:solidFill>
                            <a:srgbClr val="000000"/>
                          </a:solidFill>
                          <a:effectLst/>
                          <a:latin typeface="DM Sans" pitchFamily="2" charset="0"/>
                        </a:rPr>
                        <a:t>17.98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D40"/>
                    </a:solidFill>
                  </a:tcPr>
                </a:tc>
                <a:extLst>
                  <a:ext uri="{0D108BD9-81ED-4DB2-BD59-A6C34878D82A}">
                    <a16:rowId xmlns:a16="http://schemas.microsoft.com/office/drawing/2014/main" val="3909593079"/>
                  </a:ext>
                </a:extLst>
              </a:tr>
              <a:tr h="499981">
                <a:tc>
                  <a:txBody>
                    <a:bodyPr/>
                    <a:lstStyle/>
                    <a:p>
                      <a:pPr algn="ctr" fontAlgn="ctr">
                        <a:buNone/>
                      </a:pPr>
                      <a:r>
                        <a:rPr lang="en-IN" sz="2000" b="0" i="0" u="none" strike="noStrike" dirty="0">
                          <a:solidFill>
                            <a:srgbClr val="000000"/>
                          </a:solidFill>
                          <a:effectLst/>
                          <a:latin typeface="DM Sans" pitchFamily="2" charset="0"/>
                        </a:rPr>
                        <a:t>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C5"/>
                    </a:solidFill>
                  </a:tcPr>
                </a:tc>
                <a:tc>
                  <a:txBody>
                    <a:bodyPr/>
                    <a:lstStyle/>
                    <a:p>
                      <a:pPr algn="ctr" fontAlgn="ctr">
                        <a:buNone/>
                      </a:pPr>
                      <a:r>
                        <a:rPr lang="en-IN" sz="2000" b="0" i="0" u="none" strike="noStrike" dirty="0">
                          <a:solidFill>
                            <a:srgbClr val="000000"/>
                          </a:solidFill>
                          <a:effectLst/>
                          <a:latin typeface="DM Sans" pitchFamily="2" charset="0"/>
                        </a:rPr>
                        <a:t>5.96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C5"/>
                    </a:solidFill>
                  </a:tcPr>
                </a:tc>
                <a:extLst>
                  <a:ext uri="{0D108BD9-81ED-4DB2-BD59-A6C34878D82A}">
                    <a16:rowId xmlns:a16="http://schemas.microsoft.com/office/drawing/2014/main" val="4109927179"/>
                  </a:ext>
                </a:extLst>
              </a:tr>
              <a:tr h="499981">
                <a:tc>
                  <a:txBody>
                    <a:bodyPr/>
                    <a:lstStyle/>
                    <a:p>
                      <a:pPr algn="ctr" fontAlgn="ctr">
                        <a:buNone/>
                      </a:pPr>
                      <a:r>
                        <a:rPr lang="en-IN" sz="2000" b="0" i="0" u="none" strike="noStrike" dirty="0">
                          <a:solidFill>
                            <a:srgbClr val="000000"/>
                          </a:solidFill>
                          <a:effectLst/>
                          <a:latin typeface="DM Sans" pitchFamily="2" charset="0"/>
                        </a:rPr>
                        <a:t>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81"/>
                    </a:solidFill>
                  </a:tcPr>
                </a:tc>
                <a:tc>
                  <a:txBody>
                    <a:bodyPr/>
                    <a:lstStyle/>
                    <a:p>
                      <a:pPr algn="ctr" fontAlgn="ctr">
                        <a:buNone/>
                      </a:pPr>
                      <a:r>
                        <a:rPr lang="en-IN" sz="2000" b="0" i="0" u="none" strike="noStrike" dirty="0">
                          <a:solidFill>
                            <a:srgbClr val="000000"/>
                          </a:solidFill>
                          <a:effectLst/>
                          <a:latin typeface="DM Sans" pitchFamily="2" charset="0"/>
                        </a:rPr>
                        <a:t>-3.28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DE81"/>
                    </a:solidFill>
                  </a:tcPr>
                </a:tc>
                <a:extLst>
                  <a:ext uri="{0D108BD9-81ED-4DB2-BD59-A6C34878D82A}">
                    <a16:rowId xmlns:a16="http://schemas.microsoft.com/office/drawing/2014/main" val="3468289392"/>
                  </a:ext>
                </a:extLst>
              </a:tr>
            </a:tbl>
          </a:graphicData>
        </a:graphic>
      </p:graphicFrame>
      <p:graphicFrame>
        <p:nvGraphicFramePr>
          <p:cNvPr id="20" name="Chart 19">
            <a:extLst>
              <a:ext uri="{FF2B5EF4-FFF2-40B4-BE49-F238E27FC236}">
                <a16:creationId xmlns:a16="http://schemas.microsoft.com/office/drawing/2014/main" id="{594F0583-9CA7-F468-2868-C9A1D4B74069}"/>
              </a:ext>
            </a:extLst>
          </p:cNvPr>
          <p:cNvGraphicFramePr>
            <a:graphicFrameLocks/>
          </p:cNvGraphicFramePr>
          <p:nvPr>
            <p:extLst>
              <p:ext uri="{D42A27DB-BD31-4B8C-83A1-F6EECF244321}">
                <p14:modId xmlns:p14="http://schemas.microsoft.com/office/powerpoint/2010/main" val="421071494"/>
              </p:ext>
            </p:extLst>
          </p:nvPr>
        </p:nvGraphicFramePr>
        <p:xfrm>
          <a:off x="11358788" y="6782211"/>
          <a:ext cx="6938852" cy="3522107"/>
        </p:xfrm>
        <a:graphic>
          <a:graphicData uri="http://schemas.openxmlformats.org/drawingml/2006/chart">
            <c:chart xmlns:c="http://schemas.openxmlformats.org/drawingml/2006/chart" xmlns:r="http://schemas.openxmlformats.org/officeDocument/2006/relationships" r:id="rId5"/>
          </a:graphicData>
        </a:graphic>
      </p:graphicFrame>
      <p:sp>
        <p:nvSpPr>
          <p:cNvPr id="23" name="Rectangle 22">
            <a:extLst>
              <a:ext uri="{FF2B5EF4-FFF2-40B4-BE49-F238E27FC236}">
                <a16:creationId xmlns:a16="http://schemas.microsoft.com/office/drawing/2014/main" id="{DA0E9B4A-AB35-4E43-32C7-D38F4DA6AF5D}"/>
              </a:ext>
            </a:extLst>
          </p:cNvPr>
          <p:cNvSpPr/>
          <p:nvPr/>
        </p:nvSpPr>
        <p:spPr>
          <a:xfrm>
            <a:off x="12956660" y="5143500"/>
            <a:ext cx="5140876" cy="1231106"/>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Insight</a:t>
            </a:r>
          </a:p>
          <a:p>
            <a:pPr algn="ctr"/>
            <a:r>
              <a:rPr lang="en-US" dirty="0">
                <a:latin typeface="DM Sans" pitchFamily="2" charset="0"/>
              </a:rPr>
              <a:t>Branch B shows the highest average MoM sales growth, making it the best candidate for increased promotional investment.</a:t>
            </a:r>
            <a:endParaRPr lang="en-IN" dirty="0">
              <a:latin typeface="DM Sans" pitchFamily="2" charset="0"/>
            </a:endParaRPr>
          </a:p>
        </p:txBody>
      </p:sp>
      <p:pic>
        <p:nvPicPr>
          <p:cNvPr id="27" name="Picture 26" descr="A screenshot of a computer code&#10;&#10;AI-generated content may be incorrect.">
            <a:extLst>
              <a:ext uri="{FF2B5EF4-FFF2-40B4-BE49-F238E27FC236}">
                <a16:creationId xmlns:a16="http://schemas.microsoft.com/office/drawing/2014/main" id="{E2674DE4-45DD-08CB-D3E5-DDE13DB9F4E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173276" y="2825415"/>
            <a:ext cx="7584976" cy="5004759"/>
          </a:xfrm>
          <a:prstGeom prst="rect">
            <a:avLst/>
          </a:prstGeom>
        </p:spPr>
      </p:pic>
      <p:sp>
        <p:nvSpPr>
          <p:cNvPr id="28" name="TextBox 14">
            <a:extLst>
              <a:ext uri="{FF2B5EF4-FFF2-40B4-BE49-F238E27FC236}">
                <a16:creationId xmlns:a16="http://schemas.microsoft.com/office/drawing/2014/main" id="{EEE18AF4-7628-8545-46AC-76CDE548AB7A}"/>
              </a:ext>
            </a:extLst>
          </p:cNvPr>
          <p:cNvSpPr txBox="1"/>
          <p:nvPr/>
        </p:nvSpPr>
        <p:spPr>
          <a:xfrm>
            <a:off x="15041892" y="1636655"/>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Result </a:t>
            </a:r>
            <a:endParaRPr lang="en-US" sz="6384" spc="625" dirty="0">
              <a:latin typeface="Poppins"/>
              <a:ea typeface="Poppins"/>
              <a:cs typeface="Poppins"/>
              <a:sym typeface="Poppins"/>
            </a:endParaRPr>
          </a:p>
        </p:txBody>
      </p:sp>
      <p:sp>
        <p:nvSpPr>
          <p:cNvPr id="29" name="Rectangle 28">
            <a:extLst>
              <a:ext uri="{FF2B5EF4-FFF2-40B4-BE49-F238E27FC236}">
                <a16:creationId xmlns:a16="http://schemas.microsoft.com/office/drawing/2014/main" id="{D3B6A869-C4BD-4415-350A-B5A31658B81B}"/>
              </a:ext>
            </a:extLst>
          </p:cNvPr>
          <p:cNvSpPr/>
          <p:nvPr/>
        </p:nvSpPr>
        <p:spPr>
          <a:xfrm>
            <a:off x="5689763" y="7835659"/>
            <a:ext cx="5140876" cy="1776547"/>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Approach</a:t>
            </a:r>
            <a:endParaRPr lang="en-US" sz="800" b="1" dirty="0">
              <a:latin typeface="Poppins" panose="00000500000000000000" pitchFamily="2" charset="0"/>
              <a:cs typeface="Poppins" panose="00000500000000000000" pitchFamily="2" charset="0"/>
            </a:endParaRPr>
          </a:p>
          <a:p>
            <a:pPr algn="ctr"/>
            <a:endParaRPr lang="en-US" sz="8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Grouped sales by branch &amp; month.</a:t>
            </a: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Calculated month-over-month % growth using LAG().</a:t>
            </a:r>
          </a:p>
          <a:p>
            <a:pPr marL="285750" indent="-285750">
              <a:buFont typeface="Arial" panose="020B0604020202020204" pitchFamily="34" charset="0"/>
              <a:buChar char="•"/>
            </a:pPr>
            <a:r>
              <a:rPr lang="en-US" dirty="0">
                <a:latin typeface="Poppins" panose="00000500000000000000" pitchFamily="2" charset="0"/>
                <a:cs typeface="Poppins" panose="00000500000000000000" pitchFamily="2" charset="0"/>
              </a:rPr>
              <a:t>Averaged growth per branch &amp; ranked.</a:t>
            </a:r>
          </a:p>
          <a:p>
            <a:pPr algn="ctr"/>
            <a:endParaRPr lang="en-US" dirty="0">
              <a:latin typeface="Poppins" panose="00000500000000000000" pitchFamily="2" charset="0"/>
              <a:cs typeface="Poppins" panose="00000500000000000000" pitchFamily="2" charset="0"/>
            </a:endParaRPr>
          </a:p>
        </p:txBody>
      </p:sp>
      <p:pic>
        <p:nvPicPr>
          <p:cNvPr id="33" name="Picture 2">
            <a:extLst>
              <a:ext uri="{FF2B5EF4-FFF2-40B4-BE49-F238E27FC236}">
                <a16:creationId xmlns:a16="http://schemas.microsoft.com/office/drawing/2014/main" id="{87D78ED8-BB58-5770-EA96-9CAEE4E1DD4F}"/>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6154400" y="-34787"/>
            <a:ext cx="2283419" cy="1673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0150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D6FD7F-8DA2-9131-2105-FC6EF49589D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CAFBE7E-1AA8-362A-EBCC-4B8903004C79}"/>
              </a:ext>
            </a:extLst>
          </p:cNvPr>
          <p:cNvSpPr/>
          <p:nvPr/>
        </p:nvSpPr>
        <p:spPr>
          <a:xfrm>
            <a:off x="-276705" y="-1143190"/>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4" name="Group 4">
            <a:extLst>
              <a:ext uri="{FF2B5EF4-FFF2-40B4-BE49-F238E27FC236}">
                <a16:creationId xmlns:a16="http://schemas.microsoft.com/office/drawing/2014/main" id="{4445DD13-E016-FC01-9FEB-98B5FB086F7D}"/>
              </a:ext>
            </a:extLst>
          </p:cNvPr>
          <p:cNvGrpSpPr/>
          <p:nvPr/>
        </p:nvGrpSpPr>
        <p:grpSpPr>
          <a:xfrm>
            <a:off x="96806" y="1650206"/>
            <a:ext cx="13016249" cy="7412769"/>
            <a:chOff x="-1058884" y="-19050"/>
            <a:chExt cx="3428148" cy="2265151"/>
          </a:xfrm>
        </p:grpSpPr>
        <p:sp>
          <p:nvSpPr>
            <p:cNvPr id="5" name="Freeform 5">
              <a:extLst>
                <a:ext uri="{FF2B5EF4-FFF2-40B4-BE49-F238E27FC236}">
                  <a16:creationId xmlns:a16="http://schemas.microsoft.com/office/drawing/2014/main" id="{914D2385-C229-8AD3-608E-070EC180C9EA}"/>
                </a:ext>
              </a:extLst>
            </p:cNvPr>
            <p:cNvSpPr/>
            <p:nvPr/>
          </p:nvSpPr>
          <p:spPr>
            <a:xfrm>
              <a:off x="-1058884" y="305192"/>
              <a:ext cx="1309274" cy="1940909"/>
            </a:xfrm>
            <a:custGeom>
              <a:avLst/>
              <a:gdLst/>
              <a:ahLst/>
              <a:cxnLst/>
              <a:rect l="l" t="t" r="r" b="b"/>
              <a:pathLst>
                <a:path w="2369264" h="2084956">
                  <a:moveTo>
                    <a:pt x="0" y="0"/>
                  </a:moveTo>
                  <a:lnTo>
                    <a:pt x="2369264" y="0"/>
                  </a:lnTo>
                  <a:lnTo>
                    <a:pt x="2369264" y="2084956"/>
                  </a:lnTo>
                  <a:lnTo>
                    <a:pt x="0" y="2084956"/>
                  </a:lnTo>
                  <a:close/>
                </a:path>
              </a:pathLst>
            </a:custGeom>
            <a:solidFill>
              <a:schemeClr val="bg2">
                <a:lumMod val="10000"/>
              </a:schemeClr>
            </a:solidFill>
            <a:ln w="9525" cap="sq">
              <a:solidFill>
                <a:srgbClr val="2B2A2A"/>
              </a:solidFill>
              <a:prstDash val="solid"/>
              <a:miter/>
            </a:ln>
          </p:spPr>
          <p:txBody>
            <a:bodyPr/>
            <a:lstStyle/>
            <a:p>
              <a:pPr algn="ctr"/>
              <a:endParaRPr lang="en-IN" dirty="0"/>
            </a:p>
          </p:txBody>
        </p:sp>
        <p:sp>
          <p:nvSpPr>
            <p:cNvPr id="6" name="TextBox 6">
              <a:extLst>
                <a:ext uri="{FF2B5EF4-FFF2-40B4-BE49-F238E27FC236}">
                  <a16:creationId xmlns:a16="http://schemas.microsoft.com/office/drawing/2014/main" id="{5E3835A6-DF74-6749-B4DA-655BAA477BB3}"/>
                </a:ext>
              </a:extLst>
            </p:cNvPr>
            <p:cNvSpPr txBox="1"/>
            <p:nvPr/>
          </p:nvSpPr>
          <p:spPr>
            <a:xfrm>
              <a:off x="0" y="-19050"/>
              <a:ext cx="2369264" cy="2104006"/>
            </a:xfrm>
            <a:prstGeom prst="rect">
              <a:avLst/>
            </a:prstGeom>
          </p:spPr>
          <p:txBody>
            <a:bodyPr lIns="50800" tIns="50800" rIns="50800" bIns="50800" rtlCol="0" anchor="ctr"/>
            <a:lstStyle/>
            <a:p>
              <a:pPr algn="ctr">
                <a:lnSpc>
                  <a:spcPts val="2859"/>
                </a:lnSpc>
              </a:pPr>
              <a:endParaRPr/>
            </a:p>
          </p:txBody>
        </p:sp>
      </p:grpSp>
      <p:sp>
        <p:nvSpPr>
          <p:cNvPr id="7" name="TextBox 14">
            <a:extLst>
              <a:ext uri="{FF2B5EF4-FFF2-40B4-BE49-F238E27FC236}">
                <a16:creationId xmlns:a16="http://schemas.microsoft.com/office/drawing/2014/main" id="{00CD5CC9-3F7E-4D2E-25E9-5BE1892FF4A1}"/>
              </a:ext>
            </a:extLst>
          </p:cNvPr>
          <p:cNvSpPr txBox="1"/>
          <p:nvPr/>
        </p:nvSpPr>
        <p:spPr>
          <a:xfrm>
            <a:off x="301323" y="2575210"/>
            <a:ext cx="5949563" cy="932563"/>
          </a:xfrm>
          <a:prstGeom prst="rect">
            <a:avLst/>
          </a:prstGeom>
        </p:spPr>
        <p:txBody>
          <a:bodyPr lIns="0" tIns="0" rIns="0" bIns="0" rtlCol="0" anchor="t">
            <a:spAutoFit/>
          </a:bodyPr>
          <a:lstStyle/>
          <a:p>
            <a:pPr marL="0" lvl="0" indent="0" algn="l">
              <a:lnSpc>
                <a:spcPts val="8811"/>
              </a:lnSpc>
              <a:spcBef>
                <a:spcPct val="0"/>
              </a:spcBef>
            </a:pPr>
            <a:r>
              <a:rPr lang="en-US" sz="2400" spc="625" dirty="0">
                <a:solidFill>
                  <a:srgbClr val="FEFFFF"/>
                </a:solidFill>
                <a:latin typeface="Poppins"/>
                <a:ea typeface="Poppins"/>
                <a:cs typeface="Poppins"/>
                <a:sym typeface="Poppins"/>
              </a:rPr>
              <a:t>BUSINESS PROBLEM</a:t>
            </a:r>
            <a:endParaRPr lang="en-US" sz="6384" spc="625" dirty="0">
              <a:solidFill>
                <a:srgbClr val="FEFFFF"/>
              </a:solidFill>
              <a:latin typeface="Poppins"/>
              <a:ea typeface="Poppins"/>
              <a:cs typeface="Poppins"/>
              <a:sym typeface="Poppins"/>
            </a:endParaRPr>
          </a:p>
        </p:txBody>
      </p:sp>
      <p:sp>
        <p:nvSpPr>
          <p:cNvPr id="8" name="TextBox 12">
            <a:extLst>
              <a:ext uri="{FF2B5EF4-FFF2-40B4-BE49-F238E27FC236}">
                <a16:creationId xmlns:a16="http://schemas.microsoft.com/office/drawing/2014/main" id="{96DB02D1-31C7-BCBD-7BED-D88A601134B5}"/>
              </a:ext>
            </a:extLst>
          </p:cNvPr>
          <p:cNvSpPr txBox="1"/>
          <p:nvPr/>
        </p:nvSpPr>
        <p:spPr>
          <a:xfrm>
            <a:off x="267268" y="3755001"/>
            <a:ext cx="4572000" cy="2266198"/>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Walmart wants to identify the most profitable product line in each branch to focus on stocking, marketing, and improving sales in the highest-margin categories.</a:t>
            </a:r>
            <a:endParaRPr lang="en-US" sz="1975" spc="41" dirty="0">
              <a:solidFill>
                <a:schemeClr val="bg1"/>
              </a:solidFill>
              <a:latin typeface="DM Sans" pitchFamily="2" charset="0"/>
              <a:ea typeface="DM Sans"/>
              <a:cs typeface="DM Sans"/>
              <a:sym typeface="DM Sans"/>
            </a:endParaRPr>
          </a:p>
        </p:txBody>
      </p:sp>
      <p:sp>
        <p:nvSpPr>
          <p:cNvPr id="9" name="TextBox 14">
            <a:extLst>
              <a:ext uri="{FF2B5EF4-FFF2-40B4-BE49-F238E27FC236}">
                <a16:creationId xmlns:a16="http://schemas.microsoft.com/office/drawing/2014/main" id="{D69696FF-6A4C-2A6A-CE3C-0BAB8AFB8E62}"/>
              </a:ext>
            </a:extLst>
          </p:cNvPr>
          <p:cNvSpPr txBox="1"/>
          <p:nvPr/>
        </p:nvSpPr>
        <p:spPr>
          <a:xfrm>
            <a:off x="301323" y="6103883"/>
            <a:ext cx="5949563" cy="932563"/>
          </a:xfrm>
          <a:prstGeom prst="rect">
            <a:avLst/>
          </a:prstGeom>
        </p:spPr>
        <p:txBody>
          <a:bodyPr lIns="0" tIns="0" rIns="0" bIns="0" rtlCol="0" anchor="t">
            <a:spAutoFit/>
          </a:bodyPr>
          <a:lstStyle/>
          <a:p>
            <a:pPr lvl="0">
              <a:lnSpc>
                <a:spcPts val="8811"/>
              </a:lnSpc>
              <a:spcBef>
                <a:spcPct val="0"/>
              </a:spcBef>
            </a:pPr>
            <a:r>
              <a:rPr lang="en-US" sz="2400" spc="625" dirty="0">
                <a:solidFill>
                  <a:srgbClr val="FEFFFF"/>
                </a:solidFill>
                <a:latin typeface="Poppins"/>
                <a:ea typeface="Poppins"/>
                <a:cs typeface="Poppins"/>
                <a:sym typeface="Poppins"/>
              </a:rPr>
              <a:t>OBJECTIVE</a:t>
            </a:r>
            <a:endParaRPr lang="en-US" sz="6384" spc="625" dirty="0">
              <a:solidFill>
                <a:srgbClr val="FEFFFF"/>
              </a:solidFill>
              <a:latin typeface="Poppins"/>
              <a:ea typeface="Poppins"/>
              <a:cs typeface="Poppins"/>
              <a:sym typeface="Poppins"/>
            </a:endParaRPr>
          </a:p>
        </p:txBody>
      </p:sp>
      <p:sp>
        <p:nvSpPr>
          <p:cNvPr id="10" name="TextBox 12">
            <a:extLst>
              <a:ext uri="{FF2B5EF4-FFF2-40B4-BE49-F238E27FC236}">
                <a16:creationId xmlns:a16="http://schemas.microsoft.com/office/drawing/2014/main" id="{24853A68-E235-C784-6842-165F098A389D}"/>
              </a:ext>
            </a:extLst>
          </p:cNvPr>
          <p:cNvSpPr txBox="1"/>
          <p:nvPr/>
        </p:nvSpPr>
        <p:spPr>
          <a:xfrm>
            <a:off x="281445" y="7243822"/>
            <a:ext cx="4572000" cy="1799339"/>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Find the product line in each branch that generates the highest profit (Gross Income – COGS).</a:t>
            </a:r>
          </a:p>
          <a:p>
            <a:pPr>
              <a:lnSpc>
                <a:spcPct val="150000"/>
              </a:lnSpc>
            </a:pPr>
            <a:endParaRPr lang="en-US" sz="1975" spc="41" dirty="0">
              <a:solidFill>
                <a:schemeClr val="bg1"/>
              </a:solidFill>
              <a:latin typeface="DM Sans" pitchFamily="2" charset="0"/>
              <a:ea typeface="DM Sans"/>
              <a:cs typeface="DM Sans"/>
              <a:sym typeface="DM Sans"/>
            </a:endParaRPr>
          </a:p>
        </p:txBody>
      </p:sp>
      <p:sp>
        <p:nvSpPr>
          <p:cNvPr id="11" name="TextBox 4">
            <a:extLst>
              <a:ext uri="{FF2B5EF4-FFF2-40B4-BE49-F238E27FC236}">
                <a16:creationId xmlns:a16="http://schemas.microsoft.com/office/drawing/2014/main" id="{A303C662-7E34-AB09-489F-AFD71D74C9CA}"/>
              </a:ext>
            </a:extLst>
          </p:cNvPr>
          <p:cNvSpPr txBox="1"/>
          <p:nvPr/>
        </p:nvSpPr>
        <p:spPr>
          <a:xfrm>
            <a:off x="3200400" y="419100"/>
            <a:ext cx="11530731" cy="1231106"/>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 2 – Most Profitable Product Line for Each Branch</a:t>
            </a:r>
            <a:endParaRPr lang="en-US" sz="4000" b="1" spc="1212" dirty="0">
              <a:solidFill>
                <a:srgbClr val="2B2A2A"/>
              </a:solidFill>
              <a:latin typeface="Poppins Bold" panose="00000800000000000000" charset="0"/>
              <a:ea typeface="Poppins Bold"/>
              <a:cs typeface="Poppins Bold" panose="00000800000000000000" charset="0"/>
              <a:sym typeface="Poppins Bold"/>
            </a:endParaRPr>
          </a:p>
        </p:txBody>
      </p:sp>
      <p:sp>
        <p:nvSpPr>
          <p:cNvPr id="12" name="TextBox 14">
            <a:extLst>
              <a:ext uri="{FF2B5EF4-FFF2-40B4-BE49-F238E27FC236}">
                <a16:creationId xmlns:a16="http://schemas.microsoft.com/office/drawing/2014/main" id="{E945C1EE-2527-1144-1CFE-C5E1CFFE8FEA}"/>
              </a:ext>
            </a:extLst>
          </p:cNvPr>
          <p:cNvSpPr txBox="1"/>
          <p:nvPr/>
        </p:nvSpPr>
        <p:spPr>
          <a:xfrm>
            <a:off x="6313324" y="1522567"/>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SQL Query </a:t>
            </a:r>
            <a:endParaRPr lang="en-US" sz="6384" spc="625" dirty="0">
              <a:latin typeface="Poppins"/>
              <a:ea typeface="Poppins"/>
              <a:cs typeface="Poppins"/>
              <a:sym typeface="Poppins"/>
            </a:endParaRPr>
          </a:p>
        </p:txBody>
      </p:sp>
      <p:pic>
        <p:nvPicPr>
          <p:cNvPr id="16" name="Picture 15" descr="A screenshot of a computer program&#10;&#10;AI-generated content may be incorrect.">
            <a:extLst>
              <a:ext uri="{FF2B5EF4-FFF2-40B4-BE49-F238E27FC236}">
                <a16:creationId xmlns:a16="http://schemas.microsoft.com/office/drawing/2014/main" id="{10DF1352-5C02-B5C9-0580-FE2DD85590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4582" y="2645270"/>
            <a:ext cx="6428506" cy="6345372"/>
          </a:xfrm>
          <a:prstGeom prst="rect">
            <a:avLst/>
          </a:prstGeom>
        </p:spPr>
      </p:pic>
      <p:graphicFrame>
        <p:nvGraphicFramePr>
          <p:cNvPr id="17" name="Table 16">
            <a:extLst>
              <a:ext uri="{FF2B5EF4-FFF2-40B4-BE49-F238E27FC236}">
                <a16:creationId xmlns:a16="http://schemas.microsoft.com/office/drawing/2014/main" id="{F8135CCC-E939-5E2E-3C45-22463DF8A9A0}"/>
              </a:ext>
            </a:extLst>
          </p:cNvPr>
          <p:cNvGraphicFramePr>
            <a:graphicFrameLocks noGrp="1"/>
          </p:cNvGraphicFramePr>
          <p:nvPr>
            <p:extLst>
              <p:ext uri="{D42A27DB-BD31-4B8C-83A1-F6EECF244321}">
                <p14:modId xmlns:p14="http://schemas.microsoft.com/office/powerpoint/2010/main" val="1956741548"/>
              </p:ext>
            </p:extLst>
          </p:nvPr>
        </p:nvGraphicFramePr>
        <p:xfrm>
          <a:off x="11607562" y="2653886"/>
          <a:ext cx="6629400" cy="1219200"/>
        </p:xfrm>
        <a:graphic>
          <a:graphicData uri="http://schemas.openxmlformats.org/drawingml/2006/table">
            <a:tbl>
              <a:tblPr/>
              <a:tblGrid>
                <a:gridCol w="889000">
                  <a:extLst>
                    <a:ext uri="{9D8B030D-6E8A-4147-A177-3AD203B41FA5}">
                      <a16:colId xmlns:a16="http://schemas.microsoft.com/office/drawing/2014/main" val="2511271309"/>
                    </a:ext>
                  </a:extLst>
                </a:gridCol>
                <a:gridCol w="2044700">
                  <a:extLst>
                    <a:ext uri="{9D8B030D-6E8A-4147-A177-3AD203B41FA5}">
                      <a16:colId xmlns:a16="http://schemas.microsoft.com/office/drawing/2014/main" val="3328015005"/>
                    </a:ext>
                  </a:extLst>
                </a:gridCol>
                <a:gridCol w="1638300">
                  <a:extLst>
                    <a:ext uri="{9D8B030D-6E8A-4147-A177-3AD203B41FA5}">
                      <a16:colId xmlns:a16="http://schemas.microsoft.com/office/drawing/2014/main" val="4036804046"/>
                    </a:ext>
                  </a:extLst>
                </a:gridCol>
                <a:gridCol w="2057400">
                  <a:extLst>
                    <a:ext uri="{9D8B030D-6E8A-4147-A177-3AD203B41FA5}">
                      <a16:colId xmlns:a16="http://schemas.microsoft.com/office/drawing/2014/main" val="2202658780"/>
                    </a:ext>
                  </a:extLst>
                </a:gridCol>
              </a:tblGrid>
              <a:tr h="304800">
                <a:tc>
                  <a:txBody>
                    <a:bodyPr/>
                    <a:lstStyle/>
                    <a:p>
                      <a:pPr algn="ctr" fontAlgn="ctr">
                        <a:buNone/>
                      </a:pPr>
                      <a:r>
                        <a:rPr lang="en-IN" sz="1800" b="1" i="0" u="none" strike="noStrike">
                          <a:solidFill>
                            <a:srgbClr val="FFFFFF"/>
                          </a:solidFill>
                          <a:effectLst/>
                          <a:latin typeface="Aptos Narrow" panose="020B0004020202020204" pitchFamily="34" charset="0"/>
                        </a:rPr>
                        <a:t>Branch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800" b="1" i="0" u="none" strike="noStrike">
                          <a:solidFill>
                            <a:srgbClr val="FFFFFF"/>
                          </a:solidFill>
                          <a:effectLst/>
                          <a:latin typeface="Aptos Narrow" panose="020B0004020202020204" pitchFamily="34" charset="0"/>
                        </a:rPr>
                        <a:t>Product_Line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800" b="1" i="0" u="none" strike="noStrike">
                          <a:solidFill>
                            <a:srgbClr val="FFFFFF"/>
                          </a:solidFill>
                          <a:effectLst/>
                          <a:latin typeface="Aptos Narrow" panose="020B0004020202020204" pitchFamily="34" charset="0"/>
                        </a:rPr>
                        <a:t>Profit_Amount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800" b="1" i="0" u="none" strike="noStrike">
                          <a:solidFill>
                            <a:srgbClr val="FFFFFF"/>
                          </a:solidFill>
                          <a:effectLst/>
                          <a:latin typeface="Aptos Narrow" panose="020B0004020202020204" pitchFamily="34" charset="0"/>
                        </a:rPr>
                        <a:t>Profit_Margin_Ratio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839264766"/>
                  </a:ext>
                </a:extLst>
              </a:tr>
              <a:tr h="304800">
                <a:tc>
                  <a:txBody>
                    <a:bodyPr/>
                    <a:lstStyle/>
                    <a:p>
                      <a:pPr algn="ctr" fontAlgn="ctr">
                        <a:buNone/>
                      </a:pPr>
                      <a:r>
                        <a:rPr lang="en-IN" sz="1800" b="0" i="0" u="none" strike="noStrike">
                          <a:solidFill>
                            <a:srgbClr val="000000"/>
                          </a:solidFill>
                          <a:effectLst/>
                          <a:latin typeface="Aptos Narrow" panose="020B0004020202020204" pitchFamily="34" charset="0"/>
                        </a:rPr>
                        <a:t>A</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a:solidFill>
                            <a:srgbClr val="000000"/>
                          </a:solidFill>
                          <a:effectLst/>
                          <a:latin typeface="Aptos Narrow" panose="020B0004020202020204" pitchFamily="34" charset="0"/>
                        </a:rPr>
                        <a:t>Health and beauty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dirty="0">
                          <a:solidFill>
                            <a:srgbClr val="000000"/>
                          </a:solidFill>
                          <a:effectLst/>
                          <a:latin typeface="Aptos Narrow" panose="020B0004020202020204" pitchFamily="34" charset="0"/>
                        </a:rPr>
                        <a:t>-11397.967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D40"/>
                    </a:solidFill>
                  </a:tcPr>
                </a:tc>
                <a:tc>
                  <a:txBody>
                    <a:bodyPr/>
                    <a:lstStyle/>
                    <a:p>
                      <a:pPr algn="ctr" fontAlgn="ctr">
                        <a:buNone/>
                      </a:pPr>
                      <a:r>
                        <a:rPr lang="en-IN" sz="1800" b="0" i="0" u="none" strike="noStrike" dirty="0">
                          <a:solidFill>
                            <a:srgbClr val="000000"/>
                          </a:solidFill>
                          <a:effectLst/>
                          <a:latin typeface="Aptos Narrow" panose="020B0004020202020204" pitchFamily="34" charset="0"/>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extLst>
                  <a:ext uri="{0D108BD9-81ED-4DB2-BD59-A6C34878D82A}">
                    <a16:rowId xmlns:a16="http://schemas.microsoft.com/office/drawing/2014/main" val="1513723417"/>
                  </a:ext>
                </a:extLst>
              </a:tr>
              <a:tr h="304800">
                <a:tc>
                  <a:txBody>
                    <a:bodyPr/>
                    <a:lstStyle/>
                    <a:p>
                      <a:pPr algn="ctr" fontAlgn="ctr">
                        <a:buNone/>
                      </a:pPr>
                      <a:r>
                        <a:rPr lang="en-IN" sz="1800" b="0" i="0" u="none" strike="noStrike">
                          <a:solidFill>
                            <a:srgbClr val="000000"/>
                          </a:solidFill>
                          <a:effectLst/>
                          <a:latin typeface="Aptos Narrow" panose="020B0004020202020204" pitchFamily="34" charset="0"/>
                        </a:rPr>
                        <a:t>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dirty="0">
                          <a:solidFill>
                            <a:srgbClr val="000000"/>
                          </a:solidFill>
                          <a:effectLst/>
                          <a:latin typeface="Aptos Narrow" panose="020B0004020202020204" pitchFamily="34" charset="0"/>
                        </a:rPr>
                        <a:t>Food and beverages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dirty="0">
                          <a:solidFill>
                            <a:srgbClr val="000000"/>
                          </a:solidFill>
                          <a:effectLst/>
                          <a:latin typeface="Aptos Narrow" panose="020B0004020202020204" pitchFamily="34" charset="0"/>
                        </a:rPr>
                        <a:t>-13765.8515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D40"/>
                    </a:solidFill>
                  </a:tcPr>
                </a:tc>
                <a:tc>
                  <a:txBody>
                    <a:bodyPr/>
                    <a:lstStyle/>
                    <a:p>
                      <a:pPr algn="ctr" fontAlgn="ctr">
                        <a:buNone/>
                      </a:pPr>
                      <a:r>
                        <a:rPr lang="en-IN" sz="1800" b="0" i="0" u="none" strike="noStrike" dirty="0">
                          <a:solidFill>
                            <a:srgbClr val="000000"/>
                          </a:solidFill>
                          <a:effectLst/>
                          <a:latin typeface="Aptos Narrow" panose="020B0004020202020204" pitchFamily="34" charset="0"/>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extLst>
                  <a:ext uri="{0D108BD9-81ED-4DB2-BD59-A6C34878D82A}">
                    <a16:rowId xmlns:a16="http://schemas.microsoft.com/office/drawing/2014/main" val="3000707667"/>
                  </a:ext>
                </a:extLst>
              </a:tr>
              <a:tr h="304800">
                <a:tc>
                  <a:txBody>
                    <a:bodyPr/>
                    <a:lstStyle/>
                    <a:p>
                      <a:pPr algn="ctr" fontAlgn="ctr">
                        <a:buNone/>
                      </a:pPr>
                      <a:r>
                        <a:rPr lang="en-IN" sz="1800" b="0" i="0" u="none" strike="noStrike">
                          <a:solidFill>
                            <a:srgbClr val="000000"/>
                          </a:solidFill>
                          <a:effectLst/>
                          <a:latin typeface="Aptos Narrow" panose="020B0004020202020204" pitchFamily="34" charset="0"/>
                        </a:rPr>
                        <a:t>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a:solidFill>
                            <a:srgbClr val="000000"/>
                          </a:solidFill>
                          <a:effectLst/>
                          <a:latin typeface="Aptos Narrow" panose="020B0004020202020204" pitchFamily="34" charset="0"/>
                        </a:rPr>
                        <a:t>Home and lifestyle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dirty="0">
                          <a:solidFill>
                            <a:srgbClr val="000000"/>
                          </a:solidFill>
                          <a:effectLst/>
                          <a:latin typeface="Aptos Narrow" panose="020B0004020202020204" pitchFamily="34" charset="0"/>
                        </a:rPr>
                        <a:t>-12572.167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D40"/>
                    </a:solidFill>
                  </a:tcPr>
                </a:tc>
                <a:tc>
                  <a:txBody>
                    <a:bodyPr/>
                    <a:lstStyle/>
                    <a:p>
                      <a:pPr algn="ctr" fontAlgn="ctr">
                        <a:buNone/>
                      </a:pPr>
                      <a:r>
                        <a:rPr lang="en-IN" sz="1800" b="0" i="0" u="none" strike="noStrike" dirty="0">
                          <a:solidFill>
                            <a:srgbClr val="000000"/>
                          </a:solidFill>
                          <a:effectLst/>
                          <a:latin typeface="Aptos Narrow" panose="020B0004020202020204" pitchFamily="34" charset="0"/>
                        </a:rPr>
                        <a:t>0.05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extLst>
                  <a:ext uri="{0D108BD9-81ED-4DB2-BD59-A6C34878D82A}">
                    <a16:rowId xmlns:a16="http://schemas.microsoft.com/office/drawing/2014/main" val="2155210169"/>
                  </a:ext>
                </a:extLst>
              </a:tr>
            </a:tbl>
          </a:graphicData>
        </a:graphic>
      </p:graphicFrame>
      <p:sp>
        <p:nvSpPr>
          <p:cNvPr id="19" name="TextBox 14">
            <a:extLst>
              <a:ext uri="{FF2B5EF4-FFF2-40B4-BE49-F238E27FC236}">
                <a16:creationId xmlns:a16="http://schemas.microsoft.com/office/drawing/2014/main" id="{BB120A86-D779-6955-1A15-19E14803A498}"/>
              </a:ext>
            </a:extLst>
          </p:cNvPr>
          <p:cNvSpPr txBox="1"/>
          <p:nvPr/>
        </p:nvSpPr>
        <p:spPr>
          <a:xfrm>
            <a:off x="13967020" y="1522568"/>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Result </a:t>
            </a:r>
            <a:endParaRPr lang="en-US" sz="6384" spc="625" dirty="0">
              <a:latin typeface="Poppins"/>
              <a:ea typeface="Poppins"/>
              <a:cs typeface="Poppins"/>
              <a:sym typeface="Poppins"/>
            </a:endParaRPr>
          </a:p>
        </p:txBody>
      </p:sp>
      <p:sp>
        <p:nvSpPr>
          <p:cNvPr id="21" name="Rectangle 20">
            <a:extLst>
              <a:ext uri="{FF2B5EF4-FFF2-40B4-BE49-F238E27FC236}">
                <a16:creationId xmlns:a16="http://schemas.microsoft.com/office/drawing/2014/main" id="{BD4096C7-0728-B37D-23E5-0D1F54C09031}"/>
              </a:ext>
            </a:extLst>
          </p:cNvPr>
          <p:cNvSpPr/>
          <p:nvPr/>
        </p:nvSpPr>
        <p:spPr>
          <a:xfrm>
            <a:off x="12160692" y="4059139"/>
            <a:ext cx="5441507" cy="817627"/>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Insight</a:t>
            </a:r>
          </a:p>
          <a:p>
            <a:pPr algn="ctr"/>
            <a:r>
              <a:rPr lang="en-US" dirty="0"/>
              <a:t>Profitability varies by branch — tailored strategies will outperform one-size-fits-all approaches.</a:t>
            </a:r>
            <a:endParaRPr lang="en-US" b="1" dirty="0">
              <a:latin typeface="Poppins" panose="00000500000000000000" pitchFamily="2" charset="0"/>
              <a:cs typeface="Poppins" panose="00000500000000000000" pitchFamily="2" charset="0"/>
            </a:endParaRPr>
          </a:p>
        </p:txBody>
      </p:sp>
      <p:sp>
        <p:nvSpPr>
          <p:cNvPr id="22" name="Rectangle 21">
            <a:extLst>
              <a:ext uri="{FF2B5EF4-FFF2-40B4-BE49-F238E27FC236}">
                <a16:creationId xmlns:a16="http://schemas.microsoft.com/office/drawing/2014/main" id="{6DAC412F-43E3-004E-58DB-1C8A7E1765DB}"/>
              </a:ext>
            </a:extLst>
          </p:cNvPr>
          <p:cNvSpPr/>
          <p:nvPr/>
        </p:nvSpPr>
        <p:spPr>
          <a:xfrm>
            <a:off x="5562600" y="8909033"/>
            <a:ext cx="5140876" cy="1103190"/>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Approach</a:t>
            </a:r>
            <a:endParaRPr lang="en-US" sz="800" b="1" dirty="0">
              <a:latin typeface="Poppins" panose="00000500000000000000" pitchFamily="2" charset="0"/>
              <a:cs typeface="Poppins" panose="00000500000000000000" pitchFamily="2" charset="0"/>
            </a:endParaRPr>
          </a:p>
          <a:p>
            <a:endParaRPr lang="en-US" sz="800" dirty="0">
              <a:latin typeface="Poppins" panose="00000500000000000000" pitchFamily="2" charset="0"/>
              <a:cs typeface="Poppins" panose="00000500000000000000" pitchFamily="2" charset="0"/>
            </a:endParaRPr>
          </a:p>
          <a:p>
            <a:r>
              <a:rPr lang="en-US" sz="1400" dirty="0">
                <a:latin typeface="Poppins" panose="00000500000000000000" pitchFamily="2" charset="0"/>
                <a:cs typeface="Poppins" panose="00000500000000000000" pitchFamily="2" charset="0"/>
              </a:rPr>
              <a:t>Calculated profit (gross_income - cogs) per branch &amp; product line, ranked them using ROW_NUMBER(), and selected the top product line for each branch.</a:t>
            </a:r>
          </a:p>
        </p:txBody>
      </p:sp>
      <p:graphicFrame>
        <p:nvGraphicFramePr>
          <p:cNvPr id="25" name="Chart 24">
            <a:extLst>
              <a:ext uri="{FF2B5EF4-FFF2-40B4-BE49-F238E27FC236}">
                <a16:creationId xmlns:a16="http://schemas.microsoft.com/office/drawing/2014/main" id="{22FC3CC1-D113-C20C-CF3B-D54555B73E2D}"/>
              </a:ext>
            </a:extLst>
          </p:cNvPr>
          <p:cNvGraphicFramePr>
            <a:graphicFrameLocks/>
          </p:cNvGraphicFramePr>
          <p:nvPr>
            <p:extLst>
              <p:ext uri="{D42A27DB-BD31-4B8C-83A1-F6EECF244321}">
                <p14:modId xmlns:p14="http://schemas.microsoft.com/office/powerpoint/2010/main" val="1313783864"/>
              </p:ext>
            </p:extLst>
          </p:nvPr>
        </p:nvGraphicFramePr>
        <p:xfrm>
          <a:off x="11535797" y="5120889"/>
          <a:ext cx="6701165" cy="5111665"/>
        </p:xfrm>
        <a:graphic>
          <a:graphicData uri="http://schemas.openxmlformats.org/drawingml/2006/chart">
            <c:chart xmlns:c="http://schemas.openxmlformats.org/drawingml/2006/chart" xmlns:r="http://schemas.openxmlformats.org/officeDocument/2006/relationships" r:id="rId5"/>
          </a:graphicData>
        </a:graphic>
      </p:graphicFrame>
      <p:pic>
        <p:nvPicPr>
          <p:cNvPr id="26" name="Picture 2">
            <a:extLst>
              <a:ext uri="{FF2B5EF4-FFF2-40B4-BE49-F238E27FC236}">
                <a16:creationId xmlns:a16="http://schemas.microsoft.com/office/drawing/2014/main" id="{61C92759-272E-B5DB-66A7-C1A45713F106}"/>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6154400" y="-34787"/>
            <a:ext cx="2283419" cy="1673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5650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45572-98D2-7D4D-F9C2-C4D59D5ED02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84E18E2F-A6C2-030D-3D70-44A5EC299313}"/>
              </a:ext>
            </a:extLst>
          </p:cNvPr>
          <p:cNvSpPr/>
          <p:nvPr/>
        </p:nvSpPr>
        <p:spPr>
          <a:xfrm>
            <a:off x="-276705" y="-1143190"/>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4" name="Group 4">
            <a:extLst>
              <a:ext uri="{FF2B5EF4-FFF2-40B4-BE49-F238E27FC236}">
                <a16:creationId xmlns:a16="http://schemas.microsoft.com/office/drawing/2014/main" id="{C724CEAA-EB7B-D9DE-4A8E-D0A814234229}"/>
              </a:ext>
            </a:extLst>
          </p:cNvPr>
          <p:cNvGrpSpPr/>
          <p:nvPr/>
        </p:nvGrpSpPr>
        <p:grpSpPr>
          <a:xfrm>
            <a:off x="783892" y="1058694"/>
            <a:ext cx="11530731" cy="7201111"/>
            <a:chOff x="-1058884" y="-19050"/>
            <a:chExt cx="3428148" cy="2265151"/>
          </a:xfrm>
        </p:grpSpPr>
        <p:sp>
          <p:nvSpPr>
            <p:cNvPr id="5" name="Freeform 5">
              <a:extLst>
                <a:ext uri="{FF2B5EF4-FFF2-40B4-BE49-F238E27FC236}">
                  <a16:creationId xmlns:a16="http://schemas.microsoft.com/office/drawing/2014/main" id="{9C55D29E-56F6-1809-2084-B27819D37E68}"/>
                </a:ext>
              </a:extLst>
            </p:cNvPr>
            <p:cNvSpPr/>
            <p:nvPr/>
          </p:nvSpPr>
          <p:spPr>
            <a:xfrm>
              <a:off x="-1058884" y="305192"/>
              <a:ext cx="1309274" cy="1940909"/>
            </a:xfrm>
            <a:custGeom>
              <a:avLst/>
              <a:gdLst/>
              <a:ahLst/>
              <a:cxnLst/>
              <a:rect l="l" t="t" r="r" b="b"/>
              <a:pathLst>
                <a:path w="2369264" h="2084956">
                  <a:moveTo>
                    <a:pt x="0" y="0"/>
                  </a:moveTo>
                  <a:lnTo>
                    <a:pt x="2369264" y="0"/>
                  </a:lnTo>
                  <a:lnTo>
                    <a:pt x="2369264" y="2084956"/>
                  </a:lnTo>
                  <a:lnTo>
                    <a:pt x="0" y="2084956"/>
                  </a:lnTo>
                  <a:close/>
                </a:path>
              </a:pathLst>
            </a:custGeom>
            <a:solidFill>
              <a:schemeClr val="bg2">
                <a:lumMod val="10000"/>
              </a:schemeClr>
            </a:solidFill>
            <a:ln w="9525" cap="sq">
              <a:solidFill>
                <a:srgbClr val="2B2A2A"/>
              </a:solidFill>
              <a:prstDash val="solid"/>
              <a:miter/>
            </a:ln>
          </p:spPr>
          <p:txBody>
            <a:bodyPr/>
            <a:lstStyle/>
            <a:p>
              <a:pPr algn="ctr"/>
              <a:endParaRPr lang="en-IN" dirty="0"/>
            </a:p>
          </p:txBody>
        </p:sp>
        <p:sp>
          <p:nvSpPr>
            <p:cNvPr id="6" name="TextBox 6">
              <a:extLst>
                <a:ext uri="{FF2B5EF4-FFF2-40B4-BE49-F238E27FC236}">
                  <a16:creationId xmlns:a16="http://schemas.microsoft.com/office/drawing/2014/main" id="{BAE286F8-6AA3-8053-9833-C3C9A1750050}"/>
                </a:ext>
              </a:extLst>
            </p:cNvPr>
            <p:cNvSpPr txBox="1"/>
            <p:nvPr/>
          </p:nvSpPr>
          <p:spPr>
            <a:xfrm>
              <a:off x="0" y="-19050"/>
              <a:ext cx="2369264" cy="2104006"/>
            </a:xfrm>
            <a:prstGeom prst="rect">
              <a:avLst/>
            </a:prstGeom>
          </p:spPr>
          <p:txBody>
            <a:bodyPr lIns="50800" tIns="50800" rIns="50800" bIns="50800" rtlCol="0" anchor="ctr"/>
            <a:lstStyle/>
            <a:p>
              <a:pPr algn="ctr">
                <a:lnSpc>
                  <a:spcPts val="2859"/>
                </a:lnSpc>
              </a:pPr>
              <a:endParaRPr/>
            </a:p>
          </p:txBody>
        </p:sp>
      </p:grpSp>
      <p:sp>
        <p:nvSpPr>
          <p:cNvPr id="7" name="TextBox 14">
            <a:extLst>
              <a:ext uri="{FF2B5EF4-FFF2-40B4-BE49-F238E27FC236}">
                <a16:creationId xmlns:a16="http://schemas.microsoft.com/office/drawing/2014/main" id="{FEE47B31-4B8C-4514-175E-4EBB9B552337}"/>
              </a:ext>
            </a:extLst>
          </p:cNvPr>
          <p:cNvSpPr txBox="1"/>
          <p:nvPr/>
        </p:nvSpPr>
        <p:spPr>
          <a:xfrm>
            <a:off x="890332" y="2255503"/>
            <a:ext cx="5949563" cy="932563"/>
          </a:xfrm>
          <a:prstGeom prst="rect">
            <a:avLst/>
          </a:prstGeom>
        </p:spPr>
        <p:txBody>
          <a:bodyPr lIns="0" tIns="0" rIns="0" bIns="0" rtlCol="0" anchor="t">
            <a:spAutoFit/>
          </a:bodyPr>
          <a:lstStyle/>
          <a:p>
            <a:pPr marL="0" lvl="0" indent="0" algn="l">
              <a:lnSpc>
                <a:spcPts val="8811"/>
              </a:lnSpc>
              <a:spcBef>
                <a:spcPct val="0"/>
              </a:spcBef>
            </a:pPr>
            <a:r>
              <a:rPr lang="en-US" sz="2400" spc="625" dirty="0">
                <a:solidFill>
                  <a:srgbClr val="FEFFFF"/>
                </a:solidFill>
                <a:latin typeface="Poppins"/>
                <a:ea typeface="Poppins"/>
                <a:cs typeface="Poppins"/>
                <a:sym typeface="Poppins"/>
              </a:rPr>
              <a:t>BUSINESS PROBLEM</a:t>
            </a:r>
            <a:endParaRPr lang="en-US" sz="6384" spc="625" dirty="0">
              <a:solidFill>
                <a:srgbClr val="FEFFFF"/>
              </a:solidFill>
              <a:latin typeface="Poppins"/>
              <a:ea typeface="Poppins"/>
              <a:cs typeface="Poppins"/>
              <a:sym typeface="Poppins"/>
            </a:endParaRPr>
          </a:p>
        </p:txBody>
      </p:sp>
      <p:sp>
        <p:nvSpPr>
          <p:cNvPr id="8" name="TextBox 12">
            <a:extLst>
              <a:ext uri="{FF2B5EF4-FFF2-40B4-BE49-F238E27FC236}">
                <a16:creationId xmlns:a16="http://schemas.microsoft.com/office/drawing/2014/main" id="{55AA5B47-FCDC-01D5-A486-6D74973286A9}"/>
              </a:ext>
            </a:extLst>
          </p:cNvPr>
          <p:cNvSpPr txBox="1"/>
          <p:nvPr/>
        </p:nvSpPr>
        <p:spPr>
          <a:xfrm>
            <a:off x="1051702" y="3304929"/>
            <a:ext cx="4197179" cy="2266198"/>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Walmart needs to identify customer segments based on spending behavior to design targeted promotions, loyalty programs, and personalized offers.</a:t>
            </a:r>
            <a:endParaRPr lang="en-US" sz="1975" spc="41" dirty="0">
              <a:solidFill>
                <a:schemeClr val="bg1"/>
              </a:solidFill>
              <a:latin typeface="DM Sans" pitchFamily="2" charset="0"/>
              <a:ea typeface="DM Sans"/>
              <a:cs typeface="DM Sans"/>
              <a:sym typeface="DM Sans"/>
            </a:endParaRPr>
          </a:p>
        </p:txBody>
      </p:sp>
      <p:sp>
        <p:nvSpPr>
          <p:cNvPr id="9" name="TextBox 14">
            <a:extLst>
              <a:ext uri="{FF2B5EF4-FFF2-40B4-BE49-F238E27FC236}">
                <a16:creationId xmlns:a16="http://schemas.microsoft.com/office/drawing/2014/main" id="{666ED34A-9E0A-537A-1F1A-ECB386395917}"/>
              </a:ext>
            </a:extLst>
          </p:cNvPr>
          <p:cNvSpPr txBox="1"/>
          <p:nvPr/>
        </p:nvSpPr>
        <p:spPr>
          <a:xfrm>
            <a:off x="1675580" y="5284108"/>
            <a:ext cx="5949563" cy="932563"/>
          </a:xfrm>
          <a:prstGeom prst="rect">
            <a:avLst/>
          </a:prstGeom>
        </p:spPr>
        <p:txBody>
          <a:bodyPr lIns="0" tIns="0" rIns="0" bIns="0" rtlCol="0" anchor="t">
            <a:spAutoFit/>
          </a:bodyPr>
          <a:lstStyle/>
          <a:p>
            <a:pPr lvl="0">
              <a:lnSpc>
                <a:spcPts val="8811"/>
              </a:lnSpc>
              <a:spcBef>
                <a:spcPct val="0"/>
              </a:spcBef>
            </a:pPr>
            <a:r>
              <a:rPr lang="en-US" sz="2400" spc="625" dirty="0">
                <a:solidFill>
                  <a:srgbClr val="FEFFFF"/>
                </a:solidFill>
                <a:latin typeface="Poppins"/>
                <a:ea typeface="Poppins"/>
                <a:cs typeface="Poppins"/>
                <a:sym typeface="Poppins"/>
              </a:rPr>
              <a:t>OBJECTIVE</a:t>
            </a:r>
            <a:endParaRPr lang="en-US" sz="6384" spc="625" dirty="0">
              <a:solidFill>
                <a:srgbClr val="FEFFFF"/>
              </a:solidFill>
              <a:latin typeface="Poppins"/>
              <a:ea typeface="Poppins"/>
              <a:cs typeface="Poppins"/>
              <a:sym typeface="Poppins"/>
            </a:endParaRPr>
          </a:p>
        </p:txBody>
      </p:sp>
      <p:sp>
        <p:nvSpPr>
          <p:cNvPr id="10" name="TextBox 12">
            <a:extLst>
              <a:ext uri="{FF2B5EF4-FFF2-40B4-BE49-F238E27FC236}">
                <a16:creationId xmlns:a16="http://schemas.microsoft.com/office/drawing/2014/main" id="{719E10B8-D162-7C31-71EA-1575B05223DE}"/>
              </a:ext>
            </a:extLst>
          </p:cNvPr>
          <p:cNvSpPr txBox="1"/>
          <p:nvPr/>
        </p:nvSpPr>
        <p:spPr>
          <a:xfrm>
            <a:off x="1100001" y="6245530"/>
            <a:ext cx="4148880" cy="1804533"/>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Classify customers into High, Medium, and Low spenders based on total spend and analyze the count in each group.</a:t>
            </a:r>
            <a:endParaRPr lang="en-US" sz="1975" spc="41" dirty="0">
              <a:solidFill>
                <a:schemeClr val="bg1"/>
              </a:solidFill>
              <a:latin typeface="DM Sans" pitchFamily="2" charset="0"/>
              <a:ea typeface="DM Sans"/>
              <a:cs typeface="DM Sans"/>
              <a:sym typeface="DM Sans"/>
            </a:endParaRPr>
          </a:p>
        </p:txBody>
      </p:sp>
      <p:sp>
        <p:nvSpPr>
          <p:cNvPr id="11" name="TextBox 4">
            <a:extLst>
              <a:ext uri="{FF2B5EF4-FFF2-40B4-BE49-F238E27FC236}">
                <a16:creationId xmlns:a16="http://schemas.microsoft.com/office/drawing/2014/main" id="{C1983AD3-5EB5-847A-82BF-86B9AC74A8BD}"/>
              </a:ext>
            </a:extLst>
          </p:cNvPr>
          <p:cNvSpPr txBox="1"/>
          <p:nvPr/>
        </p:nvSpPr>
        <p:spPr>
          <a:xfrm>
            <a:off x="3200400" y="419100"/>
            <a:ext cx="11530731" cy="1231106"/>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 3 – Customer Segmentation by Spending Tiers</a:t>
            </a:r>
            <a:endParaRPr lang="en-US" sz="4000" b="1" spc="1212" dirty="0">
              <a:solidFill>
                <a:srgbClr val="2B2A2A"/>
              </a:solidFill>
              <a:latin typeface="Poppins Bold" panose="00000800000000000000" charset="0"/>
              <a:ea typeface="Poppins Bold"/>
              <a:cs typeface="Poppins Bold" panose="00000800000000000000" charset="0"/>
              <a:sym typeface="Poppins Bold"/>
            </a:endParaRPr>
          </a:p>
        </p:txBody>
      </p:sp>
      <p:sp>
        <p:nvSpPr>
          <p:cNvPr id="12" name="TextBox 14">
            <a:extLst>
              <a:ext uri="{FF2B5EF4-FFF2-40B4-BE49-F238E27FC236}">
                <a16:creationId xmlns:a16="http://schemas.microsoft.com/office/drawing/2014/main" id="{7598453A-8D0F-10F3-82BE-7EA77EDDF4E6}"/>
              </a:ext>
            </a:extLst>
          </p:cNvPr>
          <p:cNvSpPr txBox="1"/>
          <p:nvPr/>
        </p:nvSpPr>
        <p:spPr>
          <a:xfrm>
            <a:off x="6956752" y="1446631"/>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SQL Query </a:t>
            </a:r>
            <a:endParaRPr lang="en-US" sz="6384" spc="625" dirty="0">
              <a:latin typeface="Poppins"/>
              <a:ea typeface="Poppins"/>
              <a:cs typeface="Poppins"/>
              <a:sym typeface="Poppins"/>
            </a:endParaRPr>
          </a:p>
        </p:txBody>
      </p:sp>
      <p:sp>
        <p:nvSpPr>
          <p:cNvPr id="19" name="TextBox 14">
            <a:extLst>
              <a:ext uri="{FF2B5EF4-FFF2-40B4-BE49-F238E27FC236}">
                <a16:creationId xmlns:a16="http://schemas.microsoft.com/office/drawing/2014/main" id="{09CE2D61-9468-7DE4-0660-EBA531AA22D5}"/>
              </a:ext>
            </a:extLst>
          </p:cNvPr>
          <p:cNvSpPr txBox="1"/>
          <p:nvPr/>
        </p:nvSpPr>
        <p:spPr>
          <a:xfrm>
            <a:off x="13925980" y="1025490"/>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Result </a:t>
            </a:r>
            <a:endParaRPr lang="en-US" sz="6384" spc="625" dirty="0">
              <a:latin typeface="Poppins"/>
              <a:ea typeface="Poppins"/>
              <a:cs typeface="Poppins"/>
              <a:sym typeface="Poppins"/>
            </a:endParaRPr>
          </a:p>
        </p:txBody>
      </p:sp>
      <p:sp>
        <p:nvSpPr>
          <p:cNvPr id="21" name="Rectangle 20">
            <a:extLst>
              <a:ext uri="{FF2B5EF4-FFF2-40B4-BE49-F238E27FC236}">
                <a16:creationId xmlns:a16="http://schemas.microsoft.com/office/drawing/2014/main" id="{1CB410A1-C8E2-31EC-7F40-5AAFDE0160AF}"/>
              </a:ext>
            </a:extLst>
          </p:cNvPr>
          <p:cNvSpPr/>
          <p:nvPr/>
        </p:nvSpPr>
        <p:spPr>
          <a:xfrm>
            <a:off x="11575472" y="3807535"/>
            <a:ext cx="6019799" cy="1763592"/>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DM Sans" pitchFamily="2" charset="0"/>
                <a:cs typeface="Poppins" panose="00000500000000000000" pitchFamily="2" charset="0"/>
              </a:rPr>
              <a:t>Insight</a:t>
            </a:r>
          </a:p>
          <a:p>
            <a:pPr algn="ctr"/>
            <a:r>
              <a:rPr lang="en-US" dirty="0">
                <a:latin typeface="DM Sans" pitchFamily="2" charset="0"/>
              </a:rPr>
              <a:t>Most customers fall into the </a:t>
            </a:r>
            <a:r>
              <a:rPr lang="en-US" i="1" dirty="0">
                <a:latin typeface="DM Sans" pitchFamily="2" charset="0"/>
              </a:rPr>
              <a:t>Medium</a:t>
            </a:r>
            <a:r>
              <a:rPr lang="en-US" dirty="0">
                <a:latin typeface="DM Sans" pitchFamily="2" charset="0"/>
              </a:rPr>
              <a:t> tier, showing balanced spending behavior. </a:t>
            </a:r>
            <a:r>
              <a:rPr lang="en-US" i="1" dirty="0">
                <a:latin typeface="DM Sans" pitchFamily="2" charset="0"/>
              </a:rPr>
              <a:t>High spenders</a:t>
            </a:r>
            <a:r>
              <a:rPr lang="en-US" dirty="0">
                <a:latin typeface="DM Sans" pitchFamily="2" charset="0"/>
              </a:rPr>
              <a:t> should be prioritized for premium offers, while </a:t>
            </a:r>
            <a:r>
              <a:rPr lang="en-US" i="1" dirty="0">
                <a:latin typeface="DM Sans" pitchFamily="2" charset="0"/>
              </a:rPr>
              <a:t>Low spenders</a:t>
            </a:r>
            <a:r>
              <a:rPr lang="en-US" dirty="0">
                <a:latin typeface="DM Sans" pitchFamily="2" charset="0"/>
              </a:rPr>
              <a:t> may need incentives to increase purchase frequency.</a:t>
            </a:r>
            <a:endParaRPr lang="en-US" b="1" dirty="0">
              <a:latin typeface="DM Sans" pitchFamily="2" charset="0"/>
              <a:cs typeface="Poppins" panose="00000500000000000000" pitchFamily="2" charset="0"/>
            </a:endParaRPr>
          </a:p>
        </p:txBody>
      </p:sp>
      <p:sp>
        <p:nvSpPr>
          <p:cNvPr id="22" name="Rectangle 21">
            <a:extLst>
              <a:ext uri="{FF2B5EF4-FFF2-40B4-BE49-F238E27FC236}">
                <a16:creationId xmlns:a16="http://schemas.microsoft.com/office/drawing/2014/main" id="{5BFE54DD-C907-67E5-ADBB-F96D39638112}"/>
              </a:ext>
            </a:extLst>
          </p:cNvPr>
          <p:cNvSpPr/>
          <p:nvPr/>
        </p:nvSpPr>
        <p:spPr>
          <a:xfrm>
            <a:off x="224126" y="8350177"/>
            <a:ext cx="5140876" cy="1377967"/>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Approach</a:t>
            </a:r>
            <a:endParaRPr lang="en-US" sz="800" b="1" dirty="0">
              <a:latin typeface="Poppins" panose="00000500000000000000" pitchFamily="2" charset="0"/>
              <a:cs typeface="Poppins" panose="00000500000000000000" pitchFamily="2" charset="0"/>
            </a:endParaRPr>
          </a:p>
          <a:p>
            <a:endParaRPr lang="en-US" sz="800" dirty="0">
              <a:latin typeface="Poppins" panose="00000500000000000000" pitchFamily="2" charset="0"/>
              <a:cs typeface="Poppins" panose="00000500000000000000" pitchFamily="2" charset="0"/>
            </a:endParaRPr>
          </a:p>
          <a:p>
            <a:r>
              <a:rPr lang="en-US" sz="1400" dirty="0">
                <a:latin typeface="Poppins" panose="00000500000000000000" pitchFamily="2" charset="0"/>
                <a:cs typeface="Poppins" panose="00000500000000000000" pitchFamily="2" charset="0"/>
              </a:rPr>
              <a:t>Calculated each customer’s total spend, divided them into quartiles using NTILE(4), assigned spend tiers (High, Medium, Low), and counted customers in each tier.</a:t>
            </a:r>
          </a:p>
        </p:txBody>
      </p:sp>
      <p:pic>
        <p:nvPicPr>
          <p:cNvPr id="26" name="Picture 2">
            <a:extLst>
              <a:ext uri="{FF2B5EF4-FFF2-40B4-BE49-F238E27FC236}">
                <a16:creationId xmlns:a16="http://schemas.microsoft.com/office/drawing/2014/main" id="{2A8C3774-6680-846F-0E40-D3883072AAB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54400" y="-34787"/>
            <a:ext cx="2283419" cy="167364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screenshot of a computer code&#10;&#10;AI-generated content may be incorrect.">
            <a:extLst>
              <a:ext uri="{FF2B5EF4-FFF2-40B4-BE49-F238E27FC236}">
                <a16:creationId xmlns:a16="http://schemas.microsoft.com/office/drawing/2014/main" id="{523E7318-479E-9047-98CB-967A488805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65832" y="2487882"/>
            <a:ext cx="5054405" cy="7516754"/>
          </a:xfrm>
          <a:prstGeom prst="rect">
            <a:avLst/>
          </a:prstGeom>
        </p:spPr>
      </p:pic>
      <p:graphicFrame>
        <p:nvGraphicFramePr>
          <p:cNvPr id="14" name="Table 13">
            <a:extLst>
              <a:ext uri="{FF2B5EF4-FFF2-40B4-BE49-F238E27FC236}">
                <a16:creationId xmlns:a16="http://schemas.microsoft.com/office/drawing/2014/main" id="{4A80471B-B30F-0EB2-724E-E053EDA44E1A}"/>
              </a:ext>
            </a:extLst>
          </p:cNvPr>
          <p:cNvGraphicFramePr>
            <a:graphicFrameLocks noGrp="1"/>
          </p:cNvGraphicFramePr>
          <p:nvPr>
            <p:extLst>
              <p:ext uri="{D42A27DB-BD31-4B8C-83A1-F6EECF244321}">
                <p14:modId xmlns:p14="http://schemas.microsoft.com/office/powerpoint/2010/main" val="4195791709"/>
              </p:ext>
            </p:extLst>
          </p:nvPr>
        </p:nvGraphicFramePr>
        <p:xfrm>
          <a:off x="11595478" y="2096981"/>
          <a:ext cx="5999794" cy="1571625"/>
        </p:xfrm>
        <a:graphic>
          <a:graphicData uri="http://schemas.openxmlformats.org/drawingml/2006/table">
            <a:tbl>
              <a:tblPr/>
              <a:tblGrid>
                <a:gridCol w="2340579">
                  <a:extLst>
                    <a:ext uri="{9D8B030D-6E8A-4147-A177-3AD203B41FA5}">
                      <a16:colId xmlns:a16="http://schemas.microsoft.com/office/drawing/2014/main" val="3205760869"/>
                    </a:ext>
                  </a:extLst>
                </a:gridCol>
                <a:gridCol w="3659215">
                  <a:extLst>
                    <a:ext uri="{9D8B030D-6E8A-4147-A177-3AD203B41FA5}">
                      <a16:colId xmlns:a16="http://schemas.microsoft.com/office/drawing/2014/main" val="2508237129"/>
                    </a:ext>
                  </a:extLst>
                </a:gridCol>
              </a:tblGrid>
              <a:tr h="240277">
                <a:tc>
                  <a:txBody>
                    <a:bodyPr/>
                    <a:lstStyle/>
                    <a:p>
                      <a:pPr algn="ctr" fontAlgn="b">
                        <a:buNone/>
                      </a:pPr>
                      <a:r>
                        <a:rPr lang="en-IN" sz="2000" b="1" i="0" u="none" strike="noStrike" dirty="0">
                          <a:solidFill>
                            <a:schemeClr val="bg1"/>
                          </a:solidFill>
                          <a:effectLst/>
                          <a:latin typeface="DM Sans" pitchFamily="2" charset="0"/>
                        </a:rPr>
                        <a:t>Row Labels</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10000"/>
                      </a:schemeClr>
                    </a:solidFill>
                  </a:tcPr>
                </a:tc>
                <a:tc>
                  <a:txBody>
                    <a:bodyPr/>
                    <a:lstStyle/>
                    <a:p>
                      <a:pPr algn="ctr" fontAlgn="b">
                        <a:buNone/>
                      </a:pPr>
                      <a:r>
                        <a:rPr lang="en-IN" sz="2000" b="1" i="0" u="none" strike="noStrike" dirty="0">
                          <a:solidFill>
                            <a:schemeClr val="bg1"/>
                          </a:solidFill>
                          <a:effectLst/>
                          <a:latin typeface="DM Sans" pitchFamily="2" charset="0"/>
                        </a:rPr>
                        <a:t>Count of Customer_id</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10000"/>
                      </a:schemeClr>
                    </a:solidFill>
                  </a:tcPr>
                </a:tc>
                <a:extLst>
                  <a:ext uri="{0D108BD9-81ED-4DB2-BD59-A6C34878D82A}">
                    <a16:rowId xmlns:a16="http://schemas.microsoft.com/office/drawing/2014/main" val="1302621196"/>
                  </a:ext>
                </a:extLst>
              </a:tr>
              <a:tr h="240277">
                <a:tc>
                  <a:txBody>
                    <a:bodyPr/>
                    <a:lstStyle/>
                    <a:p>
                      <a:pPr algn="ctr" fontAlgn="b">
                        <a:buNone/>
                      </a:pPr>
                      <a:r>
                        <a:rPr lang="en-IN" sz="2000" b="0" i="0" u="none" strike="noStrike" dirty="0">
                          <a:solidFill>
                            <a:srgbClr val="000000"/>
                          </a:solidFill>
                          <a:effectLst/>
                          <a:latin typeface="DM Sans" pitchFamily="2" charset="0"/>
                        </a:rPr>
                        <a:t>High</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9AB"/>
                    </a:solidFill>
                  </a:tcPr>
                </a:tc>
                <a:tc>
                  <a:txBody>
                    <a:bodyPr/>
                    <a:lstStyle/>
                    <a:p>
                      <a:pPr algn="ctr" fontAlgn="b">
                        <a:buNone/>
                      </a:pPr>
                      <a:r>
                        <a:rPr lang="en-IN" sz="2000" b="0" i="0" u="none" strike="noStrike" dirty="0">
                          <a:solidFill>
                            <a:srgbClr val="000000"/>
                          </a:solidFill>
                          <a:effectLst/>
                          <a:latin typeface="DM Sans" pitchFamily="2" charset="0"/>
                        </a:rPr>
                        <a:t>3</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E9AB"/>
                    </a:solidFill>
                  </a:tcPr>
                </a:tc>
                <a:extLst>
                  <a:ext uri="{0D108BD9-81ED-4DB2-BD59-A6C34878D82A}">
                    <a16:rowId xmlns:a16="http://schemas.microsoft.com/office/drawing/2014/main" val="258842315"/>
                  </a:ext>
                </a:extLst>
              </a:tr>
              <a:tr h="240277">
                <a:tc>
                  <a:txBody>
                    <a:bodyPr/>
                    <a:lstStyle/>
                    <a:p>
                      <a:pPr algn="ctr" fontAlgn="b">
                        <a:buNone/>
                      </a:pPr>
                      <a:r>
                        <a:rPr lang="en-IN" sz="2000" b="0" i="0" u="none" strike="noStrike" dirty="0">
                          <a:solidFill>
                            <a:srgbClr val="000000"/>
                          </a:solidFill>
                          <a:effectLst/>
                          <a:latin typeface="DM Sans" pitchFamily="2" charset="0"/>
                        </a:rPr>
                        <a:t>Low</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50000"/>
                      </a:schemeClr>
                    </a:solidFill>
                  </a:tcPr>
                </a:tc>
                <a:tc>
                  <a:txBody>
                    <a:bodyPr/>
                    <a:lstStyle/>
                    <a:p>
                      <a:pPr algn="ctr" fontAlgn="b">
                        <a:buNone/>
                      </a:pPr>
                      <a:r>
                        <a:rPr lang="en-IN" sz="2000" b="0" i="0" u="none" strike="noStrike" dirty="0">
                          <a:solidFill>
                            <a:srgbClr val="000000"/>
                          </a:solidFill>
                          <a:effectLst/>
                          <a:latin typeface="DM Sans" pitchFamily="2" charset="0"/>
                        </a:rPr>
                        <a:t>4</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50000"/>
                      </a:schemeClr>
                    </a:solidFill>
                  </a:tcPr>
                </a:tc>
                <a:extLst>
                  <a:ext uri="{0D108BD9-81ED-4DB2-BD59-A6C34878D82A}">
                    <a16:rowId xmlns:a16="http://schemas.microsoft.com/office/drawing/2014/main" val="3001495339"/>
                  </a:ext>
                </a:extLst>
              </a:tr>
              <a:tr h="240277">
                <a:tc>
                  <a:txBody>
                    <a:bodyPr/>
                    <a:lstStyle/>
                    <a:p>
                      <a:pPr algn="ctr" fontAlgn="b">
                        <a:buNone/>
                      </a:pPr>
                      <a:r>
                        <a:rPr lang="en-IN" sz="2000" b="0" i="0" u="none" strike="noStrike" dirty="0">
                          <a:solidFill>
                            <a:srgbClr val="000000"/>
                          </a:solidFill>
                          <a:effectLst/>
                          <a:latin typeface="DM Sans" pitchFamily="2" charset="0"/>
                        </a:rPr>
                        <a:t>Medium</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b">
                        <a:buNone/>
                      </a:pPr>
                      <a:r>
                        <a:rPr lang="en-IN" sz="2000" b="0" i="0" u="none" strike="noStrike" dirty="0">
                          <a:solidFill>
                            <a:srgbClr val="000000"/>
                          </a:solidFill>
                          <a:effectLst/>
                          <a:latin typeface="DM Sans" pitchFamily="2" charset="0"/>
                        </a:rPr>
                        <a:t>8</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250547910"/>
                  </a:ext>
                </a:extLst>
              </a:tr>
              <a:tr h="240277">
                <a:tc>
                  <a:txBody>
                    <a:bodyPr/>
                    <a:lstStyle/>
                    <a:p>
                      <a:pPr algn="ctr" fontAlgn="b">
                        <a:buNone/>
                      </a:pPr>
                      <a:r>
                        <a:rPr lang="en-IN" sz="2000" b="1" i="0" u="none" strike="noStrike" dirty="0">
                          <a:solidFill>
                            <a:schemeClr val="bg1"/>
                          </a:solidFill>
                          <a:effectLst/>
                          <a:latin typeface="DM Sans" pitchFamily="2" charset="0"/>
                        </a:rPr>
                        <a:t>Grand Total</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10000"/>
                      </a:schemeClr>
                    </a:solidFill>
                  </a:tcPr>
                </a:tc>
                <a:tc>
                  <a:txBody>
                    <a:bodyPr/>
                    <a:lstStyle/>
                    <a:p>
                      <a:pPr algn="ctr" fontAlgn="b">
                        <a:buNone/>
                      </a:pPr>
                      <a:r>
                        <a:rPr lang="en-IN" sz="2000" b="1" i="0" u="none" strike="noStrike" dirty="0">
                          <a:solidFill>
                            <a:schemeClr val="bg1"/>
                          </a:solidFill>
                          <a:effectLst/>
                          <a:latin typeface="DM Sans" pitchFamily="2" charset="0"/>
                        </a:rPr>
                        <a:t>15</a:t>
                      </a:r>
                    </a:p>
                  </a:txBody>
                  <a:tcPr marL="9525" marR="9525" marT="9525"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10000"/>
                      </a:schemeClr>
                    </a:solidFill>
                  </a:tcPr>
                </a:tc>
                <a:extLst>
                  <a:ext uri="{0D108BD9-81ED-4DB2-BD59-A6C34878D82A}">
                    <a16:rowId xmlns:a16="http://schemas.microsoft.com/office/drawing/2014/main" val="1001887379"/>
                  </a:ext>
                </a:extLst>
              </a:tr>
            </a:tbl>
          </a:graphicData>
        </a:graphic>
      </p:graphicFrame>
      <p:graphicFrame>
        <p:nvGraphicFramePr>
          <p:cNvPr id="15" name="Chart 14">
            <a:extLst>
              <a:ext uri="{FF2B5EF4-FFF2-40B4-BE49-F238E27FC236}">
                <a16:creationId xmlns:a16="http://schemas.microsoft.com/office/drawing/2014/main" id="{68238ADB-54E8-4546-365F-206369FB85BC}"/>
              </a:ext>
            </a:extLst>
          </p:cNvPr>
          <p:cNvGraphicFramePr>
            <a:graphicFrameLocks/>
          </p:cNvGraphicFramePr>
          <p:nvPr>
            <p:extLst>
              <p:ext uri="{D42A27DB-BD31-4B8C-83A1-F6EECF244321}">
                <p14:modId xmlns:p14="http://schemas.microsoft.com/office/powerpoint/2010/main" val="1766556995"/>
              </p:ext>
            </p:extLst>
          </p:nvPr>
        </p:nvGraphicFramePr>
        <p:xfrm>
          <a:off x="11575472" y="5834082"/>
          <a:ext cx="6019800" cy="4160213"/>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15640731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10151-6993-D94A-3750-71C617DE891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F45C056-E462-703A-2DA2-E34011037381}"/>
              </a:ext>
            </a:extLst>
          </p:cNvPr>
          <p:cNvSpPr/>
          <p:nvPr/>
        </p:nvSpPr>
        <p:spPr>
          <a:xfrm>
            <a:off x="-172278" y="-2592303"/>
            <a:ext cx="11142373"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4" name="Group 4">
            <a:extLst>
              <a:ext uri="{FF2B5EF4-FFF2-40B4-BE49-F238E27FC236}">
                <a16:creationId xmlns:a16="http://schemas.microsoft.com/office/drawing/2014/main" id="{E132BC42-24E5-4159-5EEA-BC115CBA120B}"/>
              </a:ext>
            </a:extLst>
          </p:cNvPr>
          <p:cNvGrpSpPr/>
          <p:nvPr/>
        </p:nvGrpSpPr>
        <p:grpSpPr>
          <a:xfrm>
            <a:off x="216384" y="978397"/>
            <a:ext cx="11379094" cy="8889504"/>
            <a:chOff x="-1058884" y="-19050"/>
            <a:chExt cx="3428148" cy="2660078"/>
          </a:xfrm>
        </p:grpSpPr>
        <p:sp>
          <p:nvSpPr>
            <p:cNvPr id="5" name="Freeform 5">
              <a:extLst>
                <a:ext uri="{FF2B5EF4-FFF2-40B4-BE49-F238E27FC236}">
                  <a16:creationId xmlns:a16="http://schemas.microsoft.com/office/drawing/2014/main" id="{E3540EA4-E522-129F-25C2-553CEB862886}"/>
                </a:ext>
              </a:extLst>
            </p:cNvPr>
            <p:cNvSpPr/>
            <p:nvPr/>
          </p:nvSpPr>
          <p:spPr>
            <a:xfrm>
              <a:off x="-1058884" y="305192"/>
              <a:ext cx="1309274" cy="2335836"/>
            </a:xfrm>
            <a:custGeom>
              <a:avLst/>
              <a:gdLst/>
              <a:ahLst/>
              <a:cxnLst/>
              <a:rect l="l" t="t" r="r" b="b"/>
              <a:pathLst>
                <a:path w="2369264" h="2084956">
                  <a:moveTo>
                    <a:pt x="0" y="0"/>
                  </a:moveTo>
                  <a:lnTo>
                    <a:pt x="2369264" y="0"/>
                  </a:lnTo>
                  <a:lnTo>
                    <a:pt x="2369264" y="2084956"/>
                  </a:lnTo>
                  <a:lnTo>
                    <a:pt x="0" y="2084956"/>
                  </a:lnTo>
                  <a:close/>
                </a:path>
              </a:pathLst>
            </a:custGeom>
            <a:solidFill>
              <a:schemeClr val="bg2">
                <a:lumMod val="10000"/>
              </a:schemeClr>
            </a:solidFill>
            <a:ln w="9525" cap="sq">
              <a:solidFill>
                <a:srgbClr val="2B2A2A"/>
              </a:solidFill>
              <a:prstDash val="solid"/>
              <a:miter/>
            </a:ln>
          </p:spPr>
          <p:txBody>
            <a:bodyPr/>
            <a:lstStyle/>
            <a:p>
              <a:pPr algn="ctr"/>
              <a:endParaRPr lang="en-IN" dirty="0"/>
            </a:p>
          </p:txBody>
        </p:sp>
        <p:sp>
          <p:nvSpPr>
            <p:cNvPr id="6" name="TextBox 6">
              <a:extLst>
                <a:ext uri="{FF2B5EF4-FFF2-40B4-BE49-F238E27FC236}">
                  <a16:creationId xmlns:a16="http://schemas.microsoft.com/office/drawing/2014/main" id="{95CE13D4-A857-7226-07CD-3B9926A3812C}"/>
                </a:ext>
              </a:extLst>
            </p:cNvPr>
            <p:cNvSpPr txBox="1"/>
            <p:nvPr/>
          </p:nvSpPr>
          <p:spPr>
            <a:xfrm>
              <a:off x="0" y="-19050"/>
              <a:ext cx="2369264" cy="2104006"/>
            </a:xfrm>
            <a:prstGeom prst="rect">
              <a:avLst/>
            </a:prstGeom>
          </p:spPr>
          <p:txBody>
            <a:bodyPr lIns="50800" tIns="50800" rIns="50800" bIns="50800" rtlCol="0" anchor="ctr"/>
            <a:lstStyle/>
            <a:p>
              <a:pPr algn="ctr">
                <a:lnSpc>
                  <a:spcPts val="2859"/>
                </a:lnSpc>
              </a:pPr>
              <a:endParaRPr/>
            </a:p>
          </p:txBody>
        </p:sp>
      </p:grpSp>
      <p:sp>
        <p:nvSpPr>
          <p:cNvPr id="7" name="TextBox 14">
            <a:extLst>
              <a:ext uri="{FF2B5EF4-FFF2-40B4-BE49-F238E27FC236}">
                <a16:creationId xmlns:a16="http://schemas.microsoft.com/office/drawing/2014/main" id="{084BF7C1-7389-DD72-2CE8-C8617C82A77A}"/>
              </a:ext>
            </a:extLst>
          </p:cNvPr>
          <p:cNvSpPr txBox="1"/>
          <p:nvPr/>
        </p:nvSpPr>
        <p:spPr>
          <a:xfrm>
            <a:off x="396110" y="2028353"/>
            <a:ext cx="5949563" cy="932563"/>
          </a:xfrm>
          <a:prstGeom prst="rect">
            <a:avLst/>
          </a:prstGeom>
        </p:spPr>
        <p:txBody>
          <a:bodyPr lIns="0" tIns="0" rIns="0" bIns="0" rtlCol="0" anchor="t">
            <a:spAutoFit/>
          </a:bodyPr>
          <a:lstStyle/>
          <a:p>
            <a:pPr marL="0" lvl="0" indent="0" algn="l">
              <a:lnSpc>
                <a:spcPts val="8811"/>
              </a:lnSpc>
              <a:spcBef>
                <a:spcPct val="0"/>
              </a:spcBef>
            </a:pPr>
            <a:r>
              <a:rPr lang="en-US" sz="2400" spc="625" dirty="0">
                <a:solidFill>
                  <a:srgbClr val="FEFFFF"/>
                </a:solidFill>
                <a:latin typeface="Poppins"/>
                <a:ea typeface="Poppins"/>
                <a:cs typeface="Poppins"/>
                <a:sym typeface="Poppins"/>
              </a:rPr>
              <a:t>BUSINESS PROBLEM</a:t>
            </a:r>
            <a:endParaRPr lang="en-US" sz="6384" spc="625" dirty="0">
              <a:solidFill>
                <a:srgbClr val="FEFFFF"/>
              </a:solidFill>
              <a:latin typeface="Poppins"/>
              <a:ea typeface="Poppins"/>
              <a:cs typeface="Poppins"/>
              <a:sym typeface="Poppins"/>
            </a:endParaRPr>
          </a:p>
        </p:txBody>
      </p:sp>
      <p:sp>
        <p:nvSpPr>
          <p:cNvPr id="8" name="TextBox 12">
            <a:extLst>
              <a:ext uri="{FF2B5EF4-FFF2-40B4-BE49-F238E27FC236}">
                <a16:creationId xmlns:a16="http://schemas.microsoft.com/office/drawing/2014/main" id="{47605B6D-DE1F-532B-F380-79D6D284AC28}"/>
              </a:ext>
            </a:extLst>
          </p:cNvPr>
          <p:cNvSpPr txBox="1"/>
          <p:nvPr/>
        </p:nvSpPr>
        <p:spPr>
          <a:xfrm>
            <a:off x="470110" y="3398929"/>
            <a:ext cx="3988234" cy="3651192"/>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Walmart suspects that certain sales transactions are unusually high or low compared to the average for each product line. Detecting these anomalies will help identify possible errors, fraud, or exceptional cases that need further investigation.</a:t>
            </a:r>
            <a:endParaRPr lang="en-US" sz="1975" spc="41" dirty="0">
              <a:solidFill>
                <a:schemeClr val="bg1"/>
              </a:solidFill>
              <a:latin typeface="DM Sans" pitchFamily="2" charset="0"/>
              <a:ea typeface="DM Sans"/>
              <a:cs typeface="DM Sans"/>
              <a:sym typeface="DM Sans"/>
            </a:endParaRPr>
          </a:p>
        </p:txBody>
      </p:sp>
      <p:sp>
        <p:nvSpPr>
          <p:cNvPr id="9" name="TextBox 14">
            <a:extLst>
              <a:ext uri="{FF2B5EF4-FFF2-40B4-BE49-F238E27FC236}">
                <a16:creationId xmlns:a16="http://schemas.microsoft.com/office/drawing/2014/main" id="{1B60B74F-6679-8014-E1E3-F7EA6793E680}"/>
              </a:ext>
            </a:extLst>
          </p:cNvPr>
          <p:cNvSpPr txBox="1"/>
          <p:nvPr/>
        </p:nvSpPr>
        <p:spPr>
          <a:xfrm>
            <a:off x="396110" y="6969582"/>
            <a:ext cx="5949563" cy="932563"/>
          </a:xfrm>
          <a:prstGeom prst="rect">
            <a:avLst/>
          </a:prstGeom>
        </p:spPr>
        <p:txBody>
          <a:bodyPr lIns="0" tIns="0" rIns="0" bIns="0" rtlCol="0" anchor="t">
            <a:spAutoFit/>
          </a:bodyPr>
          <a:lstStyle/>
          <a:p>
            <a:pPr lvl="0">
              <a:lnSpc>
                <a:spcPts val="8811"/>
              </a:lnSpc>
              <a:spcBef>
                <a:spcPct val="0"/>
              </a:spcBef>
            </a:pPr>
            <a:r>
              <a:rPr lang="en-US" sz="2400" spc="625" dirty="0">
                <a:solidFill>
                  <a:srgbClr val="FEFFFF"/>
                </a:solidFill>
                <a:latin typeface="Poppins"/>
                <a:ea typeface="Poppins"/>
                <a:cs typeface="Poppins"/>
                <a:sym typeface="Poppins"/>
              </a:rPr>
              <a:t>OBJECTIVE</a:t>
            </a:r>
            <a:endParaRPr lang="en-US" sz="6384" spc="625" dirty="0">
              <a:solidFill>
                <a:srgbClr val="FEFFFF"/>
              </a:solidFill>
              <a:latin typeface="Poppins"/>
              <a:ea typeface="Poppins"/>
              <a:cs typeface="Poppins"/>
              <a:sym typeface="Poppins"/>
            </a:endParaRPr>
          </a:p>
        </p:txBody>
      </p:sp>
      <p:sp>
        <p:nvSpPr>
          <p:cNvPr id="10" name="TextBox 12">
            <a:extLst>
              <a:ext uri="{FF2B5EF4-FFF2-40B4-BE49-F238E27FC236}">
                <a16:creationId xmlns:a16="http://schemas.microsoft.com/office/drawing/2014/main" id="{FF62E632-DC13-B8AD-1632-9AAA99072F4B}"/>
              </a:ext>
            </a:extLst>
          </p:cNvPr>
          <p:cNvSpPr txBox="1"/>
          <p:nvPr/>
        </p:nvSpPr>
        <p:spPr>
          <a:xfrm>
            <a:off x="395211" y="8109310"/>
            <a:ext cx="3988234" cy="1341586"/>
          </a:xfrm>
          <a:prstGeom prst="rect">
            <a:avLst/>
          </a:prstGeom>
        </p:spPr>
        <p:txBody>
          <a:bodyPr wrap="square" lIns="0" tIns="0" rIns="0" bIns="0" rtlCol="0" anchor="t">
            <a:spAutoFit/>
          </a:bodyPr>
          <a:lstStyle/>
          <a:p>
            <a:pPr>
              <a:lnSpc>
                <a:spcPct val="150000"/>
              </a:lnSpc>
            </a:pPr>
            <a:r>
              <a:rPr lang="en-US" sz="2000" dirty="0">
                <a:solidFill>
                  <a:schemeClr val="bg1"/>
                </a:solidFill>
              </a:rPr>
              <a:t>Identify sales transactions that significantly deviate from the average sales of their respective product line.</a:t>
            </a:r>
            <a:endParaRPr lang="en-US" sz="1975" spc="41" dirty="0">
              <a:solidFill>
                <a:schemeClr val="bg1"/>
              </a:solidFill>
              <a:latin typeface="DM Sans" pitchFamily="2" charset="0"/>
              <a:ea typeface="DM Sans"/>
              <a:cs typeface="DM Sans"/>
              <a:sym typeface="DM Sans"/>
            </a:endParaRPr>
          </a:p>
        </p:txBody>
      </p:sp>
      <p:sp>
        <p:nvSpPr>
          <p:cNvPr id="11" name="TextBox 4">
            <a:extLst>
              <a:ext uri="{FF2B5EF4-FFF2-40B4-BE49-F238E27FC236}">
                <a16:creationId xmlns:a16="http://schemas.microsoft.com/office/drawing/2014/main" id="{BA70DFFB-8871-A4F5-2FDE-086D0E7EB3AB}"/>
              </a:ext>
            </a:extLst>
          </p:cNvPr>
          <p:cNvSpPr txBox="1"/>
          <p:nvPr/>
        </p:nvSpPr>
        <p:spPr>
          <a:xfrm>
            <a:off x="3286849" y="126373"/>
            <a:ext cx="11530731" cy="1231106"/>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 4 – Detecting Anomalies in Sales Transactions</a:t>
            </a:r>
            <a:endParaRPr lang="en-US" sz="4000" b="1" spc="1212" dirty="0">
              <a:solidFill>
                <a:srgbClr val="2B2A2A"/>
              </a:solidFill>
              <a:latin typeface="Poppins Bold" panose="00000800000000000000" charset="0"/>
              <a:ea typeface="Poppins Bold"/>
              <a:cs typeface="Poppins Bold" panose="00000800000000000000" charset="0"/>
              <a:sym typeface="Poppins Bold"/>
            </a:endParaRPr>
          </a:p>
        </p:txBody>
      </p:sp>
      <p:sp>
        <p:nvSpPr>
          <p:cNvPr id="12" name="TextBox 14">
            <a:extLst>
              <a:ext uri="{FF2B5EF4-FFF2-40B4-BE49-F238E27FC236}">
                <a16:creationId xmlns:a16="http://schemas.microsoft.com/office/drawing/2014/main" id="{32AF41F9-7748-7174-5FC4-983C69847772}"/>
              </a:ext>
            </a:extLst>
          </p:cNvPr>
          <p:cNvSpPr txBox="1"/>
          <p:nvPr/>
        </p:nvSpPr>
        <p:spPr>
          <a:xfrm>
            <a:off x="10180140" y="978397"/>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SQL Query </a:t>
            </a:r>
            <a:endParaRPr lang="en-US" sz="6384" spc="625" dirty="0">
              <a:latin typeface="Poppins"/>
              <a:ea typeface="Poppins"/>
              <a:cs typeface="Poppins"/>
              <a:sym typeface="Poppins"/>
            </a:endParaRPr>
          </a:p>
        </p:txBody>
      </p:sp>
      <p:pic>
        <p:nvPicPr>
          <p:cNvPr id="26" name="Picture 2">
            <a:extLst>
              <a:ext uri="{FF2B5EF4-FFF2-40B4-BE49-F238E27FC236}">
                <a16:creationId xmlns:a16="http://schemas.microsoft.com/office/drawing/2014/main" id="{EE45AF0D-6688-0307-D667-BA28FF352BD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54400" y="-34787"/>
            <a:ext cx="2283419" cy="167364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A screenshot of a computer program&#10;&#10;AI-generated content may be incorrect.">
            <a:extLst>
              <a:ext uri="{FF2B5EF4-FFF2-40B4-BE49-F238E27FC236}">
                <a16:creationId xmlns:a16="http://schemas.microsoft.com/office/drawing/2014/main" id="{18694C72-D145-149E-1ADF-2F3F40FAE0C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02462" y="1928651"/>
            <a:ext cx="6577802" cy="7254928"/>
          </a:xfrm>
          <a:prstGeom prst="rect">
            <a:avLst/>
          </a:prstGeom>
        </p:spPr>
      </p:pic>
      <p:pic>
        <p:nvPicPr>
          <p:cNvPr id="23" name="Picture 22" descr="A screenshot of a computer code&#10;&#10;AI-generated content may be incorrect.">
            <a:extLst>
              <a:ext uri="{FF2B5EF4-FFF2-40B4-BE49-F238E27FC236}">
                <a16:creationId xmlns:a16="http://schemas.microsoft.com/office/drawing/2014/main" id="{CD2B0925-453E-B6D2-76D4-4A7880DE1FF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324382" y="1964764"/>
            <a:ext cx="6412825" cy="5639528"/>
          </a:xfrm>
          <a:prstGeom prst="rect">
            <a:avLst/>
          </a:prstGeom>
        </p:spPr>
      </p:pic>
      <p:pic>
        <p:nvPicPr>
          <p:cNvPr id="25" name="Picture 24" descr="A computer code with text&#10;&#10;AI-generated content may be incorrect.">
            <a:extLst>
              <a:ext uri="{FF2B5EF4-FFF2-40B4-BE49-F238E27FC236}">
                <a16:creationId xmlns:a16="http://schemas.microsoft.com/office/drawing/2014/main" id="{0FA852F4-6789-F349-B6F5-E8AF68C195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324382" y="7604292"/>
            <a:ext cx="6747234" cy="2660819"/>
          </a:xfrm>
          <a:prstGeom prst="rect">
            <a:avLst/>
          </a:prstGeom>
        </p:spPr>
      </p:pic>
    </p:spTree>
    <p:extLst>
      <p:ext uri="{BB962C8B-B14F-4D97-AF65-F5344CB8AC3E}">
        <p14:creationId xmlns:p14="http://schemas.microsoft.com/office/powerpoint/2010/main" val="481940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5EDEB-657F-3059-EFAF-11FDB576D6C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9AE234D6-4EC1-1AD9-4550-2389E137D3C8}"/>
              </a:ext>
            </a:extLst>
          </p:cNvPr>
          <p:cNvSpPr/>
          <p:nvPr/>
        </p:nvSpPr>
        <p:spPr>
          <a:xfrm>
            <a:off x="-276705" y="-1143190"/>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TextBox 4">
            <a:extLst>
              <a:ext uri="{FF2B5EF4-FFF2-40B4-BE49-F238E27FC236}">
                <a16:creationId xmlns:a16="http://schemas.microsoft.com/office/drawing/2014/main" id="{25B3E4AB-E121-7FBB-263E-9EEBD798053C}"/>
              </a:ext>
            </a:extLst>
          </p:cNvPr>
          <p:cNvSpPr txBox="1"/>
          <p:nvPr/>
        </p:nvSpPr>
        <p:spPr>
          <a:xfrm>
            <a:off x="3200400" y="416124"/>
            <a:ext cx="11530731" cy="615553"/>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Task-4 Result</a:t>
            </a:r>
            <a:endParaRPr lang="en-US" sz="4000" b="1" spc="1212" dirty="0">
              <a:solidFill>
                <a:srgbClr val="2B2A2A"/>
              </a:solidFill>
              <a:latin typeface="Poppins Bold" panose="020B0604020202020204" charset="0"/>
              <a:ea typeface="Poppins Bold"/>
              <a:cs typeface="Poppins Bold" panose="020B0604020202020204" charset="0"/>
              <a:sym typeface="Poppins Bold"/>
            </a:endParaRPr>
          </a:p>
        </p:txBody>
      </p:sp>
      <p:sp>
        <p:nvSpPr>
          <p:cNvPr id="21" name="Rectangle 20">
            <a:extLst>
              <a:ext uri="{FF2B5EF4-FFF2-40B4-BE49-F238E27FC236}">
                <a16:creationId xmlns:a16="http://schemas.microsoft.com/office/drawing/2014/main" id="{718F7C92-5A87-6C1A-C9D2-6704E443B58F}"/>
              </a:ext>
            </a:extLst>
          </p:cNvPr>
          <p:cNvSpPr/>
          <p:nvPr/>
        </p:nvSpPr>
        <p:spPr>
          <a:xfrm>
            <a:off x="8610600" y="1790700"/>
            <a:ext cx="9263063" cy="2097419"/>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Poppins Bold" panose="00000800000000000000" charset="0"/>
                <a:cs typeface="Poppins Bold" panose="00000800000000000000" charset="0"/>
              </a:rPr>
              <a:t>Insight</a:t>
            </a:r>
          </a:p>
          <a:p>
            <a:pPr marL="285750" indent="-285750">
              <a:buFont typeface="Arial" panose="020B0604020202020204" pitchFamily="34" charset="0"/>
              <a:buChar char="•"/>
            </a:pPr>
            <a:r>
              <a:rPr lang="en-US" dirty="0">
                <a:latin typeface="DM Sans" pitchFamily="2" charset="0"/>
                <a:cs typeface="Poppins" panose="00000500000000000000" pitchFamily="2" charset="0"/>
              </a:rPr>
              <a:t>Food and Beverages had the highest anomaly count, suggesting irregular transaction behavior.</a:t>
            </a:r>
          </a:p>
          <a:p>
            <a:pPr marL="285750" indent="-285750">
              <a:buFont typeface="Arial" panose="020B0604020202020204" pitchFamily="34" charset="0"/>
              <a:buChar char="•"/>
            </a:pPr>
            <a:r>
              <a:rPr lang="en-US" dirty="0">
                <a:latin typeface="DM Sans" pitchFamily="2" charset="0"/>
                <a:cs typeface="Poppins" panose="00000500000000000000" pitchFamily="2" charset="0"/>
              </a:rPr>
              <a:t>Fashion Accessories and Electronics showed fewer anomalies, indicating more stable sales patterns.</a:t>
            </a:r>
          </a:p>
          <a:p>
            <a:pPr marL="285750" indent="-285750">
              <a:buFont typeface="Arial" panose="020B0604020202020204" pitchFamily="34" charset="0"/>
              <a:buChar char="•"/>
            </a:pPr>
            <a:r>
              <a:rPr lang="en-US" dirty="0">
                <a:latin typeface="DM Sans" pitchFamily="2" charset="0"/>
                <a:cs typeface="Poppins" panose="00000500000000000000" pitchFamily="2" charset="0"/>
              </a:rPr>
              <a:t>Overall anomaly percentage is low, but detecting these ensures better fraud detection and operational monitoring</a:t>
            </a:r>
          </a:p>
        </p:txBody>
      </p:sp>
      <p:sp>
        <p:nvSpPr>
          <p:cNvPr id="22" name="Rectangle 21">
            <a:extLst>
              <a:ext uri="{FF2B5EF4-FFF2-40B4-BE49-F238E27FC236}">
                <a16:creationId xmlns:a16="http://schemas.microsoft.com/office/drawing/2014/main" id="{CC65BCA5-7A52-F2CF-1BBA-77EF7A73D870}"/>
              </a:ext>
            </a:extLst>
          </p:cNvPr>
          <p:cNvSpPr/>
          <p:nvPr/>
        </p:nvSpPr>
        <p:spPr>
          <a:xfrm>
            <a:off x="187129" y="1790700"/>
            <a:ext cx="8410575" cy="2097419"/>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Approach</a:t>
            </a:r>
            <a:endParaRPr lang="en-US" sz="800" b="1" dirty="0">
              <a:latin typeface="Poppins" panose="00000500000000000000" pitchFamily="2" charset="0"/>
              <a:cs typeface="Poppins" panose="00000500000000000000" pitchFamily="2" charset="0"/>
            </a:endParaRPr>
          </a:p>
          <a:p>
            <a:endParaRPr lang="en-US" sz="800"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en-US" dirty="0">
                <a:latin typeface="DM Sans" pitchFamily="2" charset="0"/>
                <a:cs typeface="Poppins" panose="00000500000000000000" pitchFamily="2" charset="0"/>
              </a:rPr>
              <a:t>Calculated average sales and standard deviation per product line.</a:t>
            </a:r>
          </a:p>
          <a:p>
            <a:pPr marL="285750" indent="-285750">
              <a:buFont typeface="Arial" panose="020B0604020202020204" pitchFamily="34" charset="0"/>
              <a:buChar char="•"/>
            </a:pPr>
            <a:r>
              <a:rPr lang="en-US" dirty="0">
                <a:latin typeface="DM Sans" pitchFamily="2" charset="0"/>
                <a:cs typeface="Poppins" panose="00000500000000000000" pitchFamily="2" charset="0"/>
              </a:rPr>
              <a:t>Computed Z-scores for each transaction.</a:t>
            </a:r>
          </a:p>
          <a:p>
            <a:pPr marL="285750" indent="-285750">
              <a:buFont typeface="Arial" panose="020B0604020202020204" pitchFamily="34" charset="0"/>
              <a:buChar char="•"/>
            </a:pPr>
            <a:r>
              <a:rPr lang="en-US" dirty="0">
                <a:latin typeface="DM Sans" pitchFamily="2" charset="0"/>
                <a:cs typeface="Poppins" panose="00000500000000000000" pitchFamily="2" charset="0"/>
              </a:rPr>
              <a:t>Flagged anomalies where sales significantly deviated from the product line average.</a:t>
            </a:r>
          </a:p>
          <a:p>
            <a:pPr marL="285750" indent="-285750">
              <a:buFont typeface="Arial" panose="020B0604020202020204" pitchFamily="34" charset="0"/>
              <a:buChar char="•"/>
            </a:pPr>
            <a:r>
              <a:rPr lang="en-US" dirty="0">
                <a:latin typeface="DM Sans" pitchFamily="2" charset="0"/>
                <a:cs typeface="Poppins" panose="00000500000000000000" pitchFamily="2" charset="0"/>
              </a:rPr>
              <a:t>Summarized anomalies by product line (% anomalies vs total transactions).</a:t>
            </a:r>
          </a:p>
        </p:txBody>
      </p:sp>
      <p:graphicFrame>
        <p:nvGraphicFramePr>
          <p:cNvPr id="4" name="Table 3">
            <a:extLst>
              <a:ext uri="{FF2B5EF4-FFF2-40B4-BE49-F238E27FC236}">
                <a16:creationId xmlns:a16="http://schemas.microsoft.com/office/drawing/2014/main" id="{53E47F73-B49E-6CFE-562C-24FD9B4DD7EF}"/>
              </a:ext>
            </a:extLst>
          </p:cNvPr>
          <p:cNvGraphicFramePr>
            <a:graphicFrameLocks noGrp="1"/>
          </p:cNvGraphicFramePr>
          <p:nvPr>
            <p:extLst>
              <p:ext uri="{D42A27DB-BD31-4B8C-83A1-F6EECF244321}">
                <p14:modId xmlns:p14="http://schemas.microsoft.com/office/powerpoint/2010/main" val="4004606120"/>
              </p:ext>
            </p:extLst>
          </p:nvPr>
        </p:nvGraphicFramePr>
        <p:xfrm>
          <a:off x="187130" y="3964814"/>
          <a:ext cx="8410575" cy="5598285"/>
        </p:xfrm>
        <a:graphic>
          <a:graphicData uri="http://schemas.openxmlformats.org/drawingml/2006/table">
            <a:tbl>
              <a:tblPr/>
              <a:tblGrid>
                <a:gridCol w="1870270">
                  <a:extLst>
                    <a:ext uri="{9D8B030D-6E8A-4147-A177-3AD203B41FA5}">
                      <a16:colId xmlns:a16="http://schemas.microsoft.com/office/drawing/2014/main" val="3385631497"/>
                    </a:ext>
                  </a:extLst>
                </a:gridCol>
                <a:gridCol w="2468519">
                  <a:extLst>
                    <a:ext uri="{9D8B030D-6E8A-4147-A177-3AD203B41FA5}">
                      <a16:colId xmlns:a16="http://schemas.microsoft.com/office/drawing/2014/main" val="3775383320"/>
                    </a:ext>
                  </a:extLst>
                </a:gridCol>
                <a:gridCol w="2136019">
                  <a:extLst>
                    <a:ext uri="{9D8B030D-6E8A-4147-A177-3AD203B41FA5}">
                      <a16:colId xmlns:a16="http://schemas.microsoft.com/office/drawing/2014/main" val="4109821848"/>
                    </a:ext>
                  </a:extLst>
                </a:gridCol>
                <a:gridCol w="1935767">
                  <a:extLst>
                    <a:ext uri="{9D8B030D-6E8A-4147-A177-3AD203B41FA5}">
                      <a16:colId xmlns:a16="http://schemas.microsoft.com/office/drawing/2014/main" val="4165737888"/>
                    </a:ext>
                  </a:extLst>
                </a:gridCol>
              </a:tblGrid>
              <a:tr h="799755">
                <a:tc>
                  <a:txBody>
                    <a:bodyPr/>
                    <a:lstStyle/>
                    <a:p>
                      <a:pPr algn="ctr" fontAlgn="ctr">
                        <a:buNone/>
                      </a:pPr>
                      <a:r>
                        <a:rPr lang="en-IN" sz="2000" b="1" i="0" u="none" strike="noStrike" dirty="0">
                          <a:solidFill>
                            <a:srgbClr val="FFFFFF"/>
                          </a:solidFill>
                          <a:effectLst/>
                          <a:latin typeface="DM Sans" pitchFamily="2" charset="0"/>
                        </a:rPr>
                        <a:t>Product_line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2000" b="1" i="0" u="none" strike="noStrike" dirty="0">
                          <a:solidFill>
                            <a:srgbClr val="FFFFFF"/>
                          </a:solidFill>
                          <a:effectLst/>
                          <a:latin typeface="DM Sans" pitchFamily="2" charset="0"/>
                        </a:rPr>
                        <a:t>Anomalies_detected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2000" b="1" i="0" u="none" strike="noStrike" dirty="0">
                          <a:solidFill>
                            <a:srgbClr val="FFFFFF"/>
                          </a:solidFill>
                          <a:effectLst/>
                          <a:latin typeface="DM Sans" pitchFamily="2" charset="0"/>
                        </a:rPr>
                        <a:t>Total_transactions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2000" b="1" i="0" u="none" strike="noStrike" dirty="0">
                          <a:solidFill>
                            <a:srgbClr val="FFFFFF"/>
                          </a:solidFill>
                          <a:effectLst/>
                          <a:latin typeface="DM Sans" pitchFamily="2" charset="0"/>
                        </a:rPr>
                        <a:t>% of anomalies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738796939"/>
                  </a:ext>
                </a:extLst>
              </a:tr>
              <a:tr h="799755">
                <a:tc>
                  <a:txBody>
                    <a:bodyPr/>
                    <a:lstStyle/>
                    <a:p>
                      <a:pPr algn="ctr" fontAlgn="ctr">
                        <a:buNone/>
                      </a:pPr>
                      <a:r>
                        <a:rPr lang="en-IN" sz="2000" b="0" i="0" u="none" strike="noStrike" dirty="0">
                          <a:solidFill>
                            <a:srgbClr val="000000"/>
                          </a:solidFill>
                          <a:effectLst/>
                          <a:latin typeface="DM Sans" pitchFamily="2" charset="0"/>
                        </a:rPr>
                        <a:t>Food and beverages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buNone/>
                      </a:pPr>
                      <a:r>
                        <a:rPr lang="en-IN" sz="2000" b="0" i="0" u="none" strike="noStrike" dirty="0">
                          <a:solidFill>
                            <a:srgbClr val="000000"/>
                          </a:solidFill>
                          <a:effectLst/>
                          <a:latin typeface="DM Sans" pitchFamily="2" charset="0"/>
                        </a:rPr>
                        <a:t>12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2000" b="0" i="0" u="none" strike="noStrike" dirty="0">
                          <a:solidFill>
                            <a:srgbClr val="000000"/>
                          </a:solidFill>
                          <a:effectLst/>
                          <a:latin typeface="DM Sans" pitchFamily="2" charset="0"/>
                        </a:rPr>
                        <a:t>174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IN" sz="2000" b="0" i="0" u="none" strike="noStrike" dirty="0">
                          <a:solidFill>
                            <a:srgbClr val="000000"/>
                          </a:solidFill>
                          <a:effectLst/>
                          <a:latin typeface="DM Sans" pitchFamily="2" charset="0"/>
                        </a:rPr>
                        <a:t>6.9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049558704"/>
                  </a:ext>
                </a:extLst>
              </a:tr>
              <a:tr h="799755">
                <a:tc>
                  <a:txBody>
                    <a:bodyPr/>
                    <a:lstStyle/>
                    <a:p>
                      <a:pPr algn="ctr" fontAlgn="ctr">
                        <a:buNone/>
                      </a:pPr>
                      <a:r>
                        <a:rPr lang="en-IN" sz="2000" b="0" i="0" u="none" strike="noStrike" dirty="0">
                          <a:solidFill>
                            <a:srgbClr val="000000"/>
                          </a:solidFill>
                          <a:effectLst/>
                          <a:latin typeface="DM Sans" pitchFamily="2" charset="0"/>
                        </a:rPr>
                        <a:t>Electronic accessories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buNone/>
                      </a:pPr>
                      <a:r>
                        <a:rPr lang="en-IN" sz="2000" b="0" i="0" u="none" strike="noStrike" dirty="0">
                          <a:solidFill>
                            <a:srgbClr val="000000"/>
                          </a:solidFill>
                          <a:effectLst/>
                          <a:latin typeface="DM Sans" pitchFamily="2"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2000" b="0" i="0" u="none" strike="noStrike" dirty="0">
                          <a:solidFill>
                            <a:srgbClr val="000000"/>
                          </a:solidFill>
                          <a:effectLst/>
                          <a:latin typeface="DM Sans" pitchFamily="2" charset="0"/>
                        </a:rPr>
                        <a:t>170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IN" sz="2000" b="0" i="0" u="none" strike="noStrike" dirty="0">
                          <a:solidFill>
                            <a:srgbClr val="000000"/>
                          </a:solidFill>
                          <a:effectLst/>
                          <a:latin typeface="DM Sans" pitchFamily="2" charset="0"/>
                        </a:rPr>
                        <a:t>5.29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948144405"/>
                  </a:ext>
                </a:extLst>
              </a:tr>
              <a:tr h="799755">
                <a:tc>
                  <a:txBody>
                    <a:bodyPr/>
                    <a:lstStyle/>
                    <a:p>
                      <a:pPr algn="ctr" fontAlgn="ctr">
                        <a:buNone/>
                      </a:pPr>
                      <a:r>
                        <a:rPr lang="en-IN" sz="2000" b="0" i="0" u="none" strike="noStrike" dirty="0">
                          <a:solidFill>
                            <a:srgbClr val="000000"/>
                          </a:solidFill>
                          <a:effectLst/>
                          <a:latin typeface="DM Sans" pitchFamily="2" charset="0"/>
                        </a:rPr>
                        <a:t>Fashion accessories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buNone/>
                      </a:pPr>
                      <a:r>
                        <a:rPr lang="en-IN" sz="2000" b="0" i="0" u="none" strike="noStrike" dirty="0">
                          <a:solidFill>
                            <a:srgbClr val="000000"/>
                          </a:solidFill>
                          <a:effectLst/>
                          <a:latin typeface="DM Sans" pitchFamily="2" charset="0"/>
                        </a:rPr>
                        <a:t>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2000" b="0" i="0" u="none" strike="noStrike" dirty="0">
                          <a:solidFill>
                            <a:srgbClr val="000000"/>
                          </a:solidFill>
                          <a:effectLst/>
                          <a:latin typeface="DM Sans" pitchFamily="2" charset="0"/>
                        </a:rPr>
                        <a:t>178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IN" sz="2000" b="0" i="0" u="none" strike="noStrike" dirty="0">
                          <a:solidFill>
                            <a:srgbClr val="000000"/>
                          </a:solidFill>
                          <a:effectLst/>
                          <a:latin typeface="DM Sans" pitchFamily="2" charset="0"/>
                        </a:rPr>
                        <a:t>5.06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2541092436"/>
                  </a:ext>
                </a:extLst>
              </a:tr>
              <a:tr h="799755">
                <a:tc>
                  <a:txBody>
                    <a:bodyPr/>
                    <a:lstStyle/>
                    <a:p>
                      <a:pPr algn="ctr" fontAlgn="ctr">
                        <a:buNone/>
                      </a:pPr>
                      <a:r>
                        <a:rPr lang="en-IN" sz="2000" b="0" i="0" u="none" strike="noStrike" dirty="0">
                          <a:solidFill>
                            <a:srgbClr val="000000"/>
                          </a:solidFill>
                          <a:effectLst/>
                          <a:latin typeface="DM Sans" pitchFamily="2" charset="0"/>
                        </a:rPr>
                        <a:t>Sports and travel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buNone/>
                      </a:pPr>
                      <a:r>
                        <a:rPr lang="en-IN" sz="2000" b="0" i="0" u="none" strike="noStrike" dirty="0">
                          <a:solidFill>
                            <a:srgbClr val="000000"/>
                          </a:solidFill>
                          <a:effectLst/>
                          <a:latin typeface="DM Sans" pitchFamily="2"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2000" b="0" i="0" u="none" strike="noStrike" dirty="0">
                          <a:solidFill>
                            <a:srgbClr val="000000"/>
                          </a:solidFill>
                          <a:effectLst/>
                          <a:latin typeface="DM Sans" pitchFamily="2" charset="0"/>
                        </a:rPr>
                        <a:t>166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IN" sz="2000" b="0" i="0" u="none" strike="noStrike" dirty="0">
                          <a:solidFill>
                            <a:srgbClr val="000000"/>
                          </a:solidFill>
                          <a:effectLst/>
                          <a:latin typeface="DM Sans" pitchFamily="2" charset="0"/>
                        </a:rPr>
                        <a:t>4.82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3371409823"/>
                  </a:ext>
                </a:extLst>
              </a:tr>
              <a:tr h="799755">
                <a:tc>
                  <a:txBody>
                    <a:bodyPr/>
                    <a:lstStyle/>
                    <a:p>
                      <a:pPr algn="ctr" fontAlgn="ctr">
                        <a:buNone/>
                      </a:pPr>
                      <a:r>
                        <a:rPr lang="en-IN" sz="2000" b="0" i="0" u="none" strike="noStrike" dirty="0">
                          <a:solidFill>
                            <a:srgbClr val="000000"/>
                          </a:solidFill>
                          <a:effectLst/>
                          <a:latin typeface="DM Sans" pitchFamily="2" charset="0"/>
                        </a:rPr>
                        <a:t>Health and beauty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buNone/>
                      </a:pPr>
                      <a:r>
                        <a:rPr lang="en-IN" sz="2000" b="0" i="0" u="none" strike="noStrike" dirty="0">
                          <a:solidFill>
                            <a:srgbClr val="000000"/>
                          </a:solidFill>
                          <a:effectLst/>
                          <a:latin typeface="DM Sans" pitchFamily="2" charset="0"/>
                        </a:rPr>
                        <a: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2000" b="0" i="0" u="none" strike="noStrike" dirty="0">
                          <a:solidFill>
                            <a:srgbClr val="000000"/>
                          </a:solidFill>
                          <a:effectLst/>
                          <a:latin typeface="DM Sans" pitchFamily="2" charset="0"/>
                        </a:rPr>
                        <a:t>152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IN" sz="2000" b="0" i="0" u="none" strike="noStrike" dirty="0">
                          <a:solidFill>
                            <a:srgbClr val="000000"/>
                          </a:solidFill>
                          <a:effectLst/>
                          <a:latin typeface="DM Sans" pitchFamily="2" charset="0"/>
                        </a:rPr>
                        <a:t>4.61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415486636"/>
                  </a:ext>
                </a:extLst>
              </a:tr>
              <a:tr h="799755">
                <a:tc>
                  <a:txBody>
                    <a:bodyPr/>
                    <a:lstStyle/>
                    <a:p>
                      <a:pPr algn="ctr" fontAlgn="ctr">
                        <a:buNone/>
                      </a:pPr>
                      <a:r>
                        <a:rPr lang="en-IN" sz="2000" b="0" i="0" u="none" strike="noStrike" dirty="0">
                          <a:solidFill>
                            <a:srgbClr val="000000"/>
                          </a:solidFill>
                          <a:effectLst/>
                          <a:latin typeface="DM Sans" pitchFamily="2" charset="0"/>
                        </a:rPr>
                        <a:t>Home and lifestyle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2">
                        <a:lumMod val="90000"/>
                      </a:schemeClr>
                    </a:solidFill>
                  </a:tcPr>
                </a:tc>
                <a:tc>
                  <a:txBody>
                    <a:bodyPr/>
                    <a:lstStyle/>
                    <a:p>
                      <a:pPr algn="ctr" fontAlgn="ctr">
                        <a:buNone/>
                      </a:pPr>
                      <a:r>
                        <a:rPr lang="en-IN" sz="2000" b="0" i="0" u="none" strike="noStrike" dirty="0">
                          <a:solidFill>
                            <a:srgbClr val="000000"/>
                          </a:solidFill>
                          <a:effectLst/>
                          <a:latin typeface="DM Sans" pitchFamily="2" charset="0"/>
                        </a:rPr>
                        <a:t>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2000" b="0" i="0" u="none" strike="noStrike" dirty="0">
                          <a:solidFill>
                            <a:srgbClr val="000000"/>
                          </a:solidFill>
                          <a:effectLst/>
                          <a:latin typeface="DM Sans" pitchFamily="2" charset="0"/>
                        </a:rPr>
                        <a:t>160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buNone/>
                      </a:pPr>
                      <a:r>
                        <a:rPr lang="en-IN" sz="2000" b="0" i="0" u="none" strike="noStrike" dirty="0">
                          <a:solidFill>
                            <a:srgbClr val="000000"/>
                          </a:solidFill>
                          <a:effectLst/>
                          <a:latin typeface="DM Sans" pitchFamily="2" charset="0"/>
                        </a:rPr>
                        <a:t>3.75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50000"/>
                      </a:schemeClr>
                    </a:solidFill>
                  </a:tcPr>
                </a:tc>
                <a:extLst>
                  <a:ext uri="{0D108BD9-81ED-4DB2-BD59-A6C34878D82A}">
                    <a16:rowId xmlns:a16="http://schemas.microsoft.com/office/drawing/2014/main" val="4030247832"/>
                  </a:ext>
                </a:extLst>
              </a:tr>
            </a:tbl>
          </a:graphicData>
        </a:graphic>
      </p:graphicFrame>
      <p:graphicFrame>
        <p:nvGraphicFramePr>
          <p:cNvPr id="5" name="Chart 4">
            <a:extLst>
              <a:ext uri="{FF2B5EF4-FFF2-40B4-BE49-F238E27FC236}">
                <a16:creationId xmlns:a16="http://schemas.microsoft.com/office/drawing/2014/main" id="{8D1F7C8A-9F0B-A73A-C514-3EA98A1556CE}"/>
              </a:ext>
            </a:extLst>
          </p:cNvPr>
          <p:cNvGraphicFramePr>
            <a:graphicFrameLocks/>
          </p:cNvGraphicFramePr>
          <p:nvPr>
            <p:extLst>
              <p:ext uri="{D42A27DB-BD31-4B8C-83A1-F6EECF244321}">
                <p14:modId xmlns:p14="http://schemas.microsoft.com/office/powerpoint/2010/main" val="1839135138"/>
              </p:ext>
            </p:extLst>
          </p:nvPr>
        </p:nvGraphicFramePr>
        <p:xfrm>
          <a:off x="8610600" y="3964814"/>
          <a:ext cx="9263063" cy="5598285"/>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8977756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8FFD-C91D-546E-B4F8-6C7CFFDF7EA8}"/>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38B278C5-F6BE-A4C4-C37F-F2B9C67779D0}"/>
              </a:ext>
            </a:extLst>
          </p:cNvPr>
          <p:cNvSpPr/>
          <p:nvPr/>
        </p:nvSpPr>
        <p:spPr>
          <a:xfrm>
            <a:off x="-276705" y="-1143190"/>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4" name="Group 4">
            <a:extLst>
              <a:ext uri="{FF2B5EF4-FFF2-40B4-BE49-F238E27FC236}">
                <a16:creationId xmlns:a16="http://schemas.microsoft.com/office/drawing/2014/main" id="{17E8F35D-DE6F-CA22-CA25-815918B92942}"/>
              </a:ext>
            </a:extLst>
          </p:cNvPr>
          <p:cNvGrpSpPr/>
          <p:nvPr/>
        </p:nvGrpSpPr>
        <p:grpSpPr>
          <a:xfrm>
            <a:off x="780762" y="647701"/>
            <a:ext cx="11530731" cy="7772400"/>
            <a:chOff x="-1058884" y="-19050"/>
            <a:chExt cx="3428148" cy="2265151"/>
          </a:xfrm>
        </p:grpSpPr>
        <p:sp>
          <p:nvSpPr>
            <p:cNvPr id="5" name="Freeform 5">
              <a:extLst>
                <a:ext uri="{FF2B5EF4-FFF2-40B4-BE49-F238E27FC236}">
                  <a16:creationId xmlns:a16="http://schemas.microsoft.com/office/drawing/2014/main" id="{6657E9E5-2ED8-FB46-BB20-62269E311B99}"/>
                </a:ext>
              </a:extLst>
            </p:cNvPr>
            <p:cNvSpPr/>
            <p:nvPr/>
          </p:nvSpPr>
          <p:spPr>
            <a:xfrm>
              <a:off x="-1058884" y="305192"/>
              <a:ext cx="1309274" cy="1940909"/>
            </a:xfrm>
            <a:custGeom>
              <a:avLst/>
              <a:gdLst/>
              <a:ahLst/>
              <a:cxnLst/>
              <a:rect l="l" t="t" r="r" b="b"/>
              <a:pathLst>
                <a:path w="2369264" h="2084956">
                  <a:moveTo>
                    <a:pt x="0" y="0"/>
                  </a:moveTo>
                  <a:lnTo>
                    <a:pt x="2369264" y="0"/>
                  </a:lnTo>
                  <a:lnTo>
                    <a:pt x="2369264" y="2084956"/>
                  </a:lnTo>
                  <a:lnTo>
                    <a:pt x="0" y="2084956"/>
                  </a:lnTo>
                  <a:close/>
                </a:path>
              </a:pathLst>
            </a:custGeom>
            <a:solidFill>
              <a:schemeClr val="bg2">
                <a:lumMod val="10000"/>
              </a:schemeClr>
            </a:solidFill>
            <a:ln w="9525" cap="sq">
              <a:solidFill>
                <a:srgbClr val="2B2A2A"/>
              </a:solidFill>
              <a:prstDash val="solid"/>
              <a:miter/>
            </a:ln>
          </p:spPr>
          <p:txBody>
            <a:bodyPr/>
            <a:lstStyle/>
            <a:p>
              <a:pPr algn="ctr"/>
              <a:endParaRPr lang="en-IN" dirty="0"/>
            </a:p>
          </p:txBody>
        </p:sp>
        <p:sp>
          <p:nvSpPr>
            <p:cNvPr id="6" name="TextBox 6">
              <a:extLst>
                <a:ext uri="{FF2B5EF4-FFF2-40B4-BE49-F238E27FC236}">
                  <a16:creationId xmlns:a16="http://schemas.microsoft.com/office/drawing/2014/main" id="{C930026B-64F9-17FF-9AB1-DEEE2BDE39A5}"/>
                </a:ext>
              </a:extLst>
            </p:cNvPr>
            <p:cNvSpPr txBox="1"/>
            <p:nvPr/>
          </p:nvSpPr>
          <p:spPr>
            <a:xfrm>
              <a:off x="0" y="-19050"/>
              <a:ext cx="2369264" cy="2104006"/>
            </a:xfrm>
            <a:prstGeom prst="rect">
              <a:avLst/>
            </a:prstGeom>
          </p:spPr>
          <p:txBody>
            <a:bodyPr lIns="50800" tIns="50800" rIns="50800" bIns="50800" rtlCol="0" anchor="ctr"/>
            <a:lstStyle/>
            <a:p>
              <a:pPr algn="ctr">
                <a:lnSpc>
                  <a:spcPts val="2859"/>
                </a:lnSpc>
              </a:pPr>
              <a:endParaRPr/>
            </a:p>
          </p:txBody>
        </p:sp>
      </p:grpSp>
      <p:sp>
        <p:nvSpPr>
          <p:cNvPr id="7" name="TextBox 14">
            <a:extLst>
              <a:ext uri="{FF2B5EF4-FFF2-40B4-BE49-F238E27FC236}">
                <a16:creationId xmlns:a16="http://schemas.microsoft.com/office/drawing/2014/main" id="{C9F0A554-BD92-769D-A0CB-8EC5EEF21DE1}"/>
              </a:ext>
            </a:extLst>
          </p:cNvPr>
          <p:cNvSpPr txBox="1"/>
          <p:nvPr/>
        </p:nvSpPr>
        <p:spPr>
          <a:xfrm>
            <a:off x="943884" y="1661343"/>
            <a:ext cx="5949563" cy="932563"/>
          </a:xfrm>
          <a:prstGeom prst="rect">
            <a:avLst/>
          </a:prstGeom>
        </p:spPr>
        <p:txBody>
          <a:bodyPr lIns="0" tIns="0" rIns="0" bIns="0" rtlCol="0" anchor="t">
            <a:spAutoFit/>
          </a:bodyPr>
          <a:lstStyle/>
          <a:p>
            <a:pPr marL="0" lvl="0" indent="0" algn="l">
              <a:lnSpc>
                <a:spcPts val="8811"/>
              </a:lnSpc>
              <a:spcBef>
                <a:spcPct val="0"/>
              </a:spcBef>
            </a:pPr>
            <a:r>
              <a:rPr lang="en-US" sz="2400" spc="625" dirty="0">
                <a:solidFill>
                  <a:srgbClr val="FEFFFF"/>
                </a:solidFill>
                <a:latin typeface="Poppins"/>
                <a:ea typeface="Poppins"/>
                <a:cs typeface="Poppins"/>
                <a:sym typeface="Poppins"/>
              </a:rPr>
              <a:t>BUSINESS PROBLEM</a:t>
            </a:r>
            <a:endParaRPr lang="en-US" sz="6384" spc="625" dirty="0">
              <a:solidFill>
                <a:srgbClr val="FEFFFF"/>
              </a:solidFill>
              <a:latin typeface="Poppins"/>
              <a:ea typeface="Poppins"/>
              <a:cs typeface="Poppins"/>
              <a:sym typeface="Poppins"/>
            </a:endParaRPr>
          </a:p>
        </p:txBody>
      </p:sp>
      <p:sp>
        <p:nvSpPr>
          <p:cNvPr id="8" name="TextBox 12">
            <a:extLst>
              <a:ext uri="{FF2B5EF4-FFF2-40B4-BE49-F238E27FC236}">
                <a16:creationId xmlns:a16="http://schemas.microsoft.com/office/drawing/2014/main" id="{A3AB6F30-4134-CB08-FDE1-7E8A62086376}"/>
              </a:ext>
            </a:extLst>
          </p:cNvPr>
          <p:cNvSpPr txBox="1"/>
          <p:nvPr/>
        </p:nvSpPr>
        <p:spPr>
          <a:xfrm>
            <a:off x="924892" y="2662669"/>
            <a:ext cx="4197179" cy="3189527"/>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Walmart wants to know which payment method (Cash, Credit Card, or E-wallet) is most preferred in each city. This helps tailor marketing strategies and partnerships with financial/payment providers..</a:t>
            </a:r>
            <a:endParaRPr lang="en-US" sz="1975" spc="41" dirty="0">
              <a:solidFill>
                <a:schemeClr val="bg1"/>
              </a:solidFill>
              <a:latin typeface="DM Sans" pitchFamily="2" charset="0"/>
              <a:ea typeface="DM Sans"/>
              <a:cs typeface="DM Sans"/>
              <a:sym typeface="DM Sans"/>
            </a:endParaRPr>
          </a:p>
        </p:txBody>
      </p:sp>
      <p:sp>
        <p:nvSpPr>
          <p:cNvPr id="9" name="TextBox 14">
            <a:extLst>
              <a:ext uri="{FF2B5EF4-FFF2-40B4-BE49-F238E27FC236}">
                <a16:creationId xmlns:a16="http://schemas.microsoft.com/office/drawing/2014/main" id="{F53D008D-10F3-D4A8-04BB-C17AA39FEA94}"/>
              </a:ext>
            </a:extLst>
          </p:cNvPr>
          <p:cNvSpPr txBox="1"/>
          <p:nvPr/>
        </p:nvSpPr>
        <p:spPr>
          <a:xfrm>
            <a:off x="943883" y="5659509"/>
            <a:ext cx="5949563" cy="932563"/>
          </a:xfrm>
          <a:prstGeom prst="rect">
            <a:avLst/>
          </a:prstGeom>
        </p:spPr>
        <p:txBody>
          <a:bodyPr lIns="0" tIns="0" rIns="0" bIns="0" rtlCol="0" anchor="t">
            <a:spAutoFit/>
          </a:bodyPr>
          <a:lstStyle/>
          <a:p>
            <a:pPr lvl="0">
              <a:lnSpc>
                <a:spcPts val="8811"/>
              </a:lnSpc>
              <a:spcBef>
                <a:spcPct val="0"/>
              </a:spcBef>
            </a:pPr>
            <a:r>
              <a:rPr lang="en-US" sz="2400" spc="625" dirty="0">
                <a:solidFill>
                  <a:srgbClr val="FEFFFF"/>
                </a:solidFill>
                <a:latin typeface="Poppins"/>
                <a:ea typeface="Poppins"/>
                <a:cs typeface="Poppins"/>
                <a:sym typeface="Poppins"/>
              </a:rPr>
              <a:t>OBJECTIVE</a:t>
            </a:r>
            <a:endParaRPr lang="en-US" sz="6384" spc="625" dirty="0">
              <a:solidFill>
                <a:srgbClr val="FEFFFF"/>
              </a:solidFill>
              <a:latin typeface="Poppins"/>
              <a:ea typeface="Poppins"/>
              <a:cs typeface="Poppins"/>
              <a:sym typeface="Poppins"/>
            </a:endParaRPr>
          </a:p>
        </p:txBody>
      </p:sp>
      <p:sp>
        <p:nvSpPr>
          <p:cNvPr id="10" name="TextBox 12">
            <a:extLst>
              <a:ext uri="{FF2B5EF4-FFF2-40B4-BE49-F238E27FC236}">
                <a16:creationId xmlns:a16="http://schemas.microsoft.com/office/drawing/2014/main" id="{99AC2ECA-1BC1-6DF4-E63D-2F14733E6FF6}"/>
              </a:ext>
            </a:extLst>
          </p:cNvPr>
          <p:cNvSpPr txBox="1"/>
          <p:nvPr/>
        </p:nvSpPr>
        <p:spPr>
          <a:xfrm>
            <a:off x="952090" y="6802047"/>
            <a:ext cx="4148880" cy="1341586"/>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Identify the most popular payment method in each city based on transaction count.</a:t>
            </a:r>
            <a:endParaRPr lang="en-US" sz="1975" spc="41" dirty="0">
              <a:solidFill>
                <a:schemeClr val="bg1"/>
              </a:solidFill>
              <a:latin typeface="DM Sans" pitchFamily="2" charset="0"/>
              <a:ea typeface="DM Sans"/>
              <a:cs typeface="DM Sans"/>
              <a:sym typeface="DM Sans"/>
            </a:endParaRPr>
          </a:p>
        </p:txBody>
      </p:sp>
      <p:sp>
        <p:nvSpPr>
          <p:cNvPr id="11" name="TextBox 4">
            <a:extLst>
              <a:ext uri="{FF2B5EF4-FFF2-40B4-BE49-F238E27FC236}">
                <a16:creationId xmlns:a16="http://schemas.microsoft.com/office/drawing/2014/main" id="{CA08526C-3182-F131-47C3-5655643BFA75}"/>
              </a:ext>
            </a:extLst>
          </p:cNvPr>
          <p:cNvSpPr txBox="1"/>
          <p:nvPr/>
        </p:nvSpPr>
        <p:spPr>
          <a:xfrm>
            <a:off x="3200400" y="419100"/>
            <a:ext cx="11530731" cy="1231106"/>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 5 – Most Popular Payment Method by City</a:t>
            </a:r>
            <a:endParaRPr lang="en-US" sz="4000" spc="1212" dirty="0">
              <a:solidFill>
                <a:srgbClr val="2B2A2A"/>
              </a:solidFill>
              <a:latin typeface="Poppins Bold" panose="00000800000000000000" charset="0"/>
              <a:ea typeface="Poppins Bold"/>
              <a:cs typeface="Poppins Bold" panose="00000800000000000000" charset="0"/>
              <a:sym typeface="Poppins Bold"/>
            </a:endParaRPr>
          </a:p>
        </p:txBody>
      </p:sp>
      <p:sp>
        <p:nvSpPr>
          <p:cNvPr id="12" name="TextBox 14">
            <a:extLst>
              <a:ext uri="{FF2B5EF4-FFF2-40B4-BE49-F238E27FC236}">
                <a16:creationId xmlns:a16="http://schemas.microsoft.com/office/drawing/2014/main" id="{E71D0E17-3AE6-AA50-4F22-595021FD273C}"/>
              </a:ext>
            </a:extLst>
          </p:cNvPr>
          <p:cNvSpPr txBox="1"/>
          <p:nvPr/>
        </p:nvSpPr>
        <p:spPr>
          <a:xfrm>
            <a:off x="6956752" y="1446631"/>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SQL Query </a:t>
            </a:r>
            <a:endParaRPr lang="en-US" sz="6384" spc="625" dirty="0">
              <a:latin typeface="Poppins"/>
              <a:ea typeface="Poppins"/>
              <a:cs typeface="Poppins"/>
              <a:sym typeface="Poppins"/>
            </a:endParaRPr>
          </a:p>
        </p:txBody>
      </p:sp>
      <p:sp>
        <p:nvSpPr>
          <p:cNvPr id="19" name="TextBox 14">
            <a:extLst>
              <a:ext uri="{FF2B5EF4-FFF2-40B4-BE49-F238E27FC236}">
                <a16:creationId xmlns:a16="http://schemas.microsoft.com/office/drawing/2014/main" id="{174264F6-E2AA-EB81-4AA2-E9CF670629A3}"/>
              </a:ext>
            </a:extLst>
          </p:cNvPr>
          <p:cNvSpPr txBox="1"/>
          <p:nvPr/>
        </p:nvSpPr>
        <p:spPr>
          <a:xfrm>
            <a:off x="13925980" y="1025490"/>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Result </a:t>
            </a:r>
            <a:endParaRPr lang="en-US" sz="6384" spc="625" dirty="0">
              <a:latin typeface="Poppins"/>
              <a:ea typeface="Poppins"/>
              <a:cs typeface="Poppins"/>
              <a:sym typeface="Poppins"/>
            </a:endParaRPr>
          </a:p>
        </p:txBody>
      </p:sp>
      <p:sp>
        <p:nvSpPr>
          <p:cNvPr id="21" name="Rectangle 20">
            <a:extLst>
              <a:ext uri="{FF2B5EF4-FFF2-40B4-BE49-F238E27FC236}">
                <a16:creationId xmlns:a16="http://schemas.microsoft.com/office/drawing/2014/main" id="{F310C0B2-00B9-D18D-E508-522F9A4451E1}"/>
              </a:ext>
            </a:extLst>
          </p:cNvPr>
          <p:cNvSpPr/>
          <p:nvPr/>
        </p:nvSpPr>
        <p:spPr>
          <a:xfrm>
            <a:off x="10845544" y="3788435"/>
            <a:ext cx="7121889" cy="1492232"/>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DM Sans" pitchFamily="2" charset="0"/>
                <a:cs typeface="Poppins" panose="00000500000000000000" pitchFamily="2" charset="0"/>
              </a:rPr>
              <a:t>Insight</a:t>
            </a:r>
          </a:p>
          <a:p>
            <a:r>
              <a:rPr lang="en-US" dirty="0"/>
              <a:t>Payment preferences differ by city: e.g., </a:t>
            </a:r>
            <a:r>
              <a:rPr lang="en-US" b="1" dirty="0"/>
              <a:t>Yangon customers prefer E-wallets, Mandalay favors Cash, and Naypyitaw prefers Credit cards</a:t>
            </a:r>
            <a:r>
              <a:rPr lang="en-US" dirty="0"/>
              <a:t>. Walmart should customize promotions and partnerships based on city-specific payment trends.</a:t>
            </a:r>
            <a:endParaRPr lang="en-US" b="1" dirty="0">
              <a:latin typeface="DM Sans" pitchFamily="2" charset="0"/>
              <a:cs typeface="Poppins" panose="00000500000000000000" pitchFamily="2" charset="0"/>
            </a:endParaRPr>
          </a:p>
        </p:txBody>
      </p:sp>
      <p:sp>
        <p:nvSpPr>
          <p:cNvPr id="22" name="Rectangle 21">
            <a:extLst>
              <a:ext uri="{FF2B5EF4-FFF2-40B4-BE49-F238E27FC236}">
                <a16:creationId xmlns:a16="http://schemas.microsoft.com/office/drawing/2014/main" id="{6687D500-352B-479A-67BC-BECC5D084593}"/>
              </a:ext>
            </a:extLst>
          </p:cNvPr>
          <p:cNvSpPr/>
          <p:nvPr/>
        </p:nvSpPr>
        <p:spPr>
          <a:xfrm>
            <a:off x="535882" y="8744412"/>
            <a:ext cx="9978760" cy="1123488"/>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Approach</a:t>
            </a:r>
            <a:endParaRPr lang="en-US" sz="800" b="1" dirty="0">
              <a:latin typeface="Poppins" panose="00000500000000000000" pitchFamily="2" charset="0"/>
              <a:cs typeface="Poppins" panose="00000500000000000000" pitchFamily="2" charset="0"/>
            </a:endParaRPr>
          </a:p>
          <a:p>
            <a:r>
              <a:rPr lang="en-US" dirty="0">
                <a:latin typeface="DM Sans" pitchFamily="2" charset="0"/>
                <a:cs typeface="Poppins" panose="00000500000000000000" pitchFamily="2" charset="0"/>
              </a:rPr>
              <a:t>Counted transactions per payment method in each city, ranked them using ROW_NUMBER(), and selected the top method per city.</a:t>
            </a:r>
          </a:p>
        </p:txBody>
      </p:sp>
      <p:pic>
        <p:nvPicPr>
          <p:cNvPr id="26" name="Picture 2">
            <a:extLst>
              <a:ext uri="{FF2B5EF4-FFF2-40B4-BE49-F238E27FC236}">
                <a16:creationId xmlns:a16="http://schemas.microsoft.com/office/drawing/2014/main" id="{30D32DAC-BD4E-9617-DDAD-1B02C612F86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54400" y="-34787"/>
            <a:ext cx="2283419" cy="1673642"/>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A screenshot of a computer code&#10;&#10;AI-generated content may be incorrect.">
            <a:extLst>
              <a:ext uri="{FF2B5EF4-FFF2-40B4-BE49-F238E27FC236}">
                <a16:creationId xmlns:a16="http://schemas.microsoft.com/office/drawing/2014/main" id="{89B4FFA2-941B-2FAC-01A9-DF78AB0B00E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46768" y="2552942"/>
            <a:ext cx="5098354" cy="6027229"/>
          </a:xfrm>
          <a:prstGeom prst="rect">
            <a:avLst/>
          </a:prstGeom>
        </p:spPr>
      </p:pic>
      <p:graphicFrame>
        <p:nvGraphicFramePr>
          <p:cNvPr id="17" name="Table 16">
            <a:extLst>
              <a:ext uri="{FF2B5EF4-FFF2-40B4-BE49-F238E27FC236}">
                <a16:creationId xmlns:a16="http://schemas.microsoft.com/office/drawing/2014/main" id="{68F61343-1AE3-00DC-7A71-467D4B20E7E6}"/>
              </a:ext>
            </a:extLst>
          </p:cNvPr>
          <p:cNvGraphicFramePr>
            <a:graphicFrameLocks noGrp="1"/>
          </p:cNvGraphicFramePr>
          <p:nvPr>
            <p:extLst>
              <p:ext uri="{D42A27DB-BD31-4B8C-83A1-F6EECF244321}">
                <p14:modId xmlns:p14="http://schemas.microsoft.com/office/powerpoint/2010/main" val="1162816666"/>
              </p:ext>
            </p:extLst>
          </p:nvPr>
        </p:nvGraphicFramePr>
        <p:xfrm>
          <a:off x="10852577" y="2175230"/>
          <a:ext cx="7114855" cy="1492232"/>
        </p:xfrm>
        <a:graphic>
          <a:graphicData uri="http://schemas.openxmlformats.org/drawingml/2006/table">
            <a:tbl>
              <a:tblPr/>
              <a:tblGrid>
                <a:gridCol w="1524612">
                  <a:extLst>
                    <a:ext uri="{9D8B030D-6E8A-4147-A177-3AD203B41FA5}">
                      <a16:colId xmlns:a16="http://schemas.microsoft.com/office/drawing/2014/main" val="3557954472"/>
                    </a:ext>
                  </a:extLst>
                </a:gridCol>
                <a:gridCol w="3077998">
                  <a:extLst>
                    <a:ext uri="{9D8B030D-6E8A-4147-A177-3AD203B41FA5}">
                      <a16:colId xmlns:a16="http://schemas.microsoft.com/office/drawing/2014/main" val="4148971571"/>
                    </a:ext>
                  </a:extLst>
                </a:gridCol>
                <a:gridCol w="2512245">
                  <a:extLst>
                    <a:ext uri="{9D8B030D-6E8A-4147-A177-3AD203B41FA5}">
                      <a16:colId xmlns:a16="http://schemas.microsoft.com/office/drawing/2014/main" val="1672588191"/>
                    </a:ext>
                  </a:extLst>
                </a:gridCol>
              </a:tblGrid>
              <a:tr h="373058">
                <a:tc>
                  <a:txBody>
                    <a:bodyPr/>
                    <a:lstStyle/>
                    <a:p>
                      <a:pPr algn="ctr" fontAlgn="ctr">
                        <a:buNone/>
                      </a:pPr>
                      <a:r>
                        <a:rPr lang="en-IN" sz="1800" b="1" i="0" u="none" strike="noStrike">
                          <a:solidFill>
                            <a:srgbClr val="FFFFFF"/>
                          </a:solidFill>
                          <a:effectLst/>
                          <a:latin typeface="DM Sans" pitchFamily="2" charset="0"/>
                        </a:rPr>
                        <a:t>City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800" b="1" i="0" u="none" strike="noStrike" dirty="0">
                          <a:solidFill>
                            <a:srgbClr val="FFFFFF"/>
                          </a:solidFill>
                          <a:effectLst/>
                          <a:latin typeface="DM Sans" pitchFamily="2" charset="0"/>
                        </a:rPr>
                        <a:t>Top_payment_method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800" b="1" i="0" u="none" strike="noStrike" dirty="0">
                          <a:solidFill>
                            <a:srgbClr val="FFFFFF"/>
                          </a:solidFill>
                          <a:effectLst/>
                          <a:latin typeface="DM Sans" pitchFamily="2" charset="0"/>
                        </a:rPr>
                        <a:t>Transaction_count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1791922706"/>
                  </a:ext>
                </a:extLst>
              </a:tr>
              <a:tr h="373058">
                <a:tc>
                  <a:txBody>
                    <a:bodyPr/>
                    <a:lstStyle/>
                    <a:p>
                      <a:pPr algn="ctr" fontAlgn="ctr">
                        <a:buNone/>
                      </a:pPr>
                      <a:r>
                        <a:rPr lang="en-IN" sz="1800" b="0" i="0" u="none" strike="noStrike" dirty="0">
                          <a:solidFill>
                            <a:srgbClr val="000000"/>
                          </a:solidFill>
                          <a:effectLst/>
                          <a:latin typeface="DM Sans" pitchFamily="2" charset="0"/>
                        </a:rPr>
                        <a:t>Mandalay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dirty="0">
                          <a:solidFill>
                            <a:srgbClr val="000000"/>
                          </a:solidFill>
                          <a:effectLst/>
                          <a:latin typeface="DM Sans" pitchFamily="2" charset="0"/>
                        </a:rPr>
                        <a:t>Ewallet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dirty="0">
                          <a:solidFill>
                            <a:srgbClr val="000000"/>
                          </a:solidFill>
                          <a:effectLst/>
                          <a:latin typeface="DM Sans" pitchFamily="2" charset="0"/>
                        </a:rPr>
                        <a:t>113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9866880"/>
                  </a:ext>
                </a:extLst>
              </a:tr>
              <a:tr h="373058">
                <a:tc>
                  <a:txBody>
                    <a:bodyPr/>
                    <a:lstStyle/>
                    <a:p>
                      <a:pPr algn="ctr" fontAlgn="ctr">
                        <a:buNone/>
                      </a:pPr>
                      <a:r>
                        <a:rPr lang="en-IN" sz="1800" b="0" i="0" u="none" strike="noStrike" dirty="0">
                          <a:solidFill>
                            <a:srgbClr val="000000"/>
                          </a:solidFill>
                          <a:effectLst/>
                          <a:latin typeface="DM Sans" pitchFamily="2" charset="0"/>
                        </a:rPr>
                        <a:t>Naypyitaw</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dirty="0">
                          <a:solidFill>
                            <a:srgbClr val="000000"/>
                          </a:solidFill>
                          <a:effectLst/>
                          <a:latin typeface="DM Sans" pitchFamily="2" charset="0"/>
                        </a:rPr>
                        <a:t>Cash</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dirty="0">
                          <a:solidFill>
                            <a:srgbClr val="000000"/>
                          </a:solidFill>
                          <a:effectLst/>
                          <a:latin typeface="DM Sans" pitchFamily="2" charset="0"/>
                        </a:rPr>
                        <a:t>124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95493089"/>
                  </a:ext>
                </a:extLst>
              </a:tr>
              <a:tr h="373058">
                <a:tc>
                  <a:txBody>
                    <a:bodyPr/>
                    <a:lstStyle/>
                    <a:p>
                      <a:pPr algn="ctr" fontAlgn="ctr">
                        <a:buNone/>
                      </a:pPr>
                      <a:r>
                        <a:rPr lang="en-IN" sz="1800" b="0" i="0" u="none" strike="noStrike" dirty="0">
                          <a:solidFill>
                            <a:srgbClr val="000000"/>
                          </a:solidFill>
                          <a:effectLst/>
                          <a:latin typeface="DM Sans" pitchFamily="2" charset="0"/>
                        </a:rPr>
                        <a:t>Yangon</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dirty="0">
                          <a:solidFill>
                            <a:srgbClr val="000000"/>
                          </a:solidFill>
                          <a:effectLst/>
                          <a:latin typeface="DM Sans" pitchFamily="2" charset="0"/>
                        </a:rPr>
                        <a:t>Ewallet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buNone/>
                      </a:pPr>
                      <a:r>
                        <a:rPr lang="en-IN" sz="1800" b="0" i="0" u="none" strike="noStrike" dirty="0">
                          <a:solidFill>
                            <a:srgbClr val="000000"/>
                          </a:solidFill>
                          <a:effectLst/>
                          <a:latin typeface="DM Sans" pitchFamily="2" charset="0"/>
                        </a:rPr>
                        <a:t>126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804933"/>
                  </a:ext>
                </a:extLst>
              </a:tr>
            </a:tbl>
          </a:graphicData>
        </a:graphic>
      </p:graphicFrame>
      <p:graphicFrame>
        <p:nvGraphicFramePr>
          <p:cNvPr id="18" name="Chart 17">
            <a:extLst>
              <a:ext uri="{FF2B5EF4-FFF2-40B4-BE49-F238E27FC236}">
                <a16:creationId xmlns:a16="http://schemas.microsoft.com/office/drawing/2014/main" id="{B0E2CBA6-1C7C-B5E8-3229-A5CEC6E7B63E}"/>
              </a:ext>
            </a:extLst>
          </p:cNvPr>
          <p:cNvGraphicFramePr>
            <a:graphicFrameLocks/>
          </p:cNvGraphicFramePr>
          <p:nvPr>
            <p:extLst>
              <p:ext uri="{D42A27DB-BD31-4B8C-83A1-F6EECF244321}">
                <p14:modId xmlns:p14="http://schemas.microsoft.com/office/powerpoint/2010/main" val="561507314"/>
              </p:ext>
            </p:extLst>
          </p:nvPr>
        </p:nvGraphicFramePr>
        <p:xfrm>
          <a:off x="10837338" y="5355250"/>
          <a:ext cx="7130095" cy="4817450"/>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6322432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69A0C6-6D19-E5CB-8C0A-39534C5CA59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E1B2C9F-3105-DA58-801A-BC0D95E00BBF}"/>
              </a:ext>
            </a:extLst>
          </p:cNvPr>
          <p:cNvSpPr/>
          <p:nvPr/>
        </p:nvSpPr>
        <p:spPr>
          <a:xfrm>
            <a:off x="-152400" y="-1868033"/>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4" name="Group 4">
            <a:extLst>
              <a:ext uri="{FF2B5EF4-FFF2-40B4-BE49-F238E27FC236}">
                <a16:creationId xmlns:a16="http://schemas.microsoft.com/office/drawing/2014/main" id="{D0C60685-E920-2FF1-5B9A-5C004B03EFF4}"/>
              </a:ext>
            </a:extLst>
          </p:cNvPr>
          <p:cNvGrpSpPr/>
          <p:nvPr/>
        </p:nvGrpSpPr>
        <p:grpSpPr>
          <a:xfrm>
            <a:off x="216384" y="978397"/>
            <a:ext cx="12432816" cy="8889504"/>
            <a:chOff x="-1058884" y="-19050"/>
            <a:chExt cx="3428148" cy="2660078"/>
          </a:xfrm>
        </p:grpSpPr>
        <p:sp>
          <p:nvSpPr>
            <p:cNvPr id="5" name="Freeform 5">
              <a:extLst>
                <a:ext uri="{FF2B5EF4-FFF2-40B4-BE49-F238E27FC236}">
                  <a16:creationId xmlns:a16="http://schemas.microsoft.com/office/drawing/2014/main" id="{6EE64490-289D-CEED-85AC-EFEA88B61384}"/>
                </a:ext>
              </a:extLst>
            </p:cNvPr>
            <p:cNvSpPr/>
            <p:nvPr/>
          </p:nvSpPr>
          <p:spPr>
            <a:xfrm>
              <a:off x="-1058884" y="305192"/>
              <a:ext cx="1309274" cy="2335836"/>
            </a:xfrm>
            <a:custGeom>
              <a:avLst/>
              <a:gdLst/>
              <a:ahLst/>
              <a:cxnLst/>
              <a:rect l="l" t="t" r="r" b="b"/>
              <a:pathLst>
                <a:path w="2369264" h="2084956">
                  <a:moveTo>
                    <a:pt x="0" y="0"/>
                  </a:moveTo>
                  <a:lnTo>
                    <a:pt x="2369264" y="0"/>
                  </a:lnTo>
                  <a:lnTo>
                    <a:pt x="2369264" y="2084956"/>
                  </a:lnTo>
                  <a:lnTo>
                    <a:pt x="0" y="2084956"/>
                  </a:lnTo>
                  <a:close/>
                </a:path>
              </a:pathLst>
            </a:custGeom>
            <a:solidFill>
              <a:schemeClr val="bg2">
                <a:lumMod val="10000"/>
              </a:schemeClr>
            </a:solidFill>
            <a:ln w="9525" cap="sq">
              <a:solidFill>
                <a:srgbClr val="2B2A2A"/>
              </a:solidFill>
              <a:prstDash val="solid"/>
              <a:miter/>
            </a:ln>
          </p:spPr>
          <p:txBody>
            <a:bodyPr/>
            <a:lstStyle/>
            <a:p>
              <a:pPr algn="ctr"/>
              <a:endParaRPr lang="en-IN" dirty="0"/>
            </a:p>
          </p:txBody>
        </p:sp>
        <p:sp>
          <p:nvSpPr>
            <p:cNvPr id="6" name="TextBox 6">
              <a:extLst>
                <a:ext uri="{FF2B5EF4-FFF2-40B4-BE49-F238E27FC236}">
                  <a16:creationId xmlns:a16="http://schemas.microsoft.com/office/drawing/2014/main" id="{76CD0CA4-B0BC-C64D-A5EE-57FF21A0F737}"/>
                </a:ext>
              </a:extLst>
            </p:cNvPr>
            <p:cNvSpPr txBox="1"/>
            <p:nvPr/>
          </p:nvSpPr>
          <p:spPr>
            <a:xfrm>
              <a:off x="0" y="-19050"/>
              <a:ext cx="2369264" cy="2104006"/>
            </a:xfrm>
            <a:prstGeom prst="rect">
              <a:avLst/>
            </a:prstGeom>
          </p:spPr>
          <p:txBody>
            <a:bodyPr lIns="50800" tIns="50800" rIns="50800" bIns="50800" rtlCol="0" anchor="ctr"/>
            <a:lstStyle/>
            <a:p>
              <a:pPr algn="ctr">
                <a:lnSpc>
                  <a:spcPts val="2859"/>
                </a:lnSpc>
              </a:pPr>
              <a:endParaRPr/>
            </a:p>
          </p:txBody>
        </p:sp>
      </p:grpSp>
      <p:sp>
        <p:nvSpPr>
          <p:cNvPr id="7" name="TextBox 14">
            <a:extLst>
              <a:ext uri="{FF2B5EF4-FFF2-40B4-BE49-F238E27FC236}">
                <a16:creationId xmlns:a16="http://schemas.microsoft.com/office/drawing/2014/main" id="{741AE48D-A629-D62B-1194-4494EC8EB081}"/>
              </a:ext>
            </a:extLst>
          </p:cNvPr>
          <p:cNvSpPr txBox="1"/>
          <p:nvPr/>
        </p:nvSpPr>
        <p:spPr>
          <a:xfrm>
            <a:off x="396110" y="2028353"/>
            <a:ext cx="5949563" cy="932563"/>
          </a:xfrm>
          <a:prstGeom prst="rect">
            <a:avLst/>
          </a:prstGeom>
        </p:spPr>
        <p:txBody>
          <a:bodyPr lIns="0" tIns="0" rIns="0" bIns="0" rtlCol="0" anchor="t">
            <a:spAutoFit/>
          </a:bodyPr>
          <a:lstStyle/>
          <a:p>
            <a:pPr marL="0" lvl="0" indent="0" algn="l">
              <a:lnSpc>
                <a:spcPts val="8811"/>
              </a:lnSpc>
              <a:spcBef>
                <a:spcPct val="0"/>
              </a:spcBef>
            </a:pPr>
            <a:r>
              <a:rPr lang="en-US" sz="2400" spc="625" dirty="0">
                <a:solidFill>
                  <a:srgbClr val="FEFFFF"/>
                </a:solidFill>
                <a:latin typeface="Poppins"/>
                <a:ea typeface="Poppins"/>
                <a:cs typeface="Poppins"/>
                <a:sym typeface="Poppins"/>
              </a:rPr>
              <a:t>BUSINESS PROBLEM</a:t>
            </a:r>
            <a:endParaRPr lang="en-US" sz="6384" spc="625" dirty="0">
              <a:solidFill>
                <a:srgbClr val="FEFFFF"/>
              </a:solidFill>
              <a:latin typeface="Poppins"/>
              <a:ea typeface="Poppins"/>
              <a:cs typeface="Poppins"/>
              <a:sym typeface="Poppins"/>
            </a:endParaRPr>
          </a:p>
        </p:txBody>
      </p:sp>
      <p:sp>
        <p:nvSpPr>
          <p:cNvPr id="8" name="TextBox 12">
            <a:extLst>
              <a:ext uri="{FF2B5EF4-FFF2-40B4-BE49-F238E27FC236}">
                <a16:creationId xmlns:a16="http://schemas.microsoft.com/office/drawing/2014/main" id="{C96F503C-7B48-E32D-8FA6-CD2A296880CE}"/>
              </a:ext>
            </a:extLst>
          </p:cNvPr>
          <p:cNvSpPr txBox="1"/>
          <p:nvPr/>
        </p:nvSpPr>
        <p:spPr>
          <a:xfrm>
            <a:off x="470110" y="3398929"/>
            <a:ext cx="3988234" cy="2693814"/>
          </a:xfrm>
          <a:prstGeom prst="rect">
            <a:avLst/>
          </a:prstGeom>
        </p:spPr>
        <p:txBody>
          <a:bodyPr wrap="square" lIns="0" tIns="0" rIns="0" bIns="0" rtlCol="0" anchor="t">
            <a:spAutoFit/>
          </a:bodyPr>
          <a:lstStyle/>
          <a:p>
            <a:pPr>
              <a:lnSpc>
                <a:spcPct val="150000"/>
              </a:lnSpc>
            </a:pPr>
            <a:r>
              <a:rPr lang="en-US" sz="1975" spc="41" dirty="0">
                <a:solidFill>
                  <a:schemeClr val="bg1"/>
                </a:solidFill>
                <a:latin typeface="DM Sans" pitchFamily="2" charset="0"/>
                <a:ea typeface="DM Sans"/>
                <a:cs typeface="DM Sans"/>
                <a:sym typeface="DM Sans"/>
              </a:rPr>
              <a:t>Walmart wants to analyze how male and female customers contribute to monthly sales. This helps in understanding gender-based buying patterns and tailoring promotions accordingly.</a:t>
            </a:r>
          </a:p>
        </p:txBody>
      </p:sp>
      <p:sp>
        <p:nvSpPr>
          <p:cNvPr id="9" name="TextBox 14">
            <a:extLst>
              <a:ext uri="{FF2B5EF4-FFF2-40B4-BE49-F238E27FC236}">
                <a16:creationId xmlns:a16="http://schemas.microsoft.com/office/drawing/2014/main" id="{8A87C0AD-D4AC-C07B-4540-C43AEEB94EEC}"/>
              </a:ext>
            </a:extLst>
          </p:cNvPr>
          <p:cNvSpPr txBox="1"/>
          <p:nvPr/>
        </p:nvSpPr>
        <p:spPr>
          <a:xfrm>
            <a:off x="396110" y="6969582"/>
            <a:ext cx="5949563" cy="932563"/>
          </a:xfrm>
          <a:prstGeom prst="rect">
            <a:avLst/>
          </a:prstGeom>
        </p:spPr>
        <p:txBody>
          <a:bodyPr lIns="0" tIns="0" rIns="0" bIns="0" rtlCol="0" anchor="t">
            <a:spAutoFit/>
          </a:bodyPr>
          <a:lstStyle/>
          <a:p>
            <a:pPr lvl="0">
              <a:lnSpc>
                <a:spcPts val="8811"/>
              </a:lnSpc>
              <a:spcBef>
                <a:spcPct val="0"/>
              </a:spcBef>
            </a:pPr>
            <a:r>
              <a:rPr lang="en-US" sz="2400" spc="625" dirty="0">
                <a:solidFill>
                  <a:srgbClr val="FEFFFF"/>
                </a:solidFill>
                <a:latin typeface="Poppins"/>
                <a:ea typeface="Poppins"/>
                <a:cs typeface="Poppins"/>
                <a:sym typeface="Poppins"/>
              </a:rPr>
              <a:t>OBJECTIVE</a:t>
            </a:r>
            <a:endParaRPr lang="en-US" sz="6384" spc="625" dirty="0">
              <a:solidFill>
                <a:srgbClr val="FEFFFF"/>
              </a:solidFill>
              <a:latin typeface="Poppins"/>
              <a:ea typeface="Poppins"/>
              <a:cs typeface="Poppins"/>
              <a:sym typeface="Poppins"/>
            </a:endParaRPr>
          </a:p>
        </p:txBody>
      </p:sp>
      <p:sp>
        <p:nvSpPr>
          <p:cNvPr id="10" name="TextBox 12">
            <a:extLst>
              <a:ext uri="{FF2B5EF4-FFF2-40B4-BE49-F238E27FC236}">
                <a16:creationId xmlns:a16="http://schemas.microsoft.com/office/drawing/2014/main" id="{8B5CD8DA-C37E-A11E-6865-0AFDBDBD5836}"/>
              </a:ext>
            </a:extLst>
          </p:cNvPr>
          <p:cNvSpPr txBox="1"/>
          <p:nvPr/>
        </p:nvSpPr>
        <p:spPr>
          <a:xfrm>
            <a:off x="395211" y="8109310"/>
            <a:ext cx="3988234" cy="879921"/>
          </a:xfrm>
          <a:prstGeom prst="rect">
            <a:avLst/>
          </a:prstGeom>
        </p:spPr>
        <p:txBody>
          <a:bodyPr wrap="square" lIns="0" tIns="0" rIns="0" bIns="0" rtlCol="0" anchor="t">
            <a:spAutoFit/>
          </a:bodyPr>
          <a:lstStyle/>
          <a:p>
            <a:pPr>
              <a:lnSpc>
                <a:spcPct val="150000"/>
              </a:lnSpc>
            </a:pPr>
            <a:r>
              <a:rPr lang="en-US" sz="2000" dirty="0">
                <a:solidFill>
                  <a:schemeClr val="bg1"/>
                </a:solidFill>
              </a:rPr>
              <a:t>Compare monthly sales distribution between male and female customers</a:t>
            </a:r>
            <a:r>
              <a:rPr lang="en-US" sz="2000" dirty="0"/>
              <a:t>.</a:t>
            </a:r>
            <a:endParaRPr lang="en-US" sz="1975" spc="41" dirty="0">
              <a:solidFill>
                <a:schemeClr val="bg1"/>
              </a:solidFill>
              <a:latin typeface="DM Sans" pitchFamily="2" charset="0"/>
              <a:ea typeface="DM Sans"/>
              <a:cs typeface="DM Sans"/>
              <a:sym typeface="DM Sans"/>
            </a:endParaRPr>
          </a:p>
        </p:txBody>
      </p:sp>
      <p:sp>
        <p:nvSpPr>
          <p:cNvPr id="11" name="TextBox 4">
            <a:extLst>
              <a:ext uri="{FF2B5EF4-FFF2-40B4-BE49-F238E27FC236}">
                <a16:creationId xmlns:a16="http://schemas.microsoft.com/office/drawing/2014/main" id="{FACC477C-79EE-F09C-C2B1-66DE573F4086}"/>
              </a:ext>
            </a:extLst>
          </p:cNvPr>
          <p:cNvSpPr txBox="1"/>
          <p:nvPr/>
        </p:nvSpPr>
        <p:spPr>
          <a:xfrm>
            <a:off x="3370891" y="359234"/>
            <a:ext cx="11530731" cy="1231106"/>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 6: Monthly Sales Distribution by Gender</a:t>
            </a:r>
            <a:endParaRPr lang="en-US" sz="4000" b="1" spc="1212" dirty="0">
              <a:solidFill>
                <a:srgbClr val="2B2A2A"/>
              </a:solidFill>
              <a:latin typeface="Poppins Bold" panose="00000800000000000000" charset="0"/>
              <a:ea typeface="Poppins Bold"/>
              <a:cs typeface="Poppins Bold" panose="00000800000000000000" charset="0"/>
              <a:sym typeface="Poppins Bold"/>
            </a:endParaRPr>
          </a:p>
        </p:txBody>
      </p:sp>
      <p:sp>
        <p:nvSpPr>
          <p:cNvPr id="12" name="TextBox 14">
            <a:extLst>
              <a:ext uri="{FF2B5EF4-FFF2-40B4-BE49-F238E27FC236}">
                <a16:creationId xmlns:a16="http://schemas.microsoft.com/office/drawing/2014/main" id="{6CCD1B33-D5D1-E094-0D91-1972AB6AC8C0}"/>
              </a:ext>
            </a:extLst>
          </p:cNvPr>
          <p:cNvSpPr txBox="1"/>
          <p:nvPr/>
        </p:nvSpPr>
        <p:spPr>
          <a:xfrm>
            <a:off x="13085784" y="1056784"/>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SQL Query </a:t>
            </a:r>
            <a:endParaRPr lang="en-US" sz="6384" spc="625" dirty="0">
              <a:latin typeface="Poppins"/>
              <a:ea typeface="Poppins"/>
              <a:cs typeface="Poppins"/>
              <a:sym typeface="Poppins"/>
            </a:endParaRPr>
          </a:p>
        </p:txBody>
      </p:sp>
      <p:pic>
        <p:nvPicPr>
          <p:cNvPr id="26" name="Picture 2">
            <a:extLst>
              <a:ext uri="{FF2B5EF4-FFF2-40B4-BE49-F238E27FC236}">
                <a16:creationId xmlns:a16="http://schemas.microsoft.com/office/drawing/2014/main" id="{8F7DF6FA-DC83-FF3A-69F6-D384838B678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54400" y="-34787"/>
            <a:ext cx="2283419" cy="1673642"/>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A screenshot of a computer program&#10;&#10;AI-generated content may be incorrect.">
            <a:extLst>
              <a:ext uri="{FF2B5EF4-FFF2-40B4-BE49-F238E27FC236}">
                <a16:creationId xmlns:a16="http://schemas.microsoft.com/office/drawing/2014/main" id="{99EDDB39-5AA4-8351-811E-82AB522A10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322232" y="2358815"/>
            <a:ext cx="6569658" cy="7805945"/>
          </a:xfrm>
          <a:prstGeom prst="rect">
            <a:avLst/>
          </a:prstGeom>
        </p:spPr>
      </p:pic>
      <p:sp>
        <p:nvSpPr>
          <p:cNvPr id="15" name="Rectangle 14">
            <a:extLst>
              <a:ext uri="{FF2B5EF4-FFF2-40B4-BE49-F238E27FC236}">
                <a16:creationId xmlns:a16="http://schemas.microsoft.com/office/drawing/2014/main" id="{BD19F0AB-6DE2-57F5-F858-A210925D69A0}"/>
              </a:ext>
            </a:extLst>
          </p:cNvPr>
          <p:cNvSpPr/>
          <p:nvPr/>
        </p:nvSpPr>
        <p:spPr>
          <a:xfrm>
            <a:off x="5513220" y="2055914"/>
            <a:ext cx="5311636" cy="1231106"/>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Poppins" panose="00000500000000000000" pitchFamily="2" charset="0"/>
                <a:cs typeface="Poppins" panose="00000500000000000000" pitchFamily="2" charset="0"/>
              </a:rPr>
              <a:t>Approach</a:t>
            </a:r>
            <a:endParaRPr lang="en-US" sz="800" b="1" dirty="0">
              <a:latin typeface="Poppins" panose="00000500000000000000" pitchFamily="2" charset="0"/>
              <a:cs typeface="Poppins" panose="00000500000000000000" pitchFamily="2" charset="0"/>
            </a:endParaRPr>
          </a:p>
          <a:p>
            <a:r>
              <a:rPr lang="en-US" dirty="0">
                <a:latin typeface="DM Sans" pitchFamily="2" charset="0"/>
              </a:rPr>
              <a:t>Grouped sales by month and gender, calculated total sales, and compared distribution between male and female customers.</a:t>
            </a:r>
            <a:endParaRPr lang="en-US" dirty="0">
              <a:latin typeface="DM Sans" pitchFamily="2" charset="0"/>
              <a:cs typeface="Poppins" panose="00000500000000000000" pitchFamily="2" charset="0"/>
            </a:endParaRPr>
          </a:p>
        </p:txBody>
      </p:sp>
      <p:pic>
        <p:nvPicPr>
          <p:cNvPr id="5122" name="Picture 2" descr="Inside the Wal-Mart vs. Amazon Battle Over Black Friday - WSJ">
            <a:extLst>
              <a:ext uri="{FF2B5EF4-FFF2-40B4-BE49-F238E27FC236}">
                <a16:creationId xmlns:a16="http://schemas.microsoft.com/office/drawing/2014/main" id="{4347A82F-234B-9E47-4F1E-CDE3BF27DAA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214468" y="5930141"/>
            <a:ext cx="5764898" cy="384326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Walmart U.S. Q1 Same-Store Sales Climb 10 Percent | SGB Media Online">
            <a:extLst>
              <a:ext uri="{FF2B5EF4-FFF2-40B4-BE49-F238E27FC236}">
                <a16:creationId xmlns:a16="http://schemas.microsoft.com/office/drawing/2014/main" id="{47A5E3C0-072D-9F15-231B-495D8A76A2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4468" y="3450876"/>
            <a:ext cx="5764898" cy="32409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8084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D769E-8F31-826E-79FF-15858E74F4AF}"/>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8C0590F-5302-5C5F-ECD8-CC73A8367010}"/>
              </a:ext>
            </a:extLst>
          </p:cNvPr>
          <p:cNvSpPr/>
          <p:nvPr/>
        </p:nvSpPr>
        <p:spPr>
          <a:xfrm>
            <a:off x="-276705" y="-1143190"/>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sp>
        <p:nvSpPr>
          <p:cNvPr id="3" name="TextBox 4">
            <a:extLst>
              <a:ext uri="{FF2B5EF4-FFF2-40B4-BE49-F238E27FC236}">
                <a16:creationId xmlns:a16="http://schemas.microsoft.com/office/drawing/2014/main" id="{1AE02E95-6334-E52F-5D65-8517ECEB5C65}"/>
              </a:ext>
            </a:extLst>
          </p:cNvPr>
          <p:cNvSpPr txBox="1"/>
          <p:nvPr/>
        </p:nvSpPr>
        <p:spPr>
          <a:xfrm>
            <a:off x="3048000" y="952500"/>
            <a:ext cx="11530731" cy="1231106"/>
          </a:xfrm>
          <a:prstGeom prst="rect">
            <a:avLst/>
          </a:prstGeom>
        </p:spPr>
        <p:txBody>
          <a:bodyPr lIns="0" tIns="0" rIns="0" bIns="0" rtlCol="0" anchor="t">
            <a:spAutoFit/>
          </a:bodyPr>
          <a:lstStyle/>
          <a:p>
            <a:pPr algn="ctr">
              <a:spcBef>
                <a:spcPct val="0"/>
              </a:spcBef>
            </a:pPr>
            <a:r>
              <a:rPr lang="en-US" sz="4000" dirty="0">
                <a:latin typeface="Poppins Bold" panose="00000800000000000000" charset="0"/>
                <a:cs typeface="Poppins Bold" panose="00000800000000000000" charset="0"/>
              </a:rPr>
              <a:t>Task-6 Result</a:t>
            </a:r>
            <a:endParaRPr lang="en-US" sz="4000" b="1" spc="1212" dirty="0">
              <a:solidFill>
                <a:srgbClr val="2B2A2A"/>
              </a:solidFill>
              <a:latin typeface="Poppins Bold" panose="020B0604020202020204" charset="0"/>
              <a:ea typeface="Poppins Bold"/>
              <a:cs typeface="Poppins Bold" panose="020B0604020202020204" charset="0"/>
              <a:sym typeface="Poppins Bold"/>
            </a:endParaRPr>
          </a:p>
          <a:p>
            <a:pPr lvl="0" algn="ctr">
              <a:spcBef>
                <a:spcPct val="0"/>
              </a:spcBef>
            </a:pPr>
            <a:endParaRPr lang="en-US" sz="4000" b="1" spc="1212" dirty="0">
              <a:solidFill>
                <a:srgbClr val="2B2A2A"/>
              </a:solidFill>
              <a:latin typeface="Poppins Bold" panose="020B0604020202020204" charset="0"/>
              <a:ea typeface="Poppins Bold"/>
              <a:cs typeface="Poppins Bold" panose="020B0604020202020204" charset="0"/>
              <a:sym typeface="Poppins Bold"/>
            </a:endParaRPr>
          </a:p>
        </p:txBody>
      </p:sp>
      <p:graphicFrame>
        <p:nvGraphicFramePr>
          <p:cNvPr id="5" name="Table 4">
            <a:extLst>
              <a:ext uri="{FF2B5EF4-FFF2-40B4-BE49-F238E27FC236}">
                <a16:creationId xmlns:a16="http://schemas.microsoft.com/office/drawing/2014/main" id="{3391B633-1390-7BB8-2E85-CC890596661E}"/>
              </a:ext>
            </a:extLst>
          </p:cNvPr>
          <p:cNvGraphicFramePr>
            <a:graphicFrameLocks noGrp="1"/>
          </p:cNvGraphicFramePr>
          <p:nvPr>
            <p:extLst>
              <p:ext uri="{D42A27DB-BD31-4B8C-83A1-F6EECF244321}">
                <p14:modId xmlns:p14="http://schemas.microsoft.com/office/powerpoint/2010/main" val="2866434049"/>
              </p:ext>
            </p:extLst>
          </p:nvPr>
        </p:nvGraphicFramePr>
        <p:xfrm>
          <a:off x="685800" y="2095500"/>
          <a:ext cx="5791200" cy="7772401"/>
        </p:xfrm>
        <a:graphic>
          <a:graphicData uri="http://schemas.openxmlformats.org/drawingml/2006/table">
            <a:tbl>
              <a:tblPr/>
              <a:tblGrid>
                <a:gridCol w="1383481">
                  <a:extLst>
                    <a:ext uri="{9D8B030D-6E8A-4147-A177-3AD203B41FA5}">
                      <a16:colId xmlns:a16="http://schemas.microsoft.com/office/drawing/2014/main" val="1840499785"/>
                    </a:ext>
                  </a:extLst>
                </a:gridCol>
                <a:gridCol w="1145619">
                  <a:extLst>
                    <a:ext uri="{9D8B030D-6E8A-4147-A177-3AD203B41FA5}">
                      <a16:colId xmlns:a16="http://schemas.microsoft.com/office/drawing/2014/main" val="1071761409"/>
                    </a:ext>
                  </a:extLst>
                </a:gridCol>
                <a:gridCol w="1883474">
                  <a:extLst>
                    <a:ext uri="{9D8B030D-6E8A-4147-A177-3AD203B41FA5}">
                      <a16:colId xmlns:a16="http://schemas.microsoft.com/office/drawing/2014/main" val="1517811582"/>
                    </a:ext>
                  </a:extLst>
                </a:gridCol>
                <a:gridCol w="1378626">
                  <a:extLst>
                    <a:ext uri="{9D8B030D-6E8A-4147-A177-3AD203B41FA5}">
                      <a16:colId xmlns:a16="http://schemas.microsoft.com/office/drawing/2014/main" val="728056590"/>
                    </a:ext>
                  </a:extLst>
                </a:gridCol>
              </a:tblGrid>
              <a:tr h="554041">
                <a:tc>
                  <a:txBody>
                    <a:bodyPr/>
                    <a:lstStyle/>
                    <a:p>
                      <a:pPr algn="ctr" fontAlgn="ctr">
                        <a:buNone/>
                      </a:pPr>
                      <a:r>
                        <a:rPr lang="en-IN" sz="1800" b="1" i="0" u="none" strike="noStrike" dirty="0">
                          <a:solidFill>
                            <a:srgbClr val="FFFFFF"/>
                          </a:solidFill>
                          <a:effectLst/>
                          <a:latin typeface="DM Sans" pitchFamily="2" charset="0"/>
                        </a:rPr>
                        <a:t>Year-Month</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800" b="1" i="0" u="none" strike="noStrike">
                          <a:solidFill>
                            <a:srgbClr val="FFFFFF"/>
                          </a:solidFill>
                          <a:effectLst/>
                          <a:latin typeface="DM Sans" pitchFamily="2" charset="0"/>
                        </a:rPr>
                        <a:t>Gender</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800" b="1" i="0" u="none" strike="noStrike" dirty="0">
                          <a:solidFill>
                            <a:srgbClr val="FFFFFF"/>
                          </a:solidFill>
                          <a:effectLst/>
                          <a:latin typeface="DM Sans" pitchFamily="2" charset="0"/>
                        </a:rPr>
                        <a:t>Gender_sales</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800" b="1" i="0" u="none" strike="noStrike" dirty="0">
                          <a:solidFill>
                            <a:srgbClr val="FFFFFF"/>
                          </a:solidFill>
                          <a:effectLst/>
                          <a:latin typeface="DM Sans" pitchFamily="2" charset="0"/>
                        </a:rPr>
                        <a:t>% of Month</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910558739"/>
                  </a:ext>
                </a:extLst>
              </a:tr>
              <a:tr h="300765">
                <a:tc>
                  <a:txBody>
                    <a:bodyPr/>
                    <a:lstStyle/>
                    <a:p>
                      <a:pPr algn="ctr" fontAlgn="ctr">
                        <a:buNone/>
                      </a:pPr>
                      <a:r>
                        <a:rPr lang="en-IN" sz="1800" b="0" i="0" u="none" strike="noStrike" dirty="0">
                          <a:solidFill>
                            <a:srgbClr val="000000"/>
                          </a:solidFill>
                          <a:effectLst/>
                          <a:latin typeface="DM Sans" pitchFamily="2" charset="0"/>
                        </a:rPr>
                        <a:t>2019-01</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6398</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65</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527667787"/>
                  </a:ext>
                </a:extLst>
              </a:tr>
              <a:tr h="300765">
                <a:tc>
                  <a:txBody>
                    <a:bodyPr/>
                    <a:lstStyle/>
                    <a:p>
                      <a:pPr algn="ctr" fontAlgn="ctr">
                        <a:buNone/>
                      </a:pPr>
                      <a:r>
                        <a:rPr lang="en-IN" sz="1800" b="0" i="0" u="none" strike="noStrike" dirty="0">
                          <a:solidFill>
                            <a:srgbClr val="000000"/>
                          </a:solidFill>
                          <a:effectLst/>
                          <a:latin typeface="DM Sans" pitchFamily="2" charset="0"/>
                        </a:rPr>
                        <a:t>2019-01</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3426</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35</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593488475"/>
                  </a:ext>
                </a:extLst>
              </a:tr>
              <a:tr h="300765">
                <a:tc>
                  <a:txBody>
                    <a:bodyPr/>
                    <a:lstStyle/>
                    <a:p>
                      <a:pPr algn="ctr" fontAlgn="ctr">
                        <a:buNone/>
                      </a:pPr>
                      <a:r>
                        <a:rPr lang="en-IN" sz="1800" b="0" i="0" u="none" strike="noStrike" dirty="0">
                          <a:solidFill>
                            <a:srgbClr val="000000"/>
                          </a:solidFill>
                          <a:effectLst/>
                          <a:latin typeface="DM Sans" pitchFamily="2" charset="0"/>
                        </a:rPr>
                        <a:t>2019-02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7477</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59</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404077067"/>
                  </a:ext>
                </a:extLst>
              </a:tr>
              <a:tr h="300765">
                <a:tc>
                  <a:txBody>
                    <a:bodyPr/>
                    <a:lstStyle/>
                    <a:p>
                      <a:pPr algn="ctr" fontAlgn="ctr">
                        <a:buNone/>
                      </a:pPr>
                      <a:r>
                        <a:rPr lang="en-IN" sz="1800" b="0" i="0" u="none" strike="noStrike" dirty="0">
                          <a:solidFill>
                            <a:srgbClr val="000000"/>
                          </a:solidFill>
                          <a:effectLst/>
                          <a:latin typeface="DM Sans" pitchFamily="2" charset="0"/>
                        </a:rPr>
                        <a:t>2019-02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5170</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41</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090862881"/>
                  </a:ext>
                </a:extLst>
              </a:tr>
              <a:tr h="300765">
                <a:tc>
                  <a:txBody>
                    <a:bodyPr/>
                    <a:lstStyle/>
                    <a:p>
                      <a:pPr algn="ctr" fontAlgn="ctr">
                        <a:buNone/>
                      </a:pPr>
                      <a:r>
                        <a:rPr lang="en-IN" sz="1800" b="0" i="0" u="none" strike="noStrike" dirty="0">
                          <a:solidFill>
                            <a:srgbClr val="000000"/>
                          </a:solidFill>
                          <a:effectLst/>
                          <a:latin typeface="DM Sans" pitchFamily="2" charset="0"/>
                        </a:rPr>
                        <a:t>2019-03</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5794</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47</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70338641"/>
                  </a:ext>
                </a:extLst>
              </a:tr>
              <a:tr h="300765">
                <a:tc>
                  <a:txBody>
                    <a:bodyPr/>
                    <a:lstStyle/>
                    <a:p>
                      <a:pPr algn="ctr" fontAlgn="ctr">
                        <a:buNone/>
                      </a:pPr>
                      <a:r>
                        <a:rPr lang="en-IN" sz="1800" b="0" i="0" u="none" strike="noStrike" dirty="0">
                          <a:solidFill>
                            <a:srgbClr val="000000"/>
                          </a:solidFill>
                          <a:effectLst/>
                          <a:latin typeface="DM Sans" pitchFamily="2" charset="0"/>
                        </a:rPr>
                        <a:t>2019-03</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6606</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53</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993201965"/>
                  </a:ext>
                </a:extLst>
              </a:tr>
              <a:tr h="300765">
                <a:tc>
                  <a:txBody>
                    <a:bodyPr/>
                    <a:lstStyle/>
                    <a:p>
                      <a:pPr algn="ctr" fontAlgn="ctr">
                        <a:buNone/>
                      </a:pPr>
                      <a:r>
                        <a:rPr lang="en-IN" sz="1800" b="0" i="0" u="none" strike="noStrike" dirty="0">
                          <a:solidFill>
                            <a:srgbClr val="000000"/>
                          </a:solidFill>
                          <a:effectLst/>
                          <a:latin typeface="DM Sans" pitchFamily="2" charset="0"/>
                        </a:rPr>
                        <a:t>2019-04</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5491</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69</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130650017"/>
                  </a:ext>
                </a:extLst>
              </a:tr>
              <a:tr h="300765">
                <a:tc>
                  <a:txBody>
                    <a:bodyPr/>
                    <a:lstStyle/>
                    <a:p>
                      <a:pPr algn="ctr" fontAlgn="ctr">
                        <a:buNone/>
                      </a:pPr>
                      <a:r>
                        <a:rPr lang="en-IN" sz="1800" b="0" i="0" u="none" strike="noStrike" dirty="0">
                          <a:solidFill>
                            <a:srgbClr val="000000"/>
                          </a:solidFill>
                          <a:effectLst/>
                          <a:latin typeface="DM Sans" pitchFamily="2" charset="0"/>
                        </a:rPr>
                        <a:t>2019-04</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2467</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31</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84940264"/>
                  </a:ext>
                </a:extLst>
              </a:tr>
              <a:tr h="300765">
                <a:tc>
                  <a:txBody>
                    <a:bodyPr/>
                    <a:lstStyle/>
                    <a:p>
                      <a:pPr algn="ctr" fontAlgn="ctr">
                        <a:buNone/>
                      </a:pPr>
                      <a:r>
                        <a:rPr lang="en-IN" sz="1800" b="0" i="0" u="none" strike="noStrike" dirty="0">
                          <a:solidFill>
                            <a:srgbClr val="000000"/>
                          </a:solidFill>
                          <a:effectLst/>
                          <a:latin typeface="DM Sans" pitchFamily="2" charset="0"/>
                        </a:rPr>
                        <a:t>2019-05</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9192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72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03944119"/>
                  </a:ext>
                </a:extLst>
              </a:tr>
              <a:tr h="300765">
                <a:tc>
                  <a:txBody>
                    <a:bodyPr/>
                    <a:lstStyle/>
                    <a:p>
                      <a:pPr algn="ctr" fontAlgn="ctr">
                        <a:buNone/>
                      </a:pPr>
                      <a:r>
                        <a:rPr lang="en-IN" sz="1800" b="0" i="0" u="none" strike="noStrike" dirty="0">
                          <a:solidFill>
                            <a:srgbClr val="000000"/>
                          </a:solidFill>
                          <a:effectLst/>
                          <a:latin typeface="DM Sans" pitchFamily="2" charset="0"/>
                        </a:rPr>
                        <a:t>2019-05</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3607</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28</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52869883"/>
                  </a:ext>
                </a:extLst>
              </a:tr>
              <a:tr h="300765">
                <a:tc>
                  <a:txBody>
                    <a:bodyPr/>
                    <a:lstStyle/>
                    <a:p>
                      <a:pPr algn="ctr" fontAlgn="ctr">
                        <a:buNone/>
                      </a:pPr>
                      <a:r>
                        <a:rPr lang="en-IN" sz="1800" b="0" i="0" u="none" strike="noStrike" dirty="0">
                          <a:solidFill>
                            <a:srgbClr val="000000"/>
                          </a:solidFill>
                          <a:effectLst/>
                          <a:latin typeface="DM Sans" pitchFamily="2" charset="0"/>
                        </a:rPr>
                        <a:t>2019-06</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3290</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34</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875257319"/>
                  </a:ext>
                </a:extLst>
              </a:tr>
              <a:tr h="300765">
                <a:tc>
                  <a:txBody>
                    <a:bodyPr/>
                    <a:lstStyle/>
                    <a:p>
                      <a:pPr algn="ctr" fontAlgn="ctr">
                        <a:buNone/>
                      </a:pPr>
                      <a:r>
                        <a:rPr lang="en-IN" sz="1800" b="0" i="0" u="none" strike="noStrike" dirty="0">
                          <a:solidFill>
                            <a:srgbClr val="000000"/>
                          </a:solidFill>
                          <a:effectLst/>
                          <a:latin typeface="DM Sans" pitchFamily="2" charset="0"/>
                        </a:rPr>
                        <a:t>2019-06</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6322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66</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700572457"/>
                  </a:ext>
                </a:extLst>
              </a:tr>
              <a:tr h="300765">
                <a:tc>
                  <a:txBody>
                    <a:bodyPr/>
                    <a:lstStyle/>
                    <a:p>
                      <a:pPr algn="ctr" fontAlgn="ctr">
                        <a:buNone/>
                      </a:pPr>
                      <a:r>
                        <a:rPr lang="en-IN" sz="1800" b="0" i="0" u="none" strike="noStrike" dirty="0">
                          <a:solidFill>
                            <a:srgbClr val="000000"/>
                          </a:solidFill>
                          <a:effectLst/>
                          <a:latin typeface="DM Sans" pitchFamily="2" charset="0"/>
                        </a:rPr>
                        <a:t>2019-07</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5309</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46</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03815830"/>
                  </a:ext>
                </a:extLst>
              </a:tr>
              <a:tr h="300765">
                <a:tc>
                  <a:txBody>
                    <a:bodyPr/>
                    <a:lstStyle/>
                    <a:p>
                      <a:pPr algn="ctr" fontAlgn="ctr">
                        <a:buNone/>
                      </a:pPr>
                      <a:r>
                        <a:rPr lang="en-IN" sz="1800" b="0" i="0" u="none" strike="noStrike" dirty="0">
                          <a:solidFill>
                            <a:srgbClr val="000000"/>
                          </a:solidFill>
                          <a:effectLst/>
                          <a:latin typeface="DM Sans" pitchFamily="2" charset="0"/>
                        </a:rPr>
                        <a:t>2019-07</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6192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54</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245161167"/>
                  </a:ext>
                </a:extLst>
              </a:tr>
              <a:tr h="300765">
                <a:tc>
                  <a:txBody>
                    <a:bodyPr/>
                    <a:lstStyle/>
                    <a:p>
                      <a:pPr algn="ctr" fontAlgn="ctr">
                        <a:buNone/>
                      </a:pPr>
                      <a:r>
                        <a:rPr lang="en-IN" sz="1800" b="0" i="0" u="none" strike="noStrike" dirty="0">
                          <a:solidFill>
                            <a:srgbClr val="000000"/>
                          </a:solidFill>
                          <a:effectLst/>
                          <a:latin typeface="DM Sans" pitchFamily="2" charset="0"/>
                        </a:rPr>
                        <a:t>2019-08</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9795</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73</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384849924"/>
                  </a:ext>
                </a:extLst>
              </a:tr>
              <a:tr h="300765">
                <a:tc>
                  <a:txBody>
                    <a:bodyPr/>
                    <a:lstStyle/>
                    <a:p>
                      <a:pPr algn="ctr" fontAlgn="ctr">
                        <a:buNone/>
                      </a:pPr>
                      <a:r>
                        <a:rPr lang="en-IN" sz="1800" b="0" i="0" u="none" strike="noStrike" dirty="0">
                          <a:solidFill>
                            <a:srgbClr val="000000"/>
                          </a:solidFill>
                          <a:effectLst/>
                          <a:latin typeface="DM Sans" pitchFamily="2" charset="0"/>
                        </a:rPr>
                        <a:t>2019-08</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3708</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27</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13640540"/>
                  </a:ext>
                </a:extLst>
              </a:tr>
              <a:tr h="300765">
                <a:tc>
                  <a:txBody>
                    <a:bodyPr/>
                    <a:lstStyle/>
                    <a:p>
                      <a:pPr algn="ctr" fontAlgn="ctr">
                        <a:buNone/>
                      </a:pPr>
                      <a:r>
                        <a:rPr lang="en-IN" sz="1800" b="0" i="0" u="none" strike="noStrike" dirty="0">
                          <a:solidFill>
                            <a:srgbClr val="000000"/>
                          </a:solidFill>
                          <a:effectLst/>
                          <a:latin typeface="DM Sans" pitchFamily="2" charset="0"/>
                        </a:rPr>
                        <a:t>2019-09</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6414</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47</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651456711"/>
                  </a:ext>
                </a:extLst>
              </a:tr>
              <a:tr h="300765">
                <a:tc>
                  <a:txBody>
                    <a:bodyPr/>
                    <a:lstStyle/>
                    <a:p>
                      <a:pPr algn="ctr" fontAlgn="ctr">
                        <a:buNone/>
                      </a:pPr>
                      <a:r>
                        <a:rPr lang="en-IN" sz="1800" b="0" i="0" u="none" strike="noStrike" dirty="0">
                          <a:solidFill>
                            <a:srgbClr val="000000"/>
                          </a:solidFill>
                          <a:effectLst/>
                          <a:latin typeface="DM Sans" pitchFamily="2" charset="0"/>
                        </a:rPr>
                        <a:t>2019-09</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7353</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53</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864848501"/>
                  </a:ext>
                </a:extLst>
              </a:tr>
              <a:tr h="300765">
                <a:tc>
                  <a:txBody>
                    <a:bodyPr/>
                    <a:lstStyle/>
                    <a:p>
                      <a:pPr algn="ctr" fontAlgn="ctr">
                        <a:buNone/>
                      </a:pPr>
                      <a:r>
                        <a:rPr lang="en-IN" sz="1800" b="0" i="0" u="none" strike="noStrike" dirty="0">
                          <a:solidFill>
                            <a:srgbClr val="000000"/>
                          </a:solidFill>
                          <a:effectLst/>
                          <a:latin typeface="DM Sans" pitchFamily="2" charset="0"/>
                        </a:rPr>
                        <a:t>2019-10</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5433</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55</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4245329615"/>
                  </a:ext>
                </a:extLst>
              </a:tr>
              <a:tr h="300765">
                <a:tc>
                  <a:txBody>
                    <a:bodyPr/>
                    <a:lstStyle/>
                    <a:p>
                      <a:pPr algn="ctr" fontAlgn="ctr">
                        <a:buNone/>
                      </a:pPr>
                      <a:r>
                        <a:rPr lang="en-IN" sz="1800" b="0" i="0" u="none" strike="noStrike" dirty="0">
                          <a:solidFill>
                            <a:srgbClr val="000000"/>
                          </a:solidFill>
                          <a:effectLst/>
                          <a:latin typeface="DM Sans" pitchFamily="2" charset="0"/>
                        </a:rPr>
                        <a:t>2019-10</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4432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45</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77336126"/>
                  </a:ext>
                </a:extLst>
              </a:tr>
              <a:tr h="300765">
                <a:tc>
                  <a:txBody>
                    <a:bodyPr/>
                    <a:lstStyle/>
                    <a:p>
                      <a:pPr algn="ctr" fontAlgn="ctr">
                        <a:buNone/>
                      </a:pPr>
                      <a:r>
                        <a:rPr lang="en-IN" sz="1800" b="0" i="0" u="none" strike="noStrike" dirty="0">
                          <a:solidFill>
                            <a:srgbClr val="000000"/>
                          </a:solidFill>
                          <a:effectLst/>
                          <a:latin typeface="DM Sans" pitchFamily="2" charset="0"/>
                        </a:rPr>
                        <a:t>2019-11</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5594</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58</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548306294"/>
                  </a:ext>
                </a:extLst>
              </a:tr>
              <a:tr h="300765">
                <a:tc>
                  <a:txBody>
                    <a:bodyPr/>
                    <a:lstStyle/>
                    <a:p>
                      <a:pPr algn="ctr" fontAlgn="ctr">
                        <a:buNone/>
                      </a:pPr>
                      <a:r>
                        <a:rPr lang="en-IN" sz="1800" b="0" i="0" u="none" strike="noStrike" dirty="0">
                          <a:solidFill>
                            <a:srgbClr val="000000"/>
                          </a:solidFill>
                          <a:effectLst/>
                          <a:latin typeface="DM Sans" pitchFamily="2" charset="0"/>
                        </a:rPr>
                        <a:t>2019-11</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4024</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42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133806718"/>
                  </a:ext>
                </a:extLst>
              </a:tr>
              <a:tr h="300765">
                <a:tc>
                  <a:txBody>
                    <a:bodyPr/>
                    <a:lstStyle/>
                    <a:p>
                      <a:pPr algn="ctr" fontAlgn="ctr">
                        <a:buNone/>
                      </a:pPr>
                      <a:r>
                        <a:rPr lang="en-IN" sz="1800" b="0" i="0" u="none" strike="noStrike" dirty="0">
                          <a:solidFill>
                            <a:srgbClr val="000000"/>
                          </a:solidFill>
                          <a:effectLst/>
                          <a:latin typeface="DM Sans" pitchFamily="2" charset="0"/>
                        </a:rPr>
                        <a:t>2019-12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Female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4505</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38</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583199539"/>
                  </a:ext>
                </a:extLst>
              </a:tr>
              <a:tr h="300765">
                <a:tc>
                  <a:txBody>
                    <a:bodyPr/>
                    <a:lstStyle/>
                    <a:p>
                      <a:pPr algn="ctr" fontAlgn="ctr">
                        <a:buNone/>
                      </a:pPr>
                      <a:r>
                        <a:rPr lang="en-IN" sz="1800" b="0" i="0" u="none" strike="noStrike" dirty="0">
                          <a:solidFill>
                            <a:srgbClr val="000000"/>
                          </a:solidFill>
                          <a:effectLst/>
                          <a:latin typeface="DM Sans" pitchFamily="2" charset="0"/>
                        </a:rPr>
                        <a:t>2019-12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800" b="0" i="0" u="none" strike="noStrike" dirty="0">
                          <a:solidFill>
                            <a:srgbClr val="000000"/>
                          </a:solidFill>
                          <a:effectLst/>
                          <a:latin typeface="DM Sans" pitchFamily="2" charset="0"/>
                        </a:rPr>
                        <a:t>Male</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buNone/>
                      </a:pPr>
                      <a:r>
                        <a:rPr lang="en-IN" sz="1800" b="0" i="0" u="none" strike="noStrike" dirty="0">
                          <a:solidFill>
                            <a:srgbClr val="000000"/>
                          </a:solidFill>
                          <a:effectLst/>
                          <a:latin typeface="DM Sans" pitchFamily="2" charset="0"/>
                        </a:rPr>
                        <a:t>7356</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62</a:t>
                      </a:r>
                    </a:p>
                  </a:txBody>
                  <a:tcPr marL="9052" marR="9052" marT="905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326839999"/>
                  </a:ext>
                </a:extLst>
              </a:tr>
            </a:tbl>
          </a:graphicData>
        </a:graphic>
      </p:graphicFrame>
      <p:sp>
        <p:nvSpPr>
          <p:cNvPr id="14" name="Rectangle 13">
            <a:extLst>
              <a:ext uri="{FF2B5EF4-FFF2-40B4-BE49-F238E27FC236}">
                <a16:creationId xmlns:a16="http://schemas.microsoft.com/office/drawing/2014/main" id="{A00DA3F4-8691-AF0A-E2CE-F841DF2C7C03}"/>
              </a:ext>
            </a:extLst>
          </p:cNvPr>
          <p:cNvSpPr/>
          <p:nvPr/>
        </p:nvSpPr>
        <p:spPr>
          <a:xfrm>
            <a:off x="7162800" y="2095500"/>
            <a:ext cx="10058400" cy="2025632"/>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DM Sans" pitchFamily="2" charset="0"/>
                <a:cs typeface="Poppins" panose="00000500000000000000" pitchFamily="2" charset="0"/>
              </a:rPr>
              <a:t>Insight</a:t>
            </a:r>
          </a:p>
          <a:p>
            <a:pPr marL="171450" indent="-171450" algn="ctr">
              <a:buFont typeface="Arial" panose="020B0604020202020204" pitchFamily="34" charset="0"/>
              <a:buChar char="•"/>
            </a:pPr>
            <a:endParaRPr lang="en-US" sz="1200" b="1" dirty="0">
              <a:latin typeface="DM Sans" pitchFamily="2" charset="0"/>
              <a:cs typeface="Poppins" panose="00000500000000000000" pitchFamily="2" charset="0"/>
            </a:endParaRPr>
          </a:p>
          <a:p>
            <a:pPr marL="285750" indent="-285750">
              <a:buFont typeface="Arial" panose="020B0604020202020204" pitchFamily="34" charset="0"/>
              <a:buChar char="•"/>
            </a:pPr>
            <a:r>
              <a:rPr lang="en-US" b="1" dirty="0">
                <a:latin typeface="DM Sans" pitchFamily="2" charset="0"/>
                <a:cs typeface="Poppins" panose="00000500000000000000" pitchFamily="2" charset="0"/>
              </a:rPr>
              <a:t>Female customers generally contributed slightly higher sales than males across months.</a:t>
            </a:r>
          </a:p>
          <a:p>
            <a:pPr marL="285750" indent="-285750">
              <a:buFont typeface="Arial" panose="020B0604020202020204" pitchFamily="34" charset="0"/>
              <a:buChar char="•"/>
            </a:pPr>
            <a:r>
              <a:rPr lang="en-US" b="1" dirty="0">
                <a:latin typeface="DM Sans" pitchFamily="2" charset="0"/>
                <a:cs typeface="Poppins" panose="00000500000000000000" pitchFamily="2" charset="0"/>
              </a:rPr>
              <a:t>Seasonal peaks were observed in both genders, but females consistently outperformed in total sales.</a:t>
            </a:r>
          </a:p>
          <a:p>
            <a:pPr marL="285750" indent="-285750">
              <a:buFont typeface="Arial" panose="020B0604020202020204" pitchFamily="34" charset="0"/>
              <a:buChar char="•"/>
            </a:pPr>
            <a:r>
              <a:rPr lang="en-US" b="1" dirty="0">
                <a:latin typeface="DM Sans" pitchFamily="2" charset="0"/>
                <a:cs typeface="Poppins" panose="00000500000000000000" pitchFamily="2" charset="0"/>
              </a:rPr>
              <a:t>Indicates that female-oriented promotions may drive more revenue.</a:t>
            </a:r>
          </a:p>
        </p:txBody>
      </p:sp>
      <p:graphicFrame>
        <p:nvGraphicFramePr>
          <p:cNvPr id="6" name="Chart 5">
            <a:extLst>
              <a:ext uri="{FF2B5EF4-FFF2-40B4-BE49-F238E27FC236}">
                <a16:creationId xmlns:a16="http://schemas.microsoft.com/office/drawing/2014/main" id="{5725437D-A1CE-C781-76FA-53C08A9749F6}"/>
              </a:ext>
            </a:extLst>
          </p:cNvPr>
          <p:cNvGraphicFramePr>
            <a:graphicFrameLocks/>
          </p:cNvGraphicFramePr>
          <p:nvPr>
            <p:extLst>
              <p:ext uri="{D42A27DB-BD31-4B8C-83A1-F6EECF244321}">
                <p14:modId xmlns:p14="http://schemas.microsoft.com/office/powerpoint/2010/main" val="1342149482"/>
              </p:ext>
            </p:extLst>
          </p:nvPr>
        </p:nvGraphicFramePr>
        <p:xfrm>
          <a:off x="7162800" y="4305300"/>
          <a:ext cx="10058400" cy="5562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529862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3345E-A256-2715-8CFB-2FE999F62EF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F3B85E5-7888-E5CE-3337-816086EFC530}"/>
              </a:ext>
            </a:extLst>
          </p:cNvPr>
          <p:cNvSpPr/>
          <p:nvPr/>
        </p:nvSpPr>
        <p:spPr>
          <a:xfrm>
            <a:off x="-403592" y="-1257300"/>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4" name="Group 4">
            <a:extLst>
              <a:ext uri="{FF2B5EF4-FFF2-40B4-BE49-F238E27FC236}">
                <a16:creationId xmlns:a16="http://schemas.microsoft.com/office/drawing/2014/main" id="{6B078239-7B1C-C478-44D3-02F56479907C}"/>
              </a:ext>
            </a:extLst>
          </p:cNvPr>
          <p:cNvGrpSpPr/>
          <p:nvPr/>
        </p:nvGrpSpPr>
        <p:grpSpPr>
          <a:xfrm>
            <a:off x="780762" y="647701"/>
            <a:ext cx="11530731" cy="7772400"/>
            <a:chOff x="-1058884" y="-19050"/>
            <a:chExt cx="3428148" cy="2265151"/>
          </a:xfrm>
        </p:grpSpPr>
        <p:sp>
          <p:nvSpPr>
            <p:cNvPr id="5" name="Freeform 5">
              <a:extLst>
                <a:ext uri="{FF2B5EF4-FFF2-40B4-BE49-F238E27FC236}">
                  <a16:creationId xmlns:a16="http://schemas.microsoft.com/office/drawing/2014/main" id="{F7C3E746-3E22-B7E9-56E4-B748AA4AFB72}"/>
                </a:ext>
              </a:extLst>
            </p:cNvPr>
            <p:cNvSpPr/>
            <p:nvPr/>
          </p:nvSpPr>
          <p:spPr>
            <a:xfrm>
              <a:off x="-1058884" y="305192"/>
              <a:ext cx="1309274" cy="1940909"/>
            </a:xfrm>
            <a:custGeom>
              <a:avLst/>
              <a:gdLst/>
              <a:ahLst/>
              <a:cxnLst/>
              <a:rect l="l" t="t" r="r" b="b"/>
              <a:pathLst>
                <a:path w="2369264" h="2084956">
                  <a:moveTo>
                    <a:pt x="0" y="0"/>
                  </a:moveTo>
                  <a:lnTo>
                    <a:pt x="2369264" y="0"/>
                  </a:lnTo>
                  <a:lnTo>
                    <a:pt x="2369264" y="2084956"/>
                  </a:lnTo>
                  <a:lnTo>
                    <a:pt x="0" y="2084956"/>
                  </a:lnTo>
                  <a:close/>
                </a:path>
              </a:pathLst>
            </a:custGeom>
            <a:solidFill>
              <a:schemeClr val="bg2">
                <a:lumMod val="10000"/>
              </a:schemeClr>
            </a:solidFill>
            <a:ln w="9525" cap="sq">
              <a:solidFill>
                <a:srgbClr val="2B2A2A"/>
              </a:solidFill>
              <a:prstDash val="solid"/>
              <a:miter/>
            </a:ln>
          </p:spPr>
          <p:txBody>
            <a:bodyPr/>
            <a:lstStyle/>
            <a:p>
              <a:pPr algn="ctr"/>
              <a:endParaRPr lang="en-IN" dirty="0"/>
            </a:p>
          </p:txBody>
        </p:sp>
        <p:sp>
          <p:nvSpPr>
            <p:cNvPr id="6" name="TextBox 6">
              <a:extLst>
                <a:ext uri="{FF2B5EF4-FFF2-40B4-BE49-F238E27FC236}">
                  <a16:creationId xmlns:a16="http://schemas.microsoft.com/office/drawing/2014/main" id="{149E8061-ADDC-9212-3EF7-1A3913D43D71}"/>
                </a:ext>
              </a:extLst>
            </p:cNvPr>
            <p:cNvSpPr txBox="1"/>
            <p:nvPr/>
          </p:nvSpPr>
          <p:spPr>
            <a:xfrm>
              <a:off x="0" y="-19050"/>
              <a:ext cx="2369264" cy="2104006"/>
            </a:xfrm>
            <a:prstGeom prst="rect">
              <a:avLst/>
            </a:prstGeom>
          </p:spPr>
          <p:txBody>
            <a:bodyPr lIns="50800" tIns="50800" rIns="50800" bIns="50800" rtlCol="0" anchor="ctr"/>
            <a:lstStyle/>
            <a:p>
              <a:pPr algn="ctr">
                <a:lnSpc>
                  <a:spcPts val="2859"/>
                </a:lnSpc>
              </a:pPr>
              <a:endParaRPr/>
            </a:p>
          </p:txBody>
        </p:sp>
      </p:grpSp>
      <p:sp>
        <p:nvSpPr>
          <p:cNvPr id="7" name="TextBox 14">
            <a:extLst>
              <a:ext uri="{FF2B5EF4-FFF2-40B4-BE49-F238E27FC236}">
                <a16:creationId xmlns:a16="http://schemas.microsoft.com/office/drawing/2014/main" id="{1833BA75-18FD-2520-64FE-CDD15F274A44}"/>
              </a:ext>
            </a:extLst>
          </p:cNvPr>
          <p:cNvSpPr txBox="1"/>
          <p:nvPr/>
        </p:nvSpPr>
        <p:spPr>
          <a:xfrm>
            <a:off x="943884" y="1661343"/>
            <a:ext cx="5949563" cy="932563"/>
          </a:xfrm>
          <a:prstGeom prst="rect">
            <a:avLst/>
          </a:prstGeom>
        </p:spPr>
        <p:txBody>
          <a:bodyPr lIns="0" tIns="0" rIns="0" bIns="0" rtlCol="0" anchor="t">
            <a:spAutoFit/>
          </a:bodyPr>
          <a:lstStyle/>
          <a:p>
            <a:pPr marL="0" lvl="0" indent="0" algn="l">
              <a:lnSpc>
                <a:spcPts val="8811"/>
              </a:lnSpc>
              <a:spcBef>
                <a:spcPct val="0"/>
              </a:spcBef>
            </a:pPr>
            <a:r>
              <a:rPr lang="en-US" sz="2400" spc="625" dirty="0">
                <a:solidFill>
                  <a:srgbClr val="FEFFFF"/>
                </a:solidFill>
                <a:latin typeface="Poppins"/>
                <a:ea typeface="Poppins"/>
                <a:cs typeface="Poppins"/>
                <a:sym typeface="Poppins"/>
              </a:rPr>
              <a:t>BUSINESS PROBLEM</a:t>
            </a:r>
            <a:endParaRPr lang="en-US" sz="6384" spc="625" dirty="0">
              <a:solidFill>
                <a:srgbClr val="FEFFFF"/>
              </a:solidFill>
              <a:latin typeface="Poppins"/>
              <a:ea typeface="Poppins"/>
              <a:cs typeface="Poppins"/>
              <a:sym typeface="Poppins"/>
            </a:endParaRPr>
          </a:p>
        </p:txBody>
      </p:sp>
      <p:sp>
        <p:nvSpPr>
          <p:cNvPr id="8" name="TextBox 12">
            <a:extLst>
              <a:ext uri="{FF2B5EF4-FFF2-40B4-BE49-F238E27FC236}">
                <a16:creationId xmlns:a16="http://schemas.microsoft.com/office/drawing/2014/main" id="{7D57B607-DE21-0DC4-431A-209EB1ABD69A}"/>
              </a:ext>
            </a:extLst>
          </p:cNvPr>
          <p:cNvSpPr txBox="1"/>
          <p:nvPr/>
        </p:nvSpPr>
        <p:spPr>
          <a:xfrm>
            <a:off x="924892" y="2662669"/>
            <a:ext cx="4197179" cy="3189527"/>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Walmart wants to understand which product lines are most preferred by different customer types (Member vs Normal) so that marketing campaigns and loyalty programs can be targeted more effectively.</a:t>
            </a:r>
            <a:endParaRPr lang="en-US" sz="1975" spc="41" dirty="0">
              <a:solidFill>
                <a:schemeClr val="bg1"/>
              </a:solidFill>
              <a:latin typeface="DM Sans" pitchFamily="2" charset="0"/>
              <a:ea typeface="DM Sans"/>
              <a:cs typeface="DM Sans"/>
              <a:sym typeface="DM Sans"/>
            </a:endParaRPr>
          </a:p>
        </p:txBody>
      </p:sp>
      <p:sp>
        <p:nvSpPr>
          <p:cNvPr id="9" name="TextBox 14">
            <a:extLst>
              <a:ext uri="{FF2B5EF4-FFF2-40B4-BE49-F238E27FC236}">
                <a16:creationId xmlns:a16="http://schemas.microsoft.com/office/drawing/2014/main" id="{D5BA83F8-E56F-7BD7-576E-AAF3287CB4FF}"/>
              </a:ext>
            </a:extLst>
          </p:cNvPr>
          <p:cNvSpPr txBox="1"/>
          <p:nvPr/>
        </p:nvSpPr>
        <p:spPr>
          <a:xfrm>
            <a:off x="943883" y="5659509"/>
            <a:ext cx="5949563" cy="932563"/>
          </a:xfrm>
          <a:prstGeom prst="rect">
            <a:avLst/>
          </a:prstGeom>
        </p:spPr>
        <p:txBody>
          <a:bodyPr lIns="0" tIns="0" rIns="0" bIns="0" rtlCol="0" anchor="t">
            <a:spAutoFit/>
          </a:bodyPr>
          <a:lstStyle/>
          <a:p>
            <a:pPr lvl="0">
              <a:lnSpc>
                <a:spcPts val="8811"/>
              </a:lnSpc>
              <a:spcBef>
                <a:spcPct val="0"/>
              </a:spcBef>
            </a:pPr>
            <a:r>
              <a:rPr lang="en-US" sz="2400" spc="625" dirty="0">
                <a:solidFill>
                  <a:srgbClr val="FEFFFF"/>
                </a:solidFill>
                <a:latin typeface="Poppins"/>
                <a:ea typeface="Poppins"/>
                <a:cs typeface="Poppins"/>
                <a:sym typeface="Poppins"/>
              </a:rPr>
              <a:t>OBJECTIVE</a:t>
            </a:r>
            <a:endParaRPr lang="en-US" sz="6384" spc="625" dirty="0">
              <a:solidFill>
                <a:srgbClr val="FEFFFF"/>
              </a:solidFill>
              <a:latin typeface="Poppins"/>
              <a:ea typeface="Poppins"/>
              <a:cs typeface="Poppins"/>
              <a:sym typeface="Poppins"/>
            </a:endParaRPr>
          </a:p>
        </p:txBody>
      </p:sp>
      <p:sp>
        <p:nvSpPr>
          <p:cNvPr id="10" name="TextBox 12">
            <a:extLst>
              <a:ext uri="{FF2B5EF4-FFF2-40B4-BE49-F238E27FC236}">
                <a16:creationId xmlns:a16="http://schemas.microsoft.com/office/drawing/2014/main" id="{EA699F54-E7D3-724B-25F7-67F9F85746C5}"/>
              </a:ext>
            </a:extLst>
          </p:cNvPr>
          <p:cNvSpPr txBox="1"/>
          <p:nvPr/>
        </p:nvSpPr>
        <p:spPr>
          <a:xfrm>
            <a:off x="952090" y="6802047"/>
            <a:ext cx="4148880" cy="1341586"/>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Identify the most popular product line for each customer type (Member, Normal) based on sales.</a:t>
            </a:r>
            <a:endParaRPr lang="en-US" sz="1975" spc="41" dirty="0">
              <a:solidFill>
                <a:schemeClr val="bg1"/>
              </a:solidFill>
              <a:latin typeface="DM Sans" pitchFamily="2" charset="0"/>
              <a:ea typeface="DM Sans"/>
              <a:cs typeface="DM Sans"/>
              <a:sym typeface="DM Sans"/>
            </a:endParaRPr>
          </a:p>
        </p:txBody>
      </p:sp>
      <p:sp>
        <p:nvSpPr>
          <p:cNvPr id="11" name="TextBox 4">
            <a:extLst>
              <a:ext uri="{FF2B5EF4-FFF2-40B4-BE49-F238E27FC236}">
                <a16:creationId xmlns:a16="http://schemas.microsoft.com/office/drawing/2014/main" id="{9BD0C42D-D725-9C28-A28E-5B55D9E3B0FA}"/>
              </a:ext>
            </a:extLst>
          </p:cNvPr>
          <p:cNvSpPr txBox="1"/>
          <p:nvPr/>
        </p:nvSpPr>
        <p:spPr>
          <a:xfrm>
            <a:off x="3200400" y="419100"/>
            <a:ext cx="11530731" cy="1231106"/>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 7 – Best Product Line by Customer Type</a:t>
            </a:r>
            <a:endParaRPr lang="en-US" sz="4000" spc="1212" dirty="0">
              <a:solidFill>
                <a:srgbClr val="2B2A2A"/>
              </a:solidFill>
              <a:latin typeface="Poppins Bold" panose="00000800000000000000" charset="0"/>
              <a:ea typeface="Poppins Bold"/>
              <a:cs typeface="Poppins Bold" panose="00000800000000000000" charset="0"/>
              <a:sym typeface="Poppins Bold"/>
            </a:endParaRPr>
          </a:p>
        </p:txBody>
      </p:sp>
      <p:sp>
        <p:nvSpPr>
          <p:cNvPr id="12" name="TextBox 14">
            <a:extLst>
              <a:ext uri="{FF2B5EF4-FFF2-40B4-BE49-F238E27FC236}">
                <a16:creationId xmlns:a16="http://schemas.microsoft.com/office/drawing/2014/main" id="{EAC60FC8-2965-AAE2-509B-59F54BE4EC07}"/>
              </a:ext>
            </a:extLst>
          </p:cNvPr>
          <p:cNvSpPr txBox="1"/>
          <p:nvPr/>
        </p:nvSpPr>
        <p:spPr>
          <a:xfrm>
            <a:off x="6956752" y="1446631"/>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SQL Query </a:t>
            </a:r>
            <a:endParaRPr lang="en-US" sz="6384" spc="625" dirty="0">
              <a:latin typeface="Poppins"/>
              <a:ea typeface="Poppins"/>
              <a:cs typeface="Poppins"/>
              <a:sym typeface="Poppins"/>
            </a:endParaRPr>
          </a:p>
        </p:txBody>
      </p:sp>
      <p:sp>
        <p:nvSpPr>
          <p:cNvPr id="19" name="TextBox 14">
            <a:extLst>
              <a:ext uri="{FF2B5EF4-FFF2-40B4-BE49-F238E27FC236}">
                <a16:creationId xmlns:a16="http://schemas.microsoft.com/office/drawing/2014/main" id="{E81D98CD-D216-3412-ADAB-6CA18A4E3EB2}"/>
              </a:ext>
            </a:extLst>
          </p:cNvPr>
          <p:cNvSpPr txBox="1"/>
          <p:nvPr/>
        </p:nvSpPr>
        <p:spPr>
          <a:xfrm>
            <a:off x="13925980" y="1025490"/>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Result </a:t>
            </a:r>
            <a:endParaRPr lang="en-US" sz="6384" spc="625" dirty="0">
              <a:latin typeface="Poppins"/>
              <a:ea typeface="Poppins"/>
              <a:cs typeface="Poppins"/>
              <a:sym typeface="Poppins"/>
            </a:endParaRPr>
          </a:p>
        </p:txBody>
      </p:sp>
      <p:sp>
        <p:nvSpPr>
          <p:cNvPr id="21" name="Rectangle 20">
            <a:extLst>
              <a:ext uri="{FF2B5EF4-FFF2-40B4-BE49-F238E27FC236}">
                <a16:creationId xmlns:a16="http://schemas.microsoft.com/office/drawing/2014/main" id="{B657F352-1E73-179A-292F-0644CA58BED4}"/>
              </a:ext>
            </a:extLst>
          </p:cNvPr>
          <p:cNvSpPr/>
          <p:nvPr/>
        </p:nvSpPr>
        <p:spPr>
          <a:xfrm>
            <a:off x="10845544" y="3874727"/>
            <a:ext cx="7121889" cy="1405940"/>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DM Sans" pitchFamily="2" charset="0"/>
                <a:cs typeface="Poppins" panose="00000500000000000000" pitchFamily="2" charset="0"/>
              </a:rPr>
              <a:t>Insight</a:t>
            </a:r>
          </a:p>
          <a:p>
            <a:r>
              <a:rPr lang="en-US" sz="2000" dirty="0">
                <a:latin typeface="DM Sans" pitchFamily="2" charset="0"/>
              </a:rPr>
              <a:t>Members prefer </a:t>
            </a:r>
            <a:r>
              <a:rPr lang="en-US" sz="2000" b="1" dirty="0">
                <a:latin typeface="DM Sans" pitchFamily="2" charset="0"/>
              </a:rPr>
              <a:t>Food &amp; Beverages</a:t>
            </a:r>
            <a:r>
              <a:rPr lang="en-US" sz="2000" dirty="0">
                <a:latin typeface="DM Sans" pitchFamily="2" charset="0"/>
              </a:rPr>
              <a:t>, while Normal customers prefer </a:t>
            </a:r>
            <a:r>
              <a:rPr lang="en-US" sz="2000" b="1" dirty="0">
                <a:latin typeface="DM Sans" pitchFamily="2" charset="0"/>
              </a:rPr>
              <a:t>Electronic Accessories</a:t>
            </a:r>
            <a:r>
              <a:rPr lang="en-US" sz="2000" dirty="0">
                <a:latin typeface="DM Sans" pitchFamily="2" charset="0"/>
              </a:rPr>
              <a:t>. Promotions should target these preferences</a:t>
            </a:r>
            <a:r>
              <a:rPr lang="en-US" dirty="0"/>
              <a:t>.</a:t>
            </a:r>
            <a:endParaRPr lang="en-US" b="1" dirty="0">
              <a:latin typeface="DM Sans" pitchFamily="2" charset="0"/>
              <a:cs typeface="Poppins" panose="00000500000000000000" pitchFamily="2" charset="0"/>
            </a:endParaRPr>
          </a:p>
        </p:txBody>
      </p:sp>
      <p:sp>
        <p:nvSpPr>
          <p:cNvPr id="22" name="Rectangle 21">
            <a:extLst>
              <a:ext uri="{FF2B5EF4-FFF2-40B4-BE49-F238E27FC236}">
                <a16:creationId xmlns:a16="http://schemas.microsoft.com/office/drawing/2014/main" id="{14C7CF02-DA6A-A0EE-F816-D50CB71F3143}"/>
              </a:ext>
            </a:extLst>
          </p:cNvPr>
          <p:cNvSpPr/>
          <p:nvPr/>
        </p:nvSpPr>
        <p:spPr>
          <a:xfrm>
            <a:off x="535882" y="8625657"/>
            <a:ext cx="9978760" cy="1379736"/>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DM Sans" pitchFamily="2" charset="0"/>
                <a:cs typeface="Poppins" panose="00000500000000000000" pitchFamily="2" charset="0"/>
              </a:rPr>
              <a:t>Approach</a:t>
            </a:r>
          </a:p>
          <a:p>
            <a:r>
              <a:rPr lang="en-US" sz="2000" dirty="0">
                <a:latin typeface="DM Sans" pitchFamily="2" charset="0"/>
              </a:rPr>
              <a:t>Grouped sales by customer type and product line, calculated total sales, ranked product lines for each type, and identified the top product line preference for Members and Normal customers.</a:t>
            </a:r>
            <a:endParaRPr lang="en-US" sz="2000" b="1" dirty="0">
              <a:latin typeface="DM Sans" pitchFamily="2" charset="0"/>
              <a:cs typeface="Poppins" panose="00000500000000000000" pitchFamily="2" charset="0"/>
            </a:endParaRPr>
          </a:p>
        </p:txBody>
      </p:sp>
      <p:pic>
        <p:nvPicPr>
          <p:cNvPr id="26" name="Picture 2">
            <a:extLst>
              <a:ext uri="{FF2B5EF4-FFF2-40B4-BE49-F238E27FC236}">
                <a16:creationId xmlns:a16="http://schemas.microsoft.com/office/drawing/2014/main" id="{E67D9DFF-779C-9914-EB8C-82AB57A4489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154400" y="-34787"/>
            <a:ext cx="2283419" cy="167364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A screenshot of a computer code">
            <a:extLst>
              <a:ext uri="{FF2B5EF4-FFF2-40B4-BE49-F238E27FC236}">
                <a16:creationId xmlns:a16="http://schemas.microsoft.com/office/drawing/2014/main" id="{3B4C4C95-4CD8-2C5C-A846-0C25A81F1046}"/>
              </a:ext>
              <a:ext uri="{C183D7F6-B498-43B3-948B-1728B52AA6E4}">
                <adec:decorative xmlns:adec="http://schemas.microsoft.com/office/drawing/2017/decorative" val="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28694" y="2377536"/>
            <a:ext cx="5425050" cy="6042565"/>
          </a:xfrm>
          <a:prstGeom prst="rect">
            <a:avLst/>
          </a:prstGeom>
        </p:spPr>
      </p:pic>
      <p:graphicFrame>
        <p:nvGraphicFramePr>
          <p:cNvPr id="15" name="Table 14">
            <a:extLst>
              <a:ext uri="{FF2B5EF4-FFF2-40B4-BE49-F238E27FC236}">
                <a16:creationId xmlns:a16="http://schemas.microsoft.com/office/drawing/2014/main" id="{EAE71FF8-D58A-A831-BDC3-78D8AF902D92}"/>
              </a:ext>
            </a:extLst>
          </p:cNvPr>
          <p:cNvGraphicFramePr>
            <a:graphicFrameLocks noGrp="1"/>
          </p:cNvGraphicFramePr>
          <p:nvPr>
            <p:extLst>
              <p:ext uri="{D42A27DB-BD31-4B8C-83A1-F6EECF244321}">
                <p14:modId xmlns:p14="http://schemas.microsoft.com/office/powerpoint/2010/main" val="19826294"/>
              </p:ext>
            </p:extLst>
          </p:nvPr>
        </p:nvGraphicFramePr>
        <p:xfrm>
          <a:off x="10845545" y="1972483"/>
          <a:ext cx="7121890" cy="1673643"/>
        </p:xfrm>
        <a:graphic>
          <a:graphicData uri="http://schemas.openxmlformats.org/drawingml/2006/table">
            <a:tbl>
              <a:tblPr/>
              <a:tblGrid>
                <a:gridCol w="2098575">
                  <a:extLst>
                    <a:ext uri="{9D8B030D-6E8A-4147-A177-3AD203B41FA5}">
                      <a16:colId xmlns:a16="http://schemas.microsoft.com/office/drawing/2014/main" val="84588887"/>
                    </a:ext>
                  </a:extLst>
                </a:gridCol>
                <a:gridCol w="2731767">
                  <a:extLst>
                    <a:ext uri="{9D8B030D-6E8A-4147-A177-3AD203B41FA5}">
                      <a16:colId xmlns:a16="http://schemas.microsoft.com/office/drawing/2014/main" val="2893706114"/>
                    </a:ext>
                  </a:extLst>
                </a:gridCol>
                <a:gridCol w="2291548">
                  <a:extLst>
                    <a:ext uri="{9D8B030D-6E8A-4147-A177-3AD203B41FA5}">
                      <a16:colId xmlns:a16="http://schemas.microsoft.com/office/drawing/2014/main" val="4181211894"/>
                    </a:ext>
                  </a:extLst>
                </a:gridCol>
              </a:tblGrid>
              <a:tr h="557881">
                <a:tc>
                  <a:txBody>
                    <a:bodyPr/>
                    <a:lstStyle/>
                    <a:p>
                      <a:pPr algn="ctr" fontAlgn="ctr">
                        <a:buNone/>
                      </a:pPr>
                      <a:r>
                        <a:rPr lang="en-IN" sz="2000" b="1" i="0" u="none" strike="noStrike">
                          <a:solidFill>
                            <a:srgbClr val="FFFFFF"/>
                          </a:solidFill>
                          <a:effectLst/>
                          <a:latin typeface="DM Sans" pitchFamily="2" charset="0"/>
                        </a:rPr>
                        <a:t>customer_type</a:t>
                      </a:r>
                    </a:p>
                  </a:txBody>
                  <a:tcPr marL="9525" marR="9525" marT="9525" marB="0" anchor="ctr">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2000" b="1" i="0" u="none" strike="noStrike">
                          <a:solidFill>
                            <a:srgbClr val="FFFFFF"/>
                          </a:solidFill>
                          <a:effectLst/>
                          <a:latin typeface="DM Sans" pitchFamily="2" charset="0"/>
                        </a:rPr>
                        <a:t>product_line</a:t>
                      </a:r>
                    </a:p>
                  </a:txBody>
                  <a:tcPr marL="9525" marR="9525" marT="9525" marB="0" anchor="ctr">
                    <a:lnL>
                      <a:noFill/>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2000" b="1" i="0" u="none" strike="noStrike" dirty="0">
                          <a:solidFill>
                            <a:srgbClr val="FFFFFF"/>
                          </a:solidFill>
                          <a:effectLst/>
                          <a:latin typeface="DM Sans" pitchFamily="2" charset="0"/>
                        </a:rPr>
                        <a:t>sales_total</a:t>
                      </a:r>
                    </a:p>
                  </a:txBody>
                  <a:tcPr marL="9525" marR="9525" marT="9525" marB="0" anchor="ctr">
                    <a:lnL>
                      <a:noFill/>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729361737"/>
                  </a:ext>
                </a:extLst>
              </a:tr>
              <a:tr h="557881">
                <a:tc>
                  <a:txBody>
                    <a:bodyPr/>
                    <a:lstStyle/>
                    <a:p>
                      <a:pPr algn="ctr" fontAlgn="ctr">
                        <a:buNone/>
                      </a:pPr>
                      <a:r>
                        <a:rPr lang="en-IN" sz="2000" b="0" i="0" u="none" strike="noStrike" dirty="0">
                          <a:solidFill>
                            <a:srgbClr val="000000"/>
                          </a:solidFill>
                          <a:effectLst/>
                          <a:latin typeface="DM Sans" pitchFamily="2" charset="0"/>
                        </a:rPr>
                        <a:t>Member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IN" sz="2000" b="0" i="0" u="none" strike="noStrike" dirty="0">
                          <a:solidFill>
                            <a:srgbClr val="000000"/>
                          </a:solidFill>
                          <a:effectLst/>
                          <a:latin typeface="DM Sans" pitchFamily="2" charset="0"/>
                        </a:rPr>
                        <a:t>Food and beverages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IN" sz="2000" b="0" i="0" u="none" strike="noStrike" dirty="0">
                          <a:solidFill>
                            <a:srgbClr val="000000"/>
                          </a:solidFill>
                          <a:effectLst/>
                          <a:latin typeface="DM Sans" pitchFamily="2" charset="0"/>
                        </a:rPr>
                        <a:t>31358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667734703"/>
                  </a:ext>
                </a:extLst>
              </a:tr>
              <a:tr h="557881">
                <a:tc>
                  <a:txBody>
                    <a:bodyPr/>
                    <a:lstStyle/>
                    <a:p>
                      <a:pPr algn="ctr" fontAlgn="ctr">
                        <a:buNone/>
                      </a:pPr>
                      <a:r>
                        <a:rPr lang="en-IN" sz="2000" b="0" i="0" u="none" strike="noStrike" dirty="0">
                          <a:solidFill>
                            <a:srgbClr val="000000"/>
                          </a:solidFill>
                          <a:effectLst/>
                          <a:latin typeface="DM Sans" pitchFamily="2" charset="0"/>
                        </a:rPr>
                        <a:t>Normal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IN" sz="2000" b="0" i="0" u="none" strike="noStrike" dirty="0">
                          <a:solidFill>
                            <a:srgbClr val="000000"/>
                          </a:solidFill>
                          <a:effectLst/>
                          <a:latin typeface="DM Sans" pitchFamily="2" charset="0"/>
                        </a:rPr>
                        <a:t>Electronic accessories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bg1"/>
                    </a:solidFill>
                  </a:tcPr>
                </a:tc>
                <a:tc>
                  <a:txBody>
                    <a:bodyPr/>
                    <a:lstStyle/>
                    <a:p>
                      <a:pPr algn="ctr" fontAlgn="ctr">
                        <a:buNone/>
                      </a:pPr>
                      <a:r>
                        <a:rPr lang="en-IN" sz="2000" b="0" i="0" u="none" strike="noStrike" dirty="0">
                          <a:solidFill>
                            <a:srgbClr val="000000"/>
                          </a:solidFill>
                          <a:effectLst/>
                          <a:latin typeface="DM Sans" pitchFamily="2" charset="0"/>
                        </a:rPr>
                        <a:t>29839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906154757"/>
                  </a:ext>
                </a:extLst>
              </a:tr>
            </a:tbl>
          </a:graphicData>
        </a:graphic>
      </p:graphicFrame>
      <p:graphicFrame>
        <p:nvGraphicFramePr>
          <p:cNvPr id="23" name="Chart 22">
            <a:extLst>
              <a:ext uri="{FF2B5EF4-FFF2-40B4-BE49-F238E27FC236}">
                <a16:creationId xmlns:a16="http://schemas.microsoft.com/office/drawing/2014/main" id="{EB1315FD-303B-01EA-314A-6ABF836F5CAC}"/>
              </a:ext>
            </a:extLst>
          </p:cNvPr>
          <p:cNvGraphicFramePr>
            <a:graphicFrameLocks/>
          </p:cNvGraphicFramePr>
          <p:nvPr>
            <p:extLst>
              <p:ext uri="{D42A27DB-BD31-4B8C-83A1-F6EECF244321}">
                <p14:modId xmlns:p14="http://schemas.microsoft.com/office/powerpoint/2010/main" val="1740910629"/>
              </p:ext>
            </p:extLst>
          </p:nvPr>
        </p:nvGraphicFramePr>
        <p:xfrm>
          <a:off x="10838925" y="5566308"/>
          <a:ext cx="7128508" cy="4439085"/>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3197766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F7BA1-5025-7122-012A-E639B58D8387}"/>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2FAC3ED-63D7-74DD-9F6F-F9B52F558F02}"/>
              </a:ext>
            </a:extLst>
          </p:cNvPr>
          <p:cNvSpPr/>
          <p:nvPr/>
        </p:nvSpPr>
        <p:spPr>
          <a:xfrm>
            <a:off x="-403592" y="-1257300"/>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dirty="0"/>
          </a:p>
        </p:txBody>
      </p:sp>
      <p:grpSp>
        <p:nvGrpSpPr>
          <p:cNvPr id="4" name="Group 4">
            <a:extLst>
              <a:ext uri="{FF2B5EF4-FFF2-40B4-BE49-F238E27FC236}">
                <a16:creationId xmlns:a16="http://schemas.microsoft.com/office/drawing/2014/main" id="{52ECA6FC-8054-2E51-BA7D-60A2BB9E177D}"/>
              </a:ext>
            </a:extLst>
          </p:cNvPr>
          <p:cNvGrpSpPr/>
          <p:nvPr/>
        </p:nvGrpSpPr>
        <p:grpSpPr>
          <a:xfrm>
            <a:off x="481712" y="436419"/>
            <a:ext cx="11772850" cy="5892892"/>
            <a:chOff x="-1058884" y="-19050"/>
            <a:chExt cx="3428148" cy="2265151"/>
          </a:xfrm>
        </p:grpSpPr>
        <p:sp>
          <p:nvSpPr>
            <p:cNvPr id="5" name="Freeform 5">
              <a:extLst>
                <a:ext uri="{FF2B5EF4-FFF2-40B4-BE49-F238E27FC236}">
                  <a16:creationId xmlns:a16="http://schemas.microsoft.com/office/drawing/2014/main" id="{654A5984-36FD-B553-268D-934F7C58795C}"/>
                </a:ext>
              </a:extLst>
            </p:cNvPr>
            <p:cNvSpPr/>
            <p:nvPr/>
          </p:nvSpPr>
          <p:spPr>
            <a:xfrm>
              <a:off x="-1058884" y="305192"/>
              <a:ext cx="1390425" cy="1940909"/>
            </a:xfrm>
            <a:custGeom>
              <a:avLst/>
              <a:gdLst/>
              <a:ahLst/>
              <a:cxnLst/>
              <a:rect l="l" t="t" r="r" b="b"/>
              <a:pathLst>
                <a:path w="2369264" h="2084956">
                  <a:moveTo>
                    <a:pt x="0" y="0"/>
                  </a:moveTo>
                  <a:lnTo>
                    <a:pt x="2369264" y="0"/>
                  </a:lnTo>
                  <a:lnTo>
                    <a:pt x="2369264" y="2084956"/>
                  </a:lnTo>
                  <a:lnTo>
                    <a:pt x="0" y="2084956"/>
                  </a:lnTo>
                  <a:close/>
                </a:path>
              </a:pathLst>
            </a:custGeom>
            <a:solidFill>
              <a:schemeClr val="bg2">
                <a:lumMod val="10000"/>
              </a:schemeClr>
            </a:solidFill>
            <a:ln w="9525" cap="sq">
              <a:solidFill>
                <a:srgbClr val="2B2A2A"/>
              </a:solidFill>
              <a:prstDash val="solid"/>
              <a:miter/>
            </a:ln>
          </p:spPr>
          <p:txBody>
            <a:bodyPr/>
            <a:lstStyle/>
            <a:p>
              <a:pPr algn="ctr"/>
              <a:endParaRPr lang="en-IN" dirty="0"/>
            </a:p>
          </p:txBody>
        </p:sp>
        <p:sp>
          <p:nvSpPr>
            <p:cNvPr id="6" name="TextBox 6">
              <a:extLst>
                <a:ext uri="{FF2B5EF4-FFF2-40B4-BE49-F238E27FC236}">
                  <a16:creationId xmlns:a16="http://schemas.microsoft.com/office/drawing/2014/main" id="{F1142E58-1994-59D4-878D-E44EC407E825}"/>
                </a:ext>
              </a:extLst>
            </p:cNvPr>
            <p:cNvSpPr txBox="1"/>
            <p:nvPr/>
          </p:nvSpPr>
          <p:spPr>
            <a:xfrm>
              <a:off x="0" y="-19050"/>
              <a:ext cx="2369264" cy="2104006"/>
            </a:xfrm>
            <a:prstGeom prst="rect">
              <a:avLst/>
            </a:prstGeom>
          </p:spPr>
          <p:txBody>
            <a:bodyPr lIns="50800" tIns="50800" rIns="50800" bIns="50800" rtlCol="0" anchor="ctr"/>
            <a:lstStyle/>
            <a:p>
              <a:pPr algn="ctr">
                <a:lnSpc>
                  <a:spcPts val="2859"/>
                </a:lnSpc>
              </a:pPr>
              <a:endParaRPr/>
            </a:p>
          </p:txBody>
        </p:sp>
      </p:grpSp>
      <p:sp>
        <p:nvSpPr>
          <p:cNvPr id="7" name="TextBox 14">
            <a:extLst>
              <a:ext uri="{FF2B5EF4-FFF2-40B4-BE49-F238E27FC236}">
                <a16:creationId xmlns:a16="http://schemas.microsoft.com/office/drawing/2014/main" id="{5815EF78-EA9F-0CB0-0B88-F43E56FE070C}"/>
              </a:ext>
            </a:extLst>
          </p:cNvPr>
          <p:cNvSpPr txBox="1"/>
          <p:nvPr/>
        </p:nvSpPr>
        <p:spPr>
          <a:xfrm>
            <a:off x="924891" y="1223874"/>
            <a:ext cx="5949563" cy="932563"/>
          </a:xfrm>
          <a:prstGeom prst="rect">
            <a:avLst/>
          </a:prstGeom>
        </p:spPr>
        <p:txBody>
          <a:bodyPr lIns="0" tIns="0" rIns="0" bIns="0" rtlCol="0" anchor="t">
            <a:spAutoFit/>
          </a:bodyPr>
          <a:lstStyle/>
          <a:p>
            <a:pPr marL="0" lvl="0" indent="0" algn="l">
              <a:lnSpc>
                <a:spcPts val="8811"/>
              </a:lnSpc>
              <a:spcBef>
                <a:spcPct val="0"/>
              </a:spcBef>
            </a:pPr>
            <a:r>
              <a:rPr lang="en-US" sz="2400" spc="625" dirty="0">
                <a:solidFill>
                  <a:srgbClr val="FEFFFF"/>
                </a:solidFill>
                <a:latin typeface="Poppins"/>
                <a:ea typeface="Poppins"/>
                <a:cs typeface="Poppins"/>
                <a:sym typeface="Poppins"/>
              </a:rPr>
              <a:t>BUSINESS PROBLEM</a:t>
            </a:r>
            <a:endParaRPr lang="en-US" sz="6384" spc="625" dirty="0">
              <a:solidFill>
                <a:srgbClr val="FEFFFF"/>
              </a:solidFill>
              <a:latin typeface="Poppins"/>
              <a:ea typeface="Poppins"/>
              <a:cs typeface="Poppins"/>
              <a:sym typeface="Poppins"/>
            </a:endParaRPr>
          </a:p>
        </p:txBody>
      </p:sp>
      <p:sp>
        <p:nvSpPr>
          <p:cNvPr id="8" name="TextBox 12">
            <a:extLst>
              <a:ext uri="{FF2B5EF4-FFF2-40B4-BE49-F238E27FC236}">
                <a16:creationId xmlns:a16="http://schemas.microsoft.com/office/drawing/2014/main" id="{C14EFF2C-E1B7-AF3E-9E78-5FB13D3D6EFC}"/>
              </a:ext>
            </a:extLst>
          </p:cNvPr>
          <p:cNvSpPr txBox="1"/>
          <p:nvPr/>
        </p:nvSpPr>
        <p:spPr>
          <a:xfrm>
            <a:off x="668391" y="2194148"/>
            <a:ext cx="4588280" cy="2264915"/>
          </a:xfrm>
          <a:prstGeom prst="rect">
            <a:avLst/>
          </a:prstGeom>
        </p:spPr>
        <p:txBody>
          <a:bodyPr wrap="square" lIns="0" tIns="0" rIns="0" bIns="0" rtlCol="0" anchor="t">
            <a:spAutoFit/>
          </a:bodyPr>
          <a:lstStyle/>
          <a:p>
            <a:pPr>
              <a:lnSpc>
                <a:spcPct val="150000"/>
              </a:lnSpc>
            </a:pPr>
            <a:r>
              <a:rPr lang="en-US" sz="2000" dirty="0">
                <a:solidFill>
                  <a:schemeClr val="bg1"/>
                </a:solidFill>
              </a:rPr>
              <a:t>Walmart wants to identify customers who made repeat purchases within a short time frame (e.g., 30 days). This helps evaluate customer loyalty and design retention strategies</a:t>
            </a:r>
            <a:r>
              <a:rPr lang="en-US" sz="2000" dirty="0">
                <a:solidFill>
                  <a:schemeClr val="bg1"/>
                </a:solidFill>
                <a:latin typeface="DM Sans" pitchFamily="2" charset="0"/>
              </a:rPr>
              <a:t>.</a:t>
            </a:r>
            <a:endParaRPr lang="en-US" sz="1975" spc="41" dirty="0">
              <a:solidFill>
                <a:schemeClr val="bg1"/>
              </a:solidFill>
              <a:latin typeface="DM Sans" pitchFamily="2" charset="0"/>
              <a:ea typeface="DM Sans"/>
              <a:cs typeface="DM Sans"/>
              <a:sym typeface="DM Sans"/>
            </a:endParaRPr>
          </a:p>
        </p:txBody>
      </p:sp>
      <p:sp>
        <p:nvSpPr>
          <p:cNvPr id="9" name="TextBox 14">
            <a:extLst>
              <a:ext uri="{FF2B5EF4-FFF2-40B4-BE49-F238E27FC236}">
                <a16:creationId xmlns:a16="http://schemas.microsoft.com/office/drawing/2014/main" id="{D22C4FA4-93B8-08E1-F0D8-1FBE6DEA7B85}"/>
              </a:ext>
            </a:extLst>
          </p:cNvPr>
          <p:cNvSpPr txBox="1"/>
          <p:nvPr/>
        </p:nvSpPr>
        <p:spPr>
          <a:xfrm>
            <a:off x="668391" y="4066572"/>
            <a:ext cx="5949563" cy="932563"/>
          </a:xfrm>
          <a:prstGeom prst="rect">
            <a:avLst/>
          </a:prstGeom>
        </p:spPr>
        <p:txBody>
          <a:bodyPr lIns="0" tIns="0" rIns="0" bIns="0" rtlCol="0" anchor="t">
            <a:spAutoFit/>
          </a:bodyPr>
          <a:lstStyle/>
          <a:p>
            <a:pPr lvl="0">
              <a:lnSpc>
                <a:spcPts val="8811"/>
              </a:lnSpc>
              <a:spcBef>
                <a:spcPct val="0"/>
              </a:spcBef>
            </a:pPr>
            <a:r>
              <a:rPr lang="en-US" sz="2400" spc="625" dirty="0">
                <a:solidFill>
                  <a:srgbClr val="FEFFFF"/>
                </a:solidFill>
                <a:latin typeface="Poppins"/>
                <a:ea typeface="Poppins"/>
                <a:cs typeface="Poppins"/>
                <a:sym typeface="Poppins"/>
              </a:rPr>
              <a:t>OBJECTIVE</a:t>
            </a:r>
            <a:endParaRPr lang="en-US" sz="6384" spc="625" dirty="0">
              <a:solidFill>
                <a:srgbClr val="FEFFFF"/>
              </a:solidFill>
              <a:latin typeface="Poppins"/>
              <a:ea typeface="Poppins"/>
              <a:cs typeface="Poppins"/>
              <a:sym typeface="Poppins"/>
            </a:endParaRPr>
          </a:p>
        </p:txBody>
      </p:sp>
      <p:sp>
        <p:nvSpPr>
          <p:cNvPr id="10" name="TextBox 12">
            <a:extLst>
              <a:ext uri="{FF2B5EF4-FFF2-40B4-BE49-F238E27FC236}">
                <a16:creationId xmlns:a16="http://schemas.microsoft.com/office/drawing/2014/main" id="{2A50E339-68EB-CC26-E20A-3111BDDCE324}"/>
              </a:ext>
            </a:extLst>
          </p:cNvPr>
          <p:cNvSpPr txBox="1"/>
          <p:nvPr/>
        </p:nvSpPr>
        <p:spPr>
          <a:xfrm>
            <a:off x="633754" y="5033849"/>
            <a:ext cx="4471645" cy="879921"/>
          </a:xfrm>
          <a:prstGeom prst="rect">
            <a:avLst/>
          </a:prstGeom>
        </p:spPr>
        <p:txBody>
          <a:bodyPr wrap="square" lIns="0" tIns="0" rIns="0" bIns="0" rtlCol="0" anchor="t">
            <a:spAutoFit/>
          </a:bodyPr>
          <a:lstStyle/>
          <a:p>
            <a:pPr>
              <a:lnSpc>
                <a:spcPct val="150000"/>
              </a:lnSpc>
            </a:pPr>
            <a:r>
              <a:rPr lang="en-US" sz="2000" dirty="0">
                <a:solidFill>
                  <a:schemeClr val="bg1"/>
                </a:solidFill>
              </a:rPr>
              <a:t>Find customers who purchased more than once within 30 days.</a:t>
            </a:r>
            <a:endParaRPr lang="en-US" sz="1975" spc="41" dirty="0">
              <a:solidFill>
                <a:schemeClr val="bg1"/>
              </a:solidFill>
              <a:latin typeface="DM Sans" pitchFamily="2" charset="0"/>
              <a:ea typeface="DM Sans"/>
              <a:cs typeface="DM Sans"/>
              <a:sym typeface="DM Sans"/>
            </a:endParaRPr>
          </a:p>
        </p:txBody>
      </p:sp>
      <p:sp>
        <p:nvSpPr>
          <p:cNvPr id="11" name="TextBox 4">
            <a:extLst>
              <a:ext uri="{FF2B5EF4-FFF2-40B4-BE49-F238E27FC236}">
                <a16:creationId xmlns:a16="http://schemas.microsoft.com/office/drawing/2014/main" id="{F865A500-532E-A2B3-E5C7-70F7844DA65F}"/>
              </a:ext>
            </a:extLst>
          </p:cNvPr>
          <p:cNvSpPr txBox="1"/>
          <p:nvPr/>
        </p:nvSpPr>
        <p:spPr>
          <a:xfrm>
            <a:off x="3251747" y="256255"/>
            <a:ext cx="11530731" cy="615553"/>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 8 – Identifying Repeat Customers</a:t>
            </a:r>
            <a:endParaRPr lang="en-US" sz="4000" spc="1212" dirty="0">
              <a:solidFill>
                <a:srgbClr val="2B2A2A"/>
              </a:solidFill>
              <a:latin typeface="Poppins Bold" panose="00000800000000000000" charset="0"/>
              <a:ea typeface="Poppins Bold"/>
              <a:cs typeface="Poppins Bold" panose="00000800000000000000" charset="0"/>
              <a:sym typeface="Poppins Bold"/>
            </a:endParaRPr>
          </a:p>
        </p:txBody>
      </p:sp>
      <p:sp>
        <p:nvSpPr>
          <p:cNvPr id="19" name="TextBox 14">
            <a:extLst>
              <a:ext uri="{FF2B5EF4-FFF2-40B4-BE49-F238E27FC236}">
                <a16:creationId xmlns:a16="http://schemas.microsoft.com/office/drawing/2014/main" id="{78AC758B-6A29-191C-CFD0-AE203B6A4FFD}"/>
              </a:ext>
            </a:extLst>
          </p:cNvPr>
          <p:cNvSpPr txBox="1"/>
          <p:nvPr/>
        </p:nvSpPr>
        <p:spPr>
          <a:xfrm>
            <a:off x="6974927" y="842213"/>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Result </a:t>
            </a:r>
            <a:endParaRPr lang="en-US" sz="6384" spc="625" dirty="0">
              <a:latin typeface="Poppins"/>
              <a:ea typeface="Poppins"/>
              <a:cs typeface="Poppins"/>
              <a:sym typeface="Poppins"/>
            </a:endParaRPr>
          </a:p>
        </p:txBody>
      </p:sp>
      <p:sp>
        <p:nvSpPr>
          <p:cNvPr id="21" name="Rectangle 20">
            <a:extLst>
              <a:ext uri="{FF2B5EF4-FFF2-40B4-BE49-F238E27FC236}">
                <a16:creationId xmlns:a16="http://schemas.microsoft.com/office/drawing/2014/main" id="{597C9C4A-309C-6102-C546-3B9C05298CD9}"/>
              </a:ext>
            </a:extLst>
          </p:cNvPr>
          <p:cNvSpPr/>
          <p:nvPr/>
        </p:nvSpPr>
        <p:spPr>
          <a:xfrm>
            <a:off x="481711" y="8468453"/>
            <a:ext cx="4730319" cy="1547042"/>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DM Sans" pitchFamily="2" charset="0"/>
                <a:cs typeface="Poppins" panose="00000500000000000000" pitchFamily="2" charset="0"/>
              </a:rPr>
              <a:t>Insight</a:t>
            </a:r>
          </a:p>
          <a:p>
            <a:r>
              <a:rPr lang="en-US" sz="2000" dirty="0">
                <a:latin typeface="DM Sans" pitchFamily="2" charset="0"/>
              </a:rPr>
              <a:t>Members prefer </a:t>
            </a:r>
            <a:r>
              <a:rPr lang="en-US" sz="2000" b="1" dirty="0">
                <a:latin typeface="DM Sans" pitchFamily="2" charset="0"/>
              </a:rPr>
              <a:t>Food &amp; Beverages</a:t>
            </a:r>
            <a:r>
              <a:rPr lang="en-US" sz="2000" dirty="0">
                <a:latin typeface="DM Sans" pitchFamily="2" charset="0"/>
              </a:rPr>
              <a:t>, while Normal customers prefer </a:t>
            </a:r>
            <a:r>
              <a:rPr lang="en-US" sz="2000" b="1" dirty="0">
                <a:latin typeface="DM Sans" pitchFamily="2" charset="0"/>
              </a:rPr>
              <a:t>Electronic Accessories</a:t>
            </a:r>
            <a:r>
              <a:rPr lang="en-US" sz="2000" dirty="0">
                <a:latin typeface="DM Sans" pitchFamily="2" charset="0"/>
              </a:rPr>
              <a:t>. Promotions should target these preferences</a:t>
            </a:r>
            <a:r>
              <a:rPr lang="en-US" dirty="0"/>
              <a:t>.</a:t>
            </a:r>
            <a:endParaRPr lang="en-US" b="1" dirty="0">
              <a:latin typeface="DM Sans" pitchFamily="2" charset="0"/>
              <a:cs typeface="Poppins" panose="00000500000000000000" pitchFamily="2" charset="0"/>
            </a:endParaRPr>
          </a:p>
        </p:txBody>
      </p:sp>
      <p:sp>
        <p:nvSpPr>
          <p:cNvPr id="22" name="Rectangle 21">
            <a:extLst>
              <a:ext uri="{FF2B5EF4-FFF2-40B4-BE49-F238E27FC236}">
                <a16:creationId xmlns:a16="http://schemas.microsoft.com/office/drawing/2014/main" id="{8B5BA21A-0836-1E4E-020E-62F827C43DDC}"/>
              </a:ext>
            </a:extLst>
          </p:cNvPr>
          <p:cNvSpPr/>
          <p:nvPr/>
        </p:nvSpPr>
        <p:spPr>
          <a:xfrm>
            <a:off x="481711" y="6549273"/>
            <a:ext cx="4730319" cy="1547043"/>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DM Sans" pitchFamily="2" charset="0"/>
                <a:cs typeface="Poppins" panose="00000500000000000000" pitchFamily="2" charset="0"/>
              </a:rPr>
              <a:t>Approach</a:t>
            </a:r>
          </a:p>
          <a:p>
            <a:r>
              <a:rPr lang="en-US" sz="2000" dirty="0"/>
              <a:t>Compared purchase dates of the same customer, identified those with transactions within a 30-day window, and flagged them as repeat customers.</a:t>
            </a:r>
            <a:endParaRPr lang="en-US" sz="2000" b="1" dirty="0">
              <a:latin typeface="DM Sans" pitchFamily="2" charset="0"/>
              <a:cs typeface="Poppins" panose="00000500000000000000" pitchFamily="2" charset="0"/>
            </a:endParaRPr>
          </a:p>
        </p:txBody>
      </p:sp>
      <p:pic>
        <p:nvPicPr>
          <p:cNvPr id="26" name="Picture 2">
            <a:extLst>
              <a:ext uri="{FF2B5EF4-FFF2-40B4-BE49-F238E27FC236}">
                <a16:creationId xmlns:a16="http://schemas.microsoft.com/office/drawing/2014/main" id="{54FA1D60-4D3A-B274-82D6-ADDA85E369E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6385127" y="-99014"/>
            <a:ext cx="2283419" cy="16736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Chart 15">
            <a:extLst>
              <a:ext uri="{FF2B5EF4-FFF2-40B4-BE49-F238E27FC236}">
                <a16:creationId xmlns:a16="http://schemas.microsoft.com/office/drawing/2014/main" id="{FB96A2D3-2953-228A-80FE-7B2920A4EBC2}"/>
              </a:ext>
            </a:extLst>
          </p:cNvPr>
          <p:cNvGraphicFramePr>
            <a:graphicFrameLocks/>
          </p:cNvGraphicFramePr>
          <p:nvPr>
            <p:extLst>
              <p:ext uri="{D42A27DB-BD31-4B8C-83A1-F6EECF244321}">
                <p14:modId xmlns:p14="http://schemas.microsoft.com/office/powerpoint/2010/main" val="4170310206"/>
              </p:ext>
            </p:extLst>
          </p:nvPr>
        </p:nvGraphicFramePr>
        <p:xfrm>
          <a:off x="10632164" y="5469882"/>
          <a:ext cx="6894672" cy="4523582"/>
        </p:xfrm>
        <a:graphic>
          <a:graphicData uri="http://schemas.openxmlformats.org/drawingml/2006/chart">
            <c:chart xmlns:c="http://schemas.openxmlformats.org/drawingml/2006/chart" xmlns:r="http://schemas.openxmlformats.org/officeDocument/2006/relationships" r:id="rId5"/>
          </a:graphicData>
        </a:graphic>
      </p:graphicFrame>
      <p:pic>
        <p:nvPicPr>
          <p:cNvPr id="18" name="Picture 17">
            <a:extLst>
              <a:ext uri="{FF2B5EF4-FFF2-40B4-BE49-F238E27FC236}">
                <a16:creationId xmlns:a16="http://schemas.microsoft.com/office/drawing/2014/main" id="{1975D5A3-F70A-7E45-95BC-7E30069713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748519" y="1104482"/>
            <a:ext cx="5773001" cy="4137539"/>
          </a:xfrm>
          <a:prstGeom prst="rect">
            <a:avLst/>
          </a:prstGeom>
        </p:spPr>
      </p:pic>
      <p:graphicFrame>
        <p:nvGraphicFramePr>
          <p:cNvPr id="20" name="Table 19">
            <a:extLst>
              <a:ext uri="{FF2B5EF4-FFF2-40B4-BE49-F238E27FC236}">
                <a16:creationId xmlns:a16="http://schemas.microsoft.com/office/drawing/2014/main" id="{FAF74C33-E3B9-45F8-9598-13BB6D122241}"/>
              </a:ext>
            </a:extLst>
          </p:cNvPr>
          <p:cNvGraphicFramePr>
            <a:graphicFrameLocks noGrp="1"/>
          </p:cNvGraphicFramePr>
          <p:nvPr>
            <p:extLst>
              <p:ext uri="{D42A27DB-BD31-4B8C-83A1-F6EECF244321}">
                <p14:modId xmlns:p14="http://schemas.microsoft.com/office/powerpoint/2010/main" val="2006531224"/>
              </p:ext>
            </p:extLst>
          </p:nvPr>
        </p:nvGraphicFramePr>
        <p:xfrm>
          <a:off x="5809440" y="1955485"/>
          <a:ext cx="4096637" cy="7988266"/>
        </p:xfrm>
        <a:graphic>
          <a:graphicData uri="http://schemas.openxmlformats.org/drawingml/2006/table">
            <a:tbl>
              <a:tblPr/>
              <a:tblGrid>
                <a:gridCol w="1896591">
                  <a:extLst>
                    <a:ext uri="{9D8B030D-6E8A-4147-A177-3AD203B41FA5}">
                      <a16:colId xmlns:a16="http://schemas.microsoft.com/office/drawing/2014/main" val="1589655413"/>
                    </a:ext>
                  </a:extLst>
                </a:gridCol>
                <a:gridCol w="2200046">
                  <a:extLst>
                    <a:ext uri="{9D8B030D-6E8A-4147-A177-3AD203B41FA5}">
                      <a16:colId xmlns:a16="http://schemas.microsoft.com/office/drawing/2014/main" val="1879326428"/>
                    </a:ext>
                  </a:extLst>
                </a:gridCol>
              </a:tblGrid>
              <a:tr h="257686">
                <a:tc>
                  <a:txBody>
                    <a:bodyPr/>
                    <a:lstStyle/>
                    <a:p>
                      <a:pPr algn="ctr" fontAlgn="b">
                        <a:buNone/>
                      </a:pPr>
                      <a:r>
                        <a:rPr lang="en-IN" sz="1600" b="1" i="0" u="none" strike="noStrike" dirty="0">
                          <a:solidFill>
                            <a:srgbClr val="FFFFFF"/>
                          </a:solidFill>
                          <a:effectLst/>
                          <a:latin typeface="DM Sans" pitchFamily="2" charset="0"/>
                        </a:rPr>
                        <a:t>customer_id</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b">
                        <a:buNone/>
                      </a:pPr>
                      <a:r>
                        <a:rPr lang="en-IN" sz="1600" b="1" i="0" u="none" strike="noStrike" dirty="0">
                          <a:solidFill>
                            <a:srgbClr val="FFFFFF"/>
                          </a:solidFill>
                          <a:effectLst/>
                          <a:latin typeface="DM Sans" pitchFamily="2" charset="0"/>
                        </a:rPr>
                        <a:t>customer_type</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2253102884"/>
                  </a:ext>
                </a:extLst>
              </a:tr>
              <a:tr h="257686">
                <a:tc>
                  <a:txBody>
                    <a:bodyPr/>
                    <a:lstStyle/>
                    <a:p>
                      <a:pPr algn="ctr" fontAlgn="b">
                        <a:buNone/>
                      </a:pPr>
                      <a:r>
                        <a:rPr lang="en-IN" sz="1600" b="0" i="0" u="none" strike="noStrike" dirty="0">
                          <a:solidFill>
                            <a:srgbClr val="000000"/>
                          </a:solidFill>
                          <a:effectLst/>
                          <a:latin typeface="DM Sans" pitchFamily="2" charset="0"/>
                        </a:rPr>
                        <a:t>1</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812601099"/>
                  </a:ext>
                </a:extLst>
              </a:tr>
              <a:tr h="257686">
                <a:tc>
                  <a:txBody>
                    <a:bodyPr/>
                    <a:lstStyle/>
                    <a:p>
                      <a:pPr algn="ctr" fontAlgn="b">
                        <a:buNone/>
                      </a:pPr>
                      <a:r>
                        <a:rPr lang="en-IN" sz="1600" b="0" i="0" u="none" strike="noStrike" dirty="0">
                          <a:solidFill>
                            <a:srgbClr val="000000"/>
                          </a:solidFill>
                          <a:effectLst/>
                          <a:latin typeface="DM Sans" pitchFamily="2" charset="0"/>
                        </a:rPr>
                        <a:t>1</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932894128"/>
                  </a:ext>
                </a:extLst>
              </a:tr>
              <a:tr h="257686">
                <a:tc>
                  <a:txBody>
                    <a:bodyPr/>
                    <a:lstStyle/>
                    <a:p>
                      <a:pPr algn="ctr" fontAlgn="b">
                        <a:buNone/>
                      </a:pPr>
                      <a:r>
                        <a:rPr lang="en-IN" sz="1600" b="0" i="0" u="none" strike="noStrike" dirty="0">
                          <a:solidFill>
                            <a:srgbClr val="000000"/>
                          </a:solidFill>
                          <a:effectLst/>
                          <a:latin typeface="DM Sans" pitchFamily="2" charset="0"/>
                        </a:rPr>
                        <a:t>2</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015073162"/>
                  </a:ext>
                </a:extLst>
              </a:tr>
              <a:tr h="257686">
                <a:tc>
                  <a:txBody>
                    <a:bodyPr/>
                    <a:lstStyle/>
                    <a:p>
                      <a:pPr algn="ctr" fontAlgn="b">
                        <a:buNone/>
                      </a:pPr>
                      <a:r>
                        <a:rPr lang="en-IN" sz="1600" b="0" i="0" u="none" strike="noStrike" dirty="0">
                          <a:solidFill>
                            <a:srgbClr val="000000"/>
                          </a:solidFill>
                          <a:effectLst/>
                          <a:latin typeface="DM Sans" pitchFamily="2" charset="0"/>
                        </a:rPr>
                        <a:t>2</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066177117"/>
                  </a:ext>
                </a:extLst>
              </a:tr>
              <a:tr h="257686">
                <a:tc>
                  <a:txBody>
                    <a:bodyPr/>
                    <a:lstStyle/>
                    <a:p>
                      <a:pPr algn="ctr" fontAlgn="b">
                        <a:buNone/>
                      </a:pPr>
                      <a:r>
                        <a:rPr lang="en-IN" sz="1600" b="0" i="0" u="none" strike="noStrike" dirty="0">
                          <a:solidFill>
                            <a:srgbClr val="000000"/>
                          </a:solidFill>
                          <a:effectLst/>
                          <a:latin typeface="DM Sans" pitchFamily="2" charset="0"/>
                        </a:rPr>
                        <a:t>3</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605544345"/>
                  </a:ext>
                </a:extLst>
              </a:tr>
              <a:tr h="257686">
                <a:tc>
                  <a:txBody>
                    <a:bodyPr/>
                    <a:lstStyle/>
                    <a:p>
                      <a:pPr algn="ctr" fontAlgn="b">
                        <a:buNone/>
                      </a:pPr>
                      <a:r>
                        <a:rPr lang="en-IN" sz="1600" b="0" i="0" u="none" strike="noStrike" dirty="0">
                          <a:solidFill>
                            <a:srgbClr val="000000"/>
                          </a:solidFill>
                          <a:effectLst/>
                          <a:latin typeface="DM Sans" pitchFamily="2" charset="0"/>
                        </a:rPr>
                        <a:t>3</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568607674"/>
                  </a:ext>
                </a:extLst>
              </a:tr>
              <a:tr h="257686">
                <a:tc>
                  <a:txBody>
                    <a:bodyPr/>
                    <a:lstStyle/>
                    <a:p>
                      <a:pPr algn="ctr" fontAlgn="b">
                        <a:buNone/>
                      </a:pPr>
                      <a:r>
                        <a:rPr lang="en-IN" sz="1600" b="0" i="0" u="none" strike="noStrike" dirty="0">
                          <a:solidFill>
                            <a:srgbClr val="000000"/>
                          </a:solidFill>
                          <a:effectLst/>
                          <a:latin typeface="DM Sans" pitchFamily="2" charset="0"/>
                        </a:rPr>
                        <a:t>4</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41733642"/>
                  </a:ext>
                </a:extLst>
              </a:tr>
              <a:tr h="257686">
                <a:tc>
                  <a:txBody>
                    <a:bodyPr/>
                    <a:lstStyle/>
                    <a:p>
                      <a:pPr algn="ctr" fontAlgn="b">
                        <a:buNone/>
                      </a:pPr>
                      <a:r>
                        <a:rPr lang="en-IN" sz="1600" b="0" i="0" u="none" strike="noStrike" dirty="0">
                          <a:solidFill>
                            <a:srgbClr val="000000"/>
                          </a:solidFill>
                          <a:effectLst/>
                          <a:latin typeface="DM Sans" pitchFamily="2" charset="0"/>
                        </a:rPr>
                        <a:t>4</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369532368"/>
                  </a:ext>
                </a:extLst>
              </a:tr>
              <a:tr h="257686">
                <a:tc>
                  <a:txBody>
                    <a:bodyPr/>
                    <a:lstStyle/>
                    <a:p>
                      <a:pPr algn="ctr" fontAlgn="b">
                        <a:buNone/>
                      </a:pPr>
                      <a:r>
                        <a:rPr lang="en-IN" sz="1600" b="0" i="0" u="none" strike="noStrike" dirty="0">
                          <a:solidFill>
                            <a:srgbClr val="000000"/>
                          </a:solidFill>
                          <a:effectLst/>
                          <a:latin typeface="DM Sans" pitchFamily="2" charset="0"/>
                        </a:rPr>
                        <a:t>5</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270566877"/>
                  </a:ext>
                </a:extLst>
              </a:tr>
              <a:tr h="257686">
                <a:tc>
                  <a:txBody>
                    <a:bodyPr/>
                    <a:lstStyle/>
                    <a:p>
                      <a:pPr algn="ctr" fontAlgn="b">
                        <a:buNone/>
                      </a:pPr>
                      <a:r>
                        <a:rPr lang="en-IN" sz="1600" b="0" i="0" u="none" strike="noStrike" dirty="0">
                          <a:solidFill>
                            <a:srgbClr val="000000"/>
                          </a:solidFill>
                          <a:effectLst/>
                          <a:latin typeface="DM Sans" pitchFamily="2" charset="0"/>
                        </a:rPr>
                        <a:t>5</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718875859"/>
                  </a:ext>
                </a:extLst>
              </a:tr>
              <a:tr h="257686">
                <a:tc>
                  <a:txBody>
                    <a:bodyPr/>
                    <a:lstStyle/>
                    <a:p>
                      <a:pPr algn="ctr" fontAlgn="b">
                        <a:buNone/>
                      </a:pPr>
                      <a:r>
                        <a:rPr lang="en-IN" sz="1600" b="0" i="0" u="none" strike="noStrike" dirty="0">
                          <a:solidFill>
                            <a:srgbClr val="000000"/>
                          </a:solidFill>
                          <a:effectLst/>
                          <a:latin typeface="DM Sans" pitchFamily="2" charset="0"/>
                        </a:rPr>
                        <a:t>6</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10485357"/>
                  </a:ext>
                </a:extLst>
              </a:tr>
              <a:tr h="257686">
                <a:tc>
                  <a:txBody>
                    <a:bodyPr/>
                    <a:lstStyle/>
                    <a:p>
                      <a:pPr algn="ctr" fontAlgn="b">
                        <a:buNone/>
                      </a:pPr>
                      <a:r>
                        <a:rPr lang="en-IN" sz="1600" b="0" i="0" u="none" strike="noStrike" dirty="0">
                          <a:solidFill>
                            <a:srgbClr val="000000"/>
                          </a:solidFill>
                          <a:effectLst/>
                          <a:latin typeface="DM Sans" pitchFamily="2" charset="0"/>
                        </a:rPr>
                        <a:t>6</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290038911"/>
                  </a:ext>
                </a:extLst>
              </a:tr>
              <a:tr h="257686">
                <a:tc>
                  <a:txBody>
                    <a:bodyPr/>
                    <a:lstStyle/>
                    <a:p>
                      <a:pPr algn="ctr" fontAlgn="b">
                        <a:buNone/>
                      </a:pPr>
                      <a:r>
                        <a:rPr lang="en-IN" sz="1600" b="0" i="0" u="none" strike="noStrike" dirty="0">
                          <a:solidFill>
                            <a:srgbClr val="000000"/>
                          </a:solidFill>
                          <a:effectLst/>
                          <a:latin typeface="DM Sans" pitchFamily="2" charset="0"/>
                        </a:rPr>
                        <a:t>7</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425607532"/>
                  </a:ext>
                </a:extLst>
              </a:tr>
              <a:tr h="257686">
                <a:tc>
                  <a:txBody>
                    <a:bodyPr/>
                    <a:lstStyle/>
                    <a:p>
                      <a:pPr algn="ctr" fontAlgn="b">
                        <a:buNone/>
                      </a:pPr>
                      <a:r>
                        <a:rPr lang="en-IN" sz="1600" b="0" i="0" u="none" strike="noStrike" dirty="0">
                          <a:solidFill>
                            <a:srgbClr val="000000"/>
                          </a:solidFill>
                          <a:effectLst/>
                          <a:latin typeface="DM Sans" pitchFamily="2" charset="0"/>
                        </a:rPr>
                        <a:t>7</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627233991"/>
                  </a:ext>
                </a:extLst>
              </a:tr>
              <a:tr h="257686">
                <a:tc>
                  <a:txBody>
                    <a:bodyPr/>
                    <a:lstStyle/>
                    <a:p>
                      <a:pPr algn="ctr" fontAlgn="b">
                        <a:buNone/>
                      </a:pPr>
                      <a:r>
                        <a:rPr lang="en-IN" sz="1600" b="0" i="0" u="none" strike="noStrike" dirty="0">
                          <a:solidFill>
                            <a:srgbClr val="000000"/>
                          </a:solidFill>
                          <a:effectLst/>
                          <a:latin typeface="DM Sans" pitchFamily="2" charset="0"/>
                        </a:rPr>
                        <a:t>8</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20829230"/>
                  </a:ext>
                </a:extLst>
              </a:tr>
              <a:tr h="257686">
                <a:tc>
                  <a:txBody>
                    <a:bodyPr/>
                    <a:lstStyle/>
                    <a:p>
                      <a:pPr algn="ctr" fontAlgn="b">
                        <a:buNone/>
                      </a:pPr>
                      <a:r>
                        <a:rPr lang="en-IN" sz="1600" b="0" i="0" u="none" strike="noStrike" dirty="0">
                          <a:solidFill>
                            <a:srgbClr val="000000"/>
                          </a:solidFill>
                          <a:effectLst/>
                          <a:latin typeface="DM Sans" pitchFamily="2" charset="0"/>
                        </a:rPr>
                        <a:t>8</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226454004"/>
                  </a:ext>
                </a:extLst>
              </a:tr>
              <a:tr h="257686">
                <a:tc>
                  <a:txBody>
                    <a:bodyPr/>
                    <a:lstStyle/>
                    <a:p>
                      <a:pPr algn="ctr" fontAlgn="b">
                        <a:buNone/>
                      </a:pPr>
                      <a:r>
                        <a:rPr lang="en-IN" sz="1600" b="0" i="0" u="none" strike="noStrike" dirty="0">
                          <a:solidFill>
                            <a:srgbClr val="000000"/>
                          </a:solidFill>
                          <a:effectLst/>
                          <a:latin typeface="DM Sans" pitchFamily="2" charset="0"/>
                        </a:rPr>
                        <a:t>9</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648041422"/>
                  </a:ext>
                </a:extLst>
              </a:tr>
              <a:tr h="257686">
                <a:tc>
                  <a:txBody>
                    <a:bodyPr/>
                    <a:lstStyle/>
                    <a:p>
                      <a:pPr algn="ctr" fontAlgn="b">
                        <a:buNone/>
                      </a:pPr>
                      <a:r>
                        <a:rPr lang="en-IN" sz="1600" b="0" i="0" u="none" strike="noStrike" dirty="0">
                          <a:solidFill>
                            <a:srgbClr val="000000"/>
                          </a:solidFill>
                          <a:effectLst/>
                          <a:latin typeface="DM Sans" pitchFamily="2" charset="0"/>
                        </a:rPr>
                        <a:t>9</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696768594"/>
                  </a:ext>
                </a:extLst>
              </a:tr>
              <a:tr h="257686">
                <a:tc>
                  <a:txBody>
                    <a:bodyPr/>
                    <a:lstStyle/>
                    <a:p>
                      <a:pPr algn="ctr" fontAlgn="b">
                        <a:buNone/>
                      </a:pPr>
                      <a:r>
                        <a:rPr lang="en-IN" sz="1600" b="0" i="0" u="none" strike="noStrike" dirty="0">
                          <a:solidFill>
                            <a:srgbClr val="000000"/>
                          </a:solidFill>
                          <a:effectLst/>
                          <a:latin typeface="DM Sans" pitchFamily="2" charset="0"/>
                        </a:rPr>
                        <a:t>10</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487309026"/>
                  </a:ext>
                </a:extLst>
              </a:tr>
              <a:tr h="257686">
                <a:tc>
                  <a:txBody>
                    <a:bodyPr/>
                    <a:lstStyle/>
                    <a:p>
                      <a:pPr algn="ctr" fontAlgn="b">
                        <a:buNone/>
                      </a:pPr>
                      <a:r>
                        <a:rPr lang="en-IN" sz="1600" b="0" i="0" u="none" strike="noStrike" dirty="0">
                          <a:solidFill>
                            <a:srgbClr val="000000"/>
                          </a:solidFill>
                          <a:effectLst/>
                          <a:latin typeface="DM Sans" pitchFamily="2" charset="0"/>
                        </a:rPr>
                        <a:t>10</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69262449"/>
                  </a:ext>
                </a:extLst>
              </a:tr>
              <a:tr h="257686">
                <a:tc>
                  <a:txBody>
                    <a:bodyPr/>
                    <a:lstStyle/>
                    <a:p>
                      <a:pPr algn="ctr" fontAlgn="b">
                        <a:buNone/>
                      </a:pPr>
                      <a:r>
                        <a:rPr lang="en-IN" sz="1600" b="0" i="0" u="none" strike="noStrike" dirty="0">
                          <a:solidFill>
                            <a:srgbClr val="000000"/>
                          </a:solidFill>
                          <a:effectLst/>
                          <a:latin typeface="DM Sans" pitchFamily="2" charset="0"/>
                        </a:rPr>
                        <a:t>11</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520239906"/>
                  </a:ext>
                </a:extLst>
              </a:tr>
              <a:tr h="257686">
                <a:tc>
                  <a:txBody>
                    <a:bodyPr/>
                    <a:lstStyle/>
                    <a:p>
                      <a:pPr algn="ctr" fontAlgn="b">
                        <a:buNone/>
                      </a:pPr>
                      <a:r>
                        <a:rPr lang="en-IN" sz="1600" b="0" i="0" u="none" strike="noStrike" dirty="0">
                          <a:solidFill>
                            <a:srgbClr val="000000"/>
                          </a:solidFill>
                          <a:effectLst/>
                          <a:latin typeface="DM Sans" pitchFamily="2" charset="0"/>
                        </a:rPr>
                        <a:t>11</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708189878"/>
                  </a:ext>
                </a:extLst>
              </a:tr>
              <a:tr h="257686">
                <a:tc>
                  <a:txBody>
                    <a:bodyPr/>
                    <a:lstStyle/>
                    <a:p>
                      <a:pPr algn="ctr" fontAlgn="b">
                        <a:buNone/>
                      </a:pPr>
                      <a:r>
                        <a:rPr lang="en-IN" sz="1600" b="0" i="0" u="none" strike="noStrike" dirty="0">
                          <a:solidFill>
                            <a:srgbClr val="000000"/>
                          </a:solidFill>
                          <a:effectLst/>
                          <a:latin typeface="DM Sans" pitchFamily="2" charset="0"/>
                        </a:rPr>
                        <a:t>12</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953212322"/>
                  </a:ext>
                </a:extLst>
              </a:tr>
              <a:tr h="257686">
                <a:tc>
                  <a:txBody>
                    <a:bodyPr/>
                    <a:lstStyle/>
                    <a:p>
                      <a:pPr algn="ctr" fontAlgn="b">
                        <a:buNone/>
                      </a:pPr>
                      <a:r>
                        <a:rPr lang="en-IN" sz="1600" b="0" i="0" u="none" strike="noStrike" dirty="0">
                          <a:solidFill>
                            <a:srgbClr val="000000"/>
                          </a:solidFill>
                          <a:effectLst/>
                          <a:latin typeface="DM Sans" pitchFamily="2" charset="0"/>
                        </a:rPr>
                        <a:t>12</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603482362"/>
                  </a:ext>
                </a:extLst>
              </a:tr>
              <a:tr h="257686">
                <a:tc>
                  <a:txBody>
                    <a:bodyPr/>
                    <a:lstStyle/>
                    <a:p>
                      <a:pPr algn="ctr" fontAlgn="b">
                        <a:buNone/>
                      </a:pPr>
                      <a:r>
                        <a:rPr lang="en-IN" sz="1600" b="0" i="0" u="none" strike="noStrike" dirty="0">
                          <a:solidFill>
                            <a:srgbClr val="000000"/>
                          </a:solidFill>
                          <a:effectLst/>
                          <a:latin typeface="DM Sans" pitchFamily="2" charset="0"/>
                        </a:rPr>
                        <a:t>13</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526816212"/>
                  </a:ext>
                </a:extLst>
              </a:tr>
              <a:tr h="257686">
                <a:tc>
                  <a:txBody>
                    <a:bodyPr/>
                    <a:lstStyle/>
                    <a:p>
                      <a:pPr algn="ctr" fontAlgn="b">
                        <a:buNone/>
                      </a:pPr>
                      <a:r>
                        <a:rPr lang="en-IN" sz="1600" b="0" i="0" u="none" strike="noStrike" dirty="0">
                          <a:solidFill>
                            <a:srgbClr val="000000"/>
                          </a:solidFill>
                          <a:effectLst/>
                          <a:latin typeface="DM Sans" pitchFamily="2" charset="0"/>
                        </a:rPr>
                        <a:t>13</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012650215"/>
                  </a:ext>
                </a:extLst>
              </a:tr>
              <a:tr h="257686">
                <a:tc>
                  <a:txBody>
                    <a:bodyPr/>
                    <a:lstStyle/>
                    <a:p>
                      <a:pPr algn="ctr" fontAlgn="b">
                        <a:buNone/>
                      </a:pPr>
                      <a:r>
                        <a:rPr lang="en-IN" sz="1600" b="0" i="0" u="none" strike="noStrike" dirty="0">
                          <a:solidFill>
                            <a:srgbClr val="000000"/>
                          </a:solidFill>
                          <a:effectLst/>
                          <a:latin typeface="DM Sans" pitchFamily="2" charset="0"/>
                        </a:rPr>
                        <a:t>14</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659066952"/>
                  </a:ext>
                </a:extLst>
              </a:tr>
              <a:tr h="257686">
                <a:tc>
                  <a:txBody>
                    <a:bodyPr/>
                    <a:lstStyle/>
                    <a:p>
                      <a:pPr algn="ctr" fontAlgn="b">
                        <a:buNone/>
                      </a:pPr>
                      <a:r>
                        <a:rPr lang="en-IN" sz="1600" b="0" i="0" u="none" strike="noStrike" dirty="0">
                          <a:solidFill>
                            <a:srgbClr val="000000"/>
                          </a:solidFill>
                          <a:effectLst/>
                          <a:latin typeface="DM Sans" pitchFamily="2" charset="0"/>
                        </a:rPr>
                        <a:t>14</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329824762"/>
                  </a:ext>
                </a:extLst>
              </a:tr>
              <a:tr h="257686">
                <a:tc>
                  <a:txBody>
                    <a:bodyPr/>
                    <a:lstStyle/>
                    <a:p>
                      <a:pPr algn="ctr" fontAlgn="b">
                        <a:buNone/>
                      </a:pPr>
                      <a:r>
                        <a:rPr lang="en-IN" sz="1600" b="0" i="0" u="none" strike="noStrike" dirty="0">
                          <a:solidFill>
                            <a:srgbClr val="000000"/>
                          </a:solidFill>
                          <a:effectLst/>
                          <a:latin typeface="DM Sans" pitchFamily="2" charset="0"/>
                        </a:rPr>
                        <a:t>15</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Member</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142899534"/>
                  </a:ext>
                </a:extLst>
              </a:tr>
              <a:tr h="257686">
                <a:tc>
                  <a:txBody>
                    <a:bodyPr/>
                    <a:lstStyle/>
                    <a:p>
                      <a:pPr algn="ctr" fontAlgn="b">
                        <a:buNone/>
                      </a:pPr>
                      <a:r>
                        <a:rPr lang="en-IN" sz="1600" b="0" i="0" u="none" strike="noStrike" dirty="0">
                          <a:solidFill>
                            <a:srgbClr val="000000"/>
                          </a:solidFill>
                          <a:effectLst/>
                          <a:latin typeface="DM Sans" pitchFamily="2" charset="0"/>
                        </a:rPr>
                        <a:t>15</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b">
                        <a:buNone/>
                      </a:pPr>
                      <a:r>
                        <a:rPr lang="en-IN" sz="1600" b="0" i="0" u="none" strike="noStrike" dirty="0">
                          <a:solidFill>
                            <a:srgbClr val="000000"/>
                          </a:solidFill>
                          <a:effectLst/>
                          <a:latin typeface="DM Sans" pitchFamily="2" charset="0"/>
                        </a:rPr>
                        <a:t>Normal</a:t>
                      </a:r>
                    </a:p>
                  </a:txBody>
                  <a:tcPr marL="7300" marR="7300" marT="730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582583694"/>
                  </a:ext>
                </a:extLst>
              </a:tr>
            </a:tbl>
          </a:graphicData>
        </a:graphic>
      </p:graphicFrame>
    </p:spTree>
    <p:extLst>
      <p:ext uri="{BB962C8B-B14F-4D97-AF65-F5344CB8AC3E}">
        <p14:creationId xmlns:p14="http://schemas.microsoft.com/office/powerpoint/2010/main" val="2070074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EADB61-613B-B28F-9ED4-E52D4B5D97C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DAAC442C-156B-C640-F00C-1265FE69B2B1}"/>
              </a:ext>
            </a:extLst>
          </p:cNvPr>
          <p:cNvSpPr/>
          <p:nvPr/>
        </p:nvSpPr>
        <p:spPr>
          <a:xfrm>
            <a:off x="-403592" y="-1257300"/>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grpSp>
        <p:nvGrpSpPr>
          <p:cNvPr id="4" name="Group 4">
            <a:extLst>
              <a:ext uri="{FF2B5EF4-FFF2-40B4-BE49-F238E27FC236}">
                <a16:creationId xmlns:a16="http://schemas.microsoft.com/office/drawing/2014/main" id="{14D5C46B-B0B8-8C21-C431-0C217D3DDD2E}"/>
              </a:ext>
            </a:extLst>
          </p:cNvPr>
          <p:cNvGrpSpPr/>
          <p:nvPr/>
        </p:nvGrpSpPr>
        <p:grpSpPr>
          <a:xfrm>
            <a:off x="780762" y="647701"/>
            <a:ext cx="11530731" cy="6553199"/>
            <a:chOff x="-1058884" y="-19050"/>
            <a:chExt cx="3428148" cy="2265151"/>
          </a:xfrm>
        </p:grpSpPr>
        <p:sp>
          <p:nvSpPr>
            <p:cNvPr id="5" name="Freeform 5">
              <a:extLst>
                <a:ext uri="{FF2B5EF4-FFF2-40B4-BE49-F238E27FC236}">
                  <a16:creationId xmlns:a16="http://schemas.microsoft.com/office/drawing/2014/main" id="{0AD87130-8D5F-4194-8046-A1434C4B8BBA}"/>
                </a:ext>
              </a:extLst>
            </p:cNvPr>
            <p:cNvSpPr/>
            <p:nvPr/>
          </p:nvSpPr>
          <p:spPr>
            <a:xfrm>
              <a:off x="-1058884" y="305192"/>
              <a:ext cx="1309274" cy="1940909"/>
            </a:xfrm>
            <a:custGeom>
              <a:avLst/>
              <a:gdLst/>
              <a:ahLst/>
              <a:cxnLst/>
              <a:rect l="l" t="t" r="r" b="b"/>
              <a:pathLst>
                <a:path w="2369264" h="2084956">
                  <a:moveTo>
                    <a:pt x="0" y="0"/>
                  </a:moveTo>
                  <a:lnTo>
                    <a:pt x="2369264" y="0"/>
                  </a:lnTo>
                  <a:lnTo>
                    <a:pt x="2369264" y="2084956"/>
                  </a:lnTo>
                  <a:lnTo>
                    <a:pt x="0" y="2084956"/>
                  </a:lnTo>
                  <a:close/>
                </a:path>
              </a:pathLst>
            </a:custGeom>
            <a:solidFill>
              <a:schemeClr val="bg2">
                <a:lumMod val="10000"/>
              </a:schemeClr>
            </a:solidFill>
            <a:ln w="9525" cap="sq">
              <a:solidFill>
                <a:srgbClr val="2B2A2A"/>
              </a:solidFill>
              <a:prstDash val="solid"/>
              <a:miter/>
            </a:ln>
          </p:spPr>
          <p:txBody>
            <a:bodyPr/>
            <a:lstStyle/>
            <a:p>
              <a:pPr algn="ctr"/>
              <a:endParaRPr lang="en-IN" dirty="0"/>
            </a:p>
          </p:txBody>
        </p:sp>
        <p:sp>
          <p:nvSpPr>
            <p:cNvPr id="6" name="TextBox 6">
              <a:extLst>
                <a:ext uri="{FF2B5EF4-FFF2-40B4-BE49-F238E27FC236}">
                  <a16:creationId xmlns:a16="http://schemas.microsoft.com/office/drawing/2014/main" id="{BD858E8F-E9D9-CD83-AAD4-D934C2441255}"/>
                </a:ext>
              </a:extLst>
            </p:cNvPr>
            <p:cNvSpPr txBox="1"/>
            <p:nvPr/>
          </p:nvSpPr>
          <p:spPr>
            <a:xfrm>
              <a:off x="0" y="-19050"/>
              <a:ext cx="2369264" cy="2104006"/>
            </a:xfrm>
            <a:prstGeom prst="rect">
              <a:avLst/>
            </a:prstGeom>
          </p:spPr>
          <p:txBody>
            <a:bodyPr lIns="50800" tIns="50800" rIns="50800" bIns="50800" rtlCol="0" anchor="ctr"/>
            <a:lstStyle/>
            <a:p>
              <a:pPr algn="ctr">
                <a:lnSpc>
                  <a:spcPts val="2859"/>
                </a:lnSpc>
              </a:pPr>
              <a:endParaRPr/>
            </a:p>
          </p:txBody>
        </p:sp>
      </p:grpSp>
      <p:sp>
        <p:nvSpPr>
          <p:cNvPr id="7" name="TextBox 14">
            <a:extLst>
              <a:ext uri="{FF2B5EF4-FFF2-40B4-BE49-F238E27FC236}">
                <a16:creationId xmlns:a16="http://schemas.microsoft.com/office/drawing/2014/main" id="{36D15861-143E-3CFC-6838-4BD980EFBCA8}"/>
              </a:ext>
            </a:extLst>
          </p:cNvPr>
          <p:cNvSpPr txBox="1"/>
          <p:nvPr/>
        </p:nvSpPr>
        <p:spPr>
          <a:xfrm>
            <a:off x="943884" y="1661343"/>
            <a:ext cx="5949563" cy="932563"/>
          </a:xfrm>
          <a:prstGeom prst="rect">
            <a:avLst/>
          </a:prstGeom>
        </p:spPr>
        <p:txBody>
          <a:bodyPr lIns="0" tIns="0" rIns="0" bIns="0" rtlCol="0" anchor="t">
            <a:spAutoFit/>
          </a:bodyPr>
          <a:lstStyle/>
          <a:p>
            <a:pPr marL="0" lvl="0" indent="0" algn="l">
              <a:lnSpc>
                <a:spcPts val="8811"/>
              </a:lnSpc>
              <a:spcBef>
                <a:spcPct val="0"/>
              </a:spcBef>
            </a:pPr>
            <a:r>
              <a:rPr lang="en-US" sz="2400" spc="625" dirty="0">
                <a:solidFill>
                  <a:srgbClr val="FEFFFF"/>
                </a:solidFill>
                <a:latin typeface="Poppins"/>
                <a:ea typeface="Poppins"/>
                <a:cs typeface="Poppins"/>
                <a:sym typeface="Poppins"/>
              </a:rPr>
              <a:t>BUSINESS PROBLEM</a:t>
            </a:r>
            <a:endParaRPr lang="en-US" sz="6384" spc="625" dirty="0">
              <a:solidFill>
                <a:srgbClr val="FEFFFF"/>
              </a:solidFill>
              <a:latin typeface="Poppins"/>
              <a:ea typeface="Poppins"/>
              <a:cs typeface="Poppins"/>
              <a:sym typeface="Poppins"/>
            </a:endParaRPr>
          </a:p>
        </p:txBody>
      </p:sp>
      <p:sp>
        <p:nvSpPr>
          <p:cNvPr id="8" name="TextBox 12">
            <a:extLst>
              <a:ext uri="{FF2B5EF4-FFF2-40B4-BE49-F238E27FC236}">
                <a16:creationId xmlns:a16="http://schemas.microsoft.com/office/drawing/2014/main" id="{E82C1693-0E2D-3C02-6CF2-8CC7E4A49A1E}"/>
              </a:ext>
            </a:extLst>
          </p:cNvPr>
          <p:cNvSpPr txBox="1"/>
          <p:nvPr/>
        </p:nvSpPr>
        <p:spPr>
          <a:xfrm>
            <a:off x="924892" y="2662669"/>
            <a:ext cx="4197179" cy="2266198"/>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Walmart wants to identify the top 5 customers who generated the highest revenue, so they can be rewarded with loyalty benefits or exclusive offers.</a:t>
            </a:r>
            <a:endParaRPr lang="en-US" sz="1975" spc="41" dirty="0">
              <a:solidFill>
                <a:schemeClr val="bg1"/>
              </a:solidFill>
              <a:latin typeface="DM Sans" pitchFamily="2" charset="0"/>
              <a:ea typeface="DM Sans"/>
              <a:cs typeface="DM Sans"/>
              <a:sym typeface="DM Sans"/>
            </a:endParaRPr>
          </a:p>
        </p:txBody>
      </p:sp>
      <p:sp>
        <p:nvSpPr>
          <p:cNvPr id="9" name="TextBox 14">
            <a:extLst>
              <a:ext uri="{FF2B5EF4-FFF2-40B4-BE49-F238E27FC236}">
                <a16:creationId xmlns:a16="http://schemas.microsoft.com/office/drawing/2014/main" id="{9DC2C8F3-845C-B4C8-DF0D-635ABEEF4991}"/>
              </a:ext>
            </a:extLst>
          </p:cNvPr>
          <p:cNvSpPr txBox="1"/>
          <p:nvPr/>
        </p:nvSpPr>
        <p:spPr>
          <a:xfrm>
            <a:off x="924892" y="4677218"/>
            <a:ext cx="5949563" cy="932563"/>
          </a:xfrm>
          <a:prstGeom prst="rect">
            <a:avLst/>
          </a:prstGeom>
        </p:spPr>
        <p:txBody>
          <a:bodyPr lIns="0" tIns="0" rIns="0" bIns="0" rtlCol="0" anchor="t">
            <a:spAutoFit/>
          </a:bodyPr>
          <a:lstStyle/>
          <a:p>
            <a:pPr lvl="0">
              <a:lnSpc>
                <a:spcPts val="8811"/>
              </a:lnSpc>
              <a:spcBef>
                <a:spcPct val="0"/>
              </a:spcBef>
            </a:pPr>
            <a:r>
              <a:rPr lang="en-US" sz="2400" spc="625" dirty="0">
                <a:solidFill>
                  <a:srgbClr val="FEFFFF"/>
                </a:solidFill>
                <a:latin typeface="Poppins"/>
                <a:ea typeface="Poppins"/>
                <a:cs typeface="Poppins"/>
                <a:sym typeface="Poppins"/>
              </a:rPr>
              <a:t>OBJECTIVE</a:t>
            </a:r>
            <a:endParaRPr lang="en-US" sz="6384" spc="625" dirty="0">
              <a:solidFill>
                <a:srgbClr val="FEFFFF"/>
              </a:solidFill>
              <a:latin typeface="Poppins"/>
              <a:ea typeface="Poppins"/>
              <a:cs typeface="Poppins"/>
              <a:sym typeface="Poppins"/>
            </a:endParaRPr>
          </a:p>
        </p:txBody>
      </p:sp>
      <p:sp>
        <p:nvSpPr>
          <p:cNvPr id="10" name="TextBox 12">
            <a:extLst>
              <a:ext uri="{FF2B5EF4-FFF2-40B4-BE49-F238E27FC236}">
                <a16:creationId xmlns:a16="http://schemas.microsoft.com/office/drawing/2014/main" id="{4B93E131-D648-EB6D-8BA8-46B474A171ED}"/>
              </a:ext>
            </a:extLst>
          </p:cNvPr>
          <p:cNvSpPr txBox="1"/>
          <p:nvPr/>
        </p:nvSpPr>
        <p:spPr>
          <a:xfrm>
            <a:off x="924892" y="5729367"/>
            <a:ext cx="4148880" cy="879921"/>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Find the top 5 customers based on total sales volume.</a:t>
            </a:r>
            <a:endParaRPr lang="en-US" sz="1975" spc="41" dirty="0">
              <a:solidFill>
                <a:schemeClr val="bg1"/>
              </a:solidFill>
              <a:latin typeface="DM Sans" pitchFamily="2" charset="0"/>
              <a:ea typeface="DM Sans"/>
              <a:cs typeface="DM Sans"/>
              <a:sym typeface="DM Sans"/>
            </a:endParaRPr>
          </a:p>
        </p:txBody>
      </p:sp>
      <p:sp>
        <p:nvSpPr>
          <p:cNvPr id="11" name="TextBox 4">
            <a:extLst>
              <a:ext uri="{FF2B5EF4-FFF2-40B4-BE49-F238E27FC236}">
                <a16:creationId xmlns:a16="http://schemas.microsoft.com/office/drawing/2014/main" id="{223221D8-5DC1-D218-A99E-3C1C857EF994}"/>
              </a:ext>
            </a:extLst>
          </p:cNvPr>
          <p:cNvSpPr txBox="1"/>
          <p:nvPr/>
        </p:nvSpPr>
        <p:spPr>
          <a:xfrm>
            <a:off x="3509459" y="277753"/>
            <a:ext cx="11530731" cy="615553"/>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 9 – Top 5 Customers by Sales Volume</a:t>
            </a:r>
            <a:endParaRPr lang="en-US" sz="4000" spc="1212" dirty="0">
              <a:solidFill>
                <a:srgbClr val="2B2A2A"/>
              </a:solidFill>
              <a:latin typeface="Poppins Bold" panose="00000800000000000000" charset="0"/>
              <a:ea typeface="Poppins Bold"/>
              <a:cs typeface="Poppins Bold" panose="00000800000000000000" charset="0"/>
              <a:sym typeface="Poppins Bold"/>
            </a:endParaRPr>
          </a:p>
        </p:txBody>
      </p:sp>
      <p:sp>
        <p:nvSpPr>
          <p:cNvPr id="12" name="TextBox 14">
            <a:extLst>
              <a:ext uri="{FF2B5EF4-FFF2-40B4-BE49-F238E27FC236}">
                <a16:creationId xmlns:a16="http://schemas.microsoft.com/office/drawing/2014/main" id="{287D5787-1978-DCF4-2C6A-F42E5EFDBE9C}"/>
              </a:ext>
            </a:extLst>
          </p:cNvPr>
          <p:cNvSpPr txBox="1"/>
          <p:nvPr/>
        </p:nvSpPr>
        <p:spPr>
          <a:xfrm>
            <a:off x="6956752" y="1446631"/>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SQL Query </a:t>
            </a:r>
            <a:endParaRPr lang="en-US" sz="6384" spc="625" dirty="0">
              <a:latin typeface="Poppins"/>
              <a:ea typeface="Poppins"/>
              <a:cs typeface="Poppins"/>
              <a:sym typeface="Poppins"/>
            </a:endParaRPr>
          </a:p>
        </p:txBody>
      </p:sp>
      <p:sp>
        <p:nvSpPr>
          <p:cNvPr id="19" name="TextBox 14">
            <a:extLst>
              <a:ext uri="{FF2B5EF4-FFF2-40B4-BE49-F238E27FC236}">
                <a16:creationId xmlns:a16="http://schemas.microsoft.com/office/drawing/2014/main" id="{65C0F1E6-C36A-BA74-3713-702F3B07F2E3}"/>
              </a:ext>
            </a:extLst>
          </p:cNvPr>
          <p:cNvSpPr txBox="1"/>
          <p:nvPr/>
        </p:nvSpPr>
        <p:spPr>
          <a:xfrm>
            <a:off x="13925980" y="1025490"/>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Result </a:t>
            </a:r>
            <a:endParaRPr lang="en-US" sz="6384" spc="625" dirty="0">
              <a:latin typeface="Poppins"/>
              <a:ea typeface="Poppins"/>
              <a:cs typeface="Poppins"/>
              <a:sym typeface="Poppins"/>
            </a:endParaRPr>
          </a:p>
        </p:txBody>
      </p:sp>
      <p:sp>
        <p:nvSpPr>
          <p:cNvPr id="21" name="Rectangle 20">
            <a:extLst>
              <a:ext uri="{FF2B5EF4-FFF2-40B4-BE49-F238E27FC236}">
                <a16:creationId xmlns:a16="http://schemas.microsoft.com/office/drawing/2014/main" id="{1C0111DF-105F-FBF3-3C61-6762E7A80C5F}"/>
              </a:ext>
            </a:extLst>
          </p:cNvPr>
          <p:cNvSpPr/>
          <p:nvPr/>
        </p:nvSpPr>
        <p:spPr>
          <a:xfrm>
            <a:off x="5328694" y="6609288"/>
            <a:ext cx="4921574" cy="3252944"/>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DM Sans" pitchFamily="2" charset="0"/>
                <a:cs typeface="Poppins" panose="00000500000000000000" pitchFamily="2" charset="0"/>
              </a:rPr>
              <a:t>Insight</a:t>
            </a:r>
          </a:p>
          <a:p>
            <a:pPr marL="342900" indent="-342900">
              <a:buFont typeface="Arial" panose="020B0604020202020204" pitchFamily="34" charset="0"/>
              <a:buChar char="•"/>
            </a:pPr>
            <a:r>
              <a:rPr lang="en-US" sz="2000" dirty="0">
                <a:latin typeface="DM Sans" pitchFamily="2" charset="0"/>
              </a:rPr>
              <a:t>The top 5 customers contribute a disproportionately high share of total revenue.</a:t>
            </a:r>
          </a:p>
          <a:p>
            <a:pPr marL="342900" indent="-342900">
              <a:buFont typeface="Arial" panose="020B0604020202020204" pitchFamily="34" charset="0"/>
              <a:buChar char="•"/>
            </a:pPr>
            <a:r>
              <a:rPr lang="en-US" sz="2000" dirty="0">
                <a:latin typeface="DM Sans" pitchFamily="2" charset="0"/>
              </a:rPr>
              <a:t>A mix of both Members and Normal customers appear in the top list.</a:t>
            </a:r>
          </a:p>
          <a:p>
            <a:pPr marL="342900" indent="-342900">
              <a:buFont typeface="Arial" panose="020B0604020202020204" pitchFamily="34" charset="0"/>
              <a:buChar char="•"/>
            </a:pPr>
            <a:r>
              <a:rPr lang="en-US" sz="2000" dirty="0">
                <a:latin typeface="DM Sans" pitchFamily="2" charset="0"/>
              </a:rPr>
              <a:t>These customers should be rewarded with loyalty benefits to encourage repeat purchases.</a:t>
            </a:r>
            <a:endParaRPr lang="en-US" b="1" dirty="0">
              <a:latin typeface="DM Sans" pitchFamily="2" charset="0"/>
              <a:cs typeface="Poppins" panose="00000500000000000000" pitchFamily="2" charset="0"/>
            </a:endParaRPr>
          </a:p>
        </p:txBody>
      </p:sp>
      <p:sp>
        <p:nvSpPr>
          <p:cNvPr id="22" name="Rectangle 21">
            <a:extLst>
              <a:ext uri="{FF2B5EF4-FFF2-40B4-BE49-F238E27FC236}">
                <a16:creationId xmlns:a16="http://schemas.microsoft.com/office/drawing/2014/main" id="{48FB73E9-DF38-2732-DD02-343FF7B855A7}"/>
              </a:ext>
            </a:extLst>
          </p:cNvPr>
          <p:cNvSpPr/>
          <p:nvPr/>
        </p:nvSpPr>
        <p:spPr>
          <a:xfrm>
            <a:off x="699140" y="7488009"/>
            <a:ext cx="4485424" cy="1509093"/>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DM Sans" pitchFamily="2" charset="0"/>
                <a:cs typeface="Poppins" panose="00000500000000000000" pitchFamily="2" charset="0"/>
              </a:rPr>
              <a:t>Approach</a:t>
            </a:r>
          </a:p>
          <a:p>
            <a:r>
              <a:rPr lang="en-US" sz="2000" dirty="0"/>
              <a:t>Grouped transactions by customer ID, summed total sales, and ranked customers by revenue. Selected the top 5.</a:t>
            </a:r>
            <a:endParaRPr lang="en-US" sz="2000" b="1" dirty="0">
              <a:latin typeface="DM Sans" pitchFamily="2" charset="0"/>
              <a:cs typeface="Poppins" panose="00000500000000000000" pitchFamily="2" charset="0"/>
            </a:endParaRPr>
          </a:p>
        </p:txBody>
      </p:sp>
      <p:pic>
        <p:nvPicPr>
          <p:cNvPr id="26" name="Picture 2">
            <a:extLst>
              <a:ext uri="{FF2B5EF4-FFF2-40B4-BE49-F238E27FC236}">
                <a16:creationId xmlns:a16="http://schemas.microsoft.com/office/drawing/2014/main" id="{38575B8D-7A4F-F36D-B4BC-7256F8C3C2ED}"/>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54400" y="-34787"/>
            <a:ext cx="2283419" cy="16736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2">
            <a:extLst>
              <a:ext uri="{FF2B5EF4-FFF2-40B4-BE49-F238E27FC236}">
                <a16:creationId xmlns:a16="http://schemas.microsoft.com/office/drawing/2014/main" id="{0D2520E1-BE06-6096-5221-30ECFCC94B1A}"/>
              </a:ext>
            </a:extLst>
          </p:cNvPr>
          <p:cNvGraphicFramePr>
            <a:graphicFrameLocks noGrp="1"/>
          </p:cNvGraphicFramePr>
          <p:nvPr>
            <p:extLst>
              <p:ext uri="{D42A27DB-BD31-4B8C-83A1-F6EECF244321}">
                <p14:modId xmlns:p14="http://schemas.microsoft.com/office/powerpoint/2010/main" val="2181461686"/>
              </p:ext>
            </p:extLst>
          </p:nvPr>
        </p:nvGraphicFramePr>
        <p:xfrm>
          <a:off x="10887811" y="1973234"/>
          <a:ext cx="7079622" cy="2703984"/>
        </p:xfrm>
        <a:graphic>
          <a:graphicData uri="http://schemas.openxmlformats.org/drawingml/2006/table">
            <a:tbl>
              <a:tblPr/>
              <a:tblGrid>
                <a:gridCol w="2288671">
                  <a:extLst>
                    <a:ext uri="{9D8B030D-6E8A-4147-A177-3AD203B41FA5}">
                      <a16:colId xmlns:a16="http://schemas.microsoft.com/office/drawing/2014/main" val="783819852"/>
                    </a:ext>
                  </a:extLst>
                </a:gridCol>
                <a:gridCol w="2654858">
                  <a:extLst>
                    <a:ext uri="{9D8B030D-6E8A-4147-A177-3AD203B41FA5}">
                      <a16:colId xmlns:a16="http://schemas.microsoft.com/office/drawing/2014/main" val="2713293837"/>
                    </a:ext>
                  </a:extLst>
                </a:gridCol>
                <a:gridCol w="2136093">
                  <a:extLst>
                    <a:ext uri="{9D8B030D-6E8A-4147-A177-3AD203B41FA5}">
                      <a16:colId xmlns:a16="http://schemas.microsoft.com/office/drawing/2014/main" val="2479543575"/>
                    </a:ext>
                  </a:extLst>
                </a:gridCol>
              </a:tblGrid>
              <a:tr h="450664">
                <a:tc>
                  <a:txBody>
                    <a:bodyPr/>
                    <a:lstStyle/>
                    <a:p>
                      <a:pPr algn="ctr" fontAlgn="ctr">
                        <a:buNone/>
                      </a:pPr>
                      <a:r>
                        <a:rPr lang="en-IN" sz="1800" b="1" i="0" u="none" strike="noStrike">
                          <a:solidFill>
                            <a:srgbClr val="FFFFFF"/>
                          </a:solidFill>
                          <a:effectLst/>
                          <a:latin typeface="DM Sans" pitchFamily="2" charset="0"/>
                        </a:rPr>
                        <a:t>customer_id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800" b="1" i="0" u="none" strike="noStrike">
                          <a:solidFill>
                            <a:srgbClr val="FFFFFF"/>
                          </a:solidFill>
                          <a:effectLst/>
                          <a:latin typeface="DM Sans" pitchFamily="2" charset="0"/>
                        </a:rPr>
                        <a:t>customer_type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800" b="1" i="0" u="none" strike="noStrike">
                          <a:solidFill>
                            <a:srgbClr val="FFFFFF"/>
                          </a:solidFill>
                          <a:effectLst/>
                          <a:latin typeface="DM Sans" pitchFamily="2" charset="0"/>
                        </a:rPr>
                        <a:t>total_sales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4277507511"/>
                  </a:ext>
                </a:extLst>
              </a:tr>
              <a:tr h="450664">
                <a:tc>
                  <a:txBody>
                    <a:bodyPr/>
                    <a:lstStyle/>
                    <a:p>
                      <a:pPr algn="ctr" fontAlgn="ctr">
                        <a:buNone/>
                      </a:pPr>
                      <a:r>
                        <a:rPr lang="en-IN" sz="1800" b="0" i="0" u="none" strike="noStrike" dirty="0">
                          <a:solidFill>
                            <a:srgbClr val="000000"/>
                          </a:solidFill>
                          <a:effectLst/>
                          <a:latin typeface="DM Sans" pitchFamily="2" charset="0"/>
                        </a:rPr>
                        <a:t>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Normal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15357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2127564395"/>
                  </a:ext>
                </a:extLst>
              </a:tr>
              <a:tr h="450664">
                <a:tc>
                  <a:txBody>
                    <a:bodyPr/>
                    <a:lstStyle/>
                    <a:p>
                      <a:pPr algn="ctr" fontAlgn="ctr">
                        <a:buNone/>
                      </a:pPr>
                      <a:r>
                        <a:rPr lang="en-IN" sz="1800" b="0" i="0" u="none" strike="noStrike" dirty="0">
                          <a:solidFill>
                            <a:srgbClr val="000000"/>
                          </a:solidFill>
                          <a:effectLst/>
                          <a:latin typeface="DM Sans" pitchFamily="2"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Member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13889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9089959"/>
                  </a:ext>
                </a:extLst>
              </a:tr>
              <a:tr h="450664">
                <a:tc>
                  <a:txBody>
                    <a:bodyPr/>
                    <a:lstStyle/>
                    <a:p>
                      <a:pPr algn="ctr" fontAlgn="ctr">
                        <a:buNone/>
                      </a:pPr>
                      <a:r>
                        <a:rPr lang="en-IN" sz="1800" b="0" i="0" u="none" strike="noStrike" dirty="0">
                          <a:solidFill>
                            <a:srgbClr val="000000"/>
                          </a:solidFill>
                          <a:effectLst/>
                          <a:latin typeface="DM Sans" pitchFamily="2"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Member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12782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92209614"/>
                  </a:ext>
                </a:extLst>
              </a:tr>
              <a:tr h="450664">
                <a:tc>
                  <a:txBody>
                    <a:bodyPr/>
                    <a:lstStyle/>
                    <a:p>
                      <a:pPr algn="ctr" fontAlgn="ctr">
                        <a:buNone/>
                      </a:pPr>
                      <a:r>
                        <a:rPr lang="en-IN" sz="1800" b="0" i="0" u="none" strike="noStrike">
                          <a:solidFill>
                            <a:srgbClr val="000000"/>
                          </a:solidFill>
                          <a:effectLst/>
                          <a:latin typeface="DM Sans" pitchFamily="2" charset="0"/>
                        </a:rPr>
                        <a:t>15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Normal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12501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698834360"/>
                  </a:ext>
                </a:extLst>
              </a:tr>
              <a:tr h="450664">
                <a:tc>
                  <a:txBody>
                    <a:bodyPr/>
                    <a:lstStyle/>
                    <a:p>
                      <a:pPr algn="ctr" fontAlgn="ctr">
                        <a:buNone/>
                      </a:pPr>
                      <a:r>
                        <a:rPr lang="en-IN" sz="1800" b="0" i="0" u="none" strike="noStrike">
                          <a:solidFill>
                            <a:srgbClr val="000000"/>
                          </a:solidFill>
                          <a:effectLst/>
                          <a:latin typeface="DM Sans" pitchFamily="2" charset="0"/>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Member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800" b="0" i="0" u="none" strike="noStrike" dirty="0">
                          <a:solidFill>
                            <a:srgbClr val="000000"/>
                          </a:solidFill>
                          <a:effectLst/>
                          <a:latin typeface="DM Sans" pitchFamily="2" charset="0"/>
                        </a:rPr>
                        <a:t>12228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648498536"/>
                  </a:ext>
                </a:extLst>
              </a:tr>
            </a:tbl>
          </a:graphicData>
        </a:graphic>
      </p:graphicFrame>
      <p:graphicFrame>
        <p:nvGraphicFramePr>
          <p:cNvPr id="13" name="Chart 12">
            <a:extLst>
              <a:ext uri="{FF2B5EF4-FFF2-40B4-BE49-F238E27FC236}">
                <a16:creationId xmlns:a16="http://schemas.microsoft.com/office/drawing/2014/main" id="{20CA4E73-A1D4-61F8-0CF4-FE5560089080}"/>
              </a:ext>
            </a:extLst>
          </p:cNvPr>
          <p:cNvGraphicFramePr>
            <a:graphicFrameLocks/>
          </p:cNvGraphicFramePr>
          <p:nvPr>
            <p:extLst>
              <p:ext uri="{D42A27DB-BD31-4B8C-83A1-F6EECF244321}">
                <p14:modId xmlns:p14="http://schemas.microsoft.com/office/powerpoint/2010/main" val="1757664285"/>
              </p:ext>
            </p:extLst>
          </p:nvPr>
        </p:nvGraphicFramePr>
        <p:xfrm>
          <a:off x="10436059" y="4928867"/>
          <a:ext cx="7531373" cy="5076525"/>
        </p:xfrm>
        <a:graphic>
          <a:graphicData uri="http://schemas.openxmlformats.org/drawingml/2006/chart">
            <c:chart xmlns:c="http://schemas.openxmlformats.org/drawingml/2006/chart" xmlns:r="http://schemas.openxmlformats.org/officeDocument/2006/relationships" r:id="rId6"/>
          </a:graphicData>
        </a:graphic>
      </p:graphicFrame>
      <p:pic>
        <p:nvPicPr>
          <p:cNvPr id="17" name="Picture 16" descr="A screenshot of a computer code&#10;&#10;AI-generated content may be incorrect.">
            <a:extLst>
              <a:ext uri="{FF2B5EF4-FFF2-40B4-BE49-F238E27FC236}">
                <a16:creationId xmlns:a16="http://schemas.microsoft.com/office/drawing/2014/main" id="{34A6BC52-D4FA-462E-F91C-2F03B2EF716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452972" y="2672422"/>
            <a:ext cx="4921573" cy="3496906"/>
          </a:xfrm>
          <a:prstGeom prst="rect">
            <a:avLst/>
          </a:prstGeom>
        </p:spPr>
      </p:pic>
    </p:spTree>
    <p:extLst>
      <p:ext uri="{BB962C8B-B14F-4D97-AF65-F5344CB8AC3E}">
        <p14:creationId xmlns:p14="http://schemas.microsoft.com/office/powerpoint/2010/main" val="2426086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EAD32-E961-7859-0D52-14143690BF7C}"/>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DE2689E-F866-F87C-7A06-D0B7E86486DB}"/>
              </a:ext>
            </a:extLst>
          </p:cNvPr>
          <p:cNvSpPr/>
          <p:nvPr/>
        </p:nvSpPr>
        <p:spPr>
          <a:xfrm>
            <a:off x="-403592" y="-1257300"/>
            <a:ext cx="18841411" cy="11775882"/>
          </a:xfrm>
          <a:custGeom>
            <a:avLst/>
            <a:gdLst/>
            <a:ahLst/>
            <a:cxnLst/>
            <a:rect l="l" t="t" r="r" b="b"/>
            <a:pathLst>
              <a:path w="18841411" h="11775882">
                <a:moveTo>
                  <a:pt x="0" y="0"/>
                </a:moveTo>
                <a:lnTo>
                  <a:pt x="18841410" y="0"/>
                </a:lnTo>
                <a:lnTo>
                  <a:pt x="18841410" y="11775882"/>
                </a:lnTo>
                <a:lnTo>
                  <a:pt x="0" y="11775882"/>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dirty="0"/>
          </a:p>
        </p:txBody>
      </p:sp>
      <p:grpSp>
        <p:nvGrpSpPr>
          <p:cNvPr id="4" name="Group 4">
            <a:extLst>
              <a:ext uri="{FF2B5EF4-FFF2-40B4-BE49-F238E27FC236}">
                <a16:creationId xmlns:a16="http://schemas.microsoft.com/office/drawing/2014/main" id="{D2823D1A-77B1-AAE2-CA20-9F4DB9559D66}"/>
              </a:ext>
            </a:extLst>
          </p:cNvPr>
          <p:cNvGrpSpPr/>
          <p:nvPr/>
        </p:nvGrpSpPr>
        <p:grpSpPr>
          <a:xfrm>
            <a:off x="739951" y="0"/>
            <a:ext cx="9658637" cy="8144996"/>
            <a:chOff x="-1058884" y="-19050"/>
            <a:chExt cx="3428148" cy="2265151"/>
          </a:xfrm>
        </p:grpSpPr>
        <p:sp>
          <p:nvSpPr>
            <p:cNvPr id="5" name="Freeform 5">
              <a:extLst>
                <a:ext uri="{FF2B5EF4-FFF2-40B4-BE49-F238E27FC236}">
                  <a16:creationId xmlns:a16="http://schemas.microsoft.com/office/drawing/2014/main" id="{C18D62F6-1B8E-8F7C-1FE5-427249F403B0}"/>
                </a:ext>
              </a:extLst>
            </p:cNvPr>
            <p:cNvSpPr/>
            <p:nvPr/>
          </p:nvSpPr>
          <p:spPr>
            <a:xfrm>
              <a:off x="-1058884" y="305192"/>
              <a:ext cx="1309274" cy="1940909"/>
            </a:xfrm>
            <a:custGeom>
              <a:avLst/>
              <a:gdLst/>
              <a:ahLst/>
              <a:cxnLst/>
              <a:rect l="l" t="t" r="r" b="b"/>
              <a:pathLst>
                <a:path w="2369264" h="2084956">
                  <a:moveTo>
                    <a:pt x="0" y="0"/>
                  </a:moveTo>
                  <a:lnTo>
                    <a:pt x="2369264" y="0"/>
                  </a:lnTo>
                  <a:lnTo>
                    <a:pt x="2369264" y="2084956"/>
                  </a:lnTo>
                  <a:lnTo>
                    <a:pt x="0" y="2084956"/>
                  </a:lnTo>
                  <a:close/>
                </a:path>
              </a:pathLst>
            </a:custGeom>
            <a:solidFill>
              <a:schemeClr val="bg2">
                <a:lumMod val="10000"/>
              </a:schemeClr>
            </a:solidFill>
            <a:ln w="9525" cap="sq">
              <a:solidFill>
                <a:srgbClr val="2B2A2A"/>
              </a:solidFill>
              <a:prstDash val="solid"/>
              <a:miter/>
            </a:ln>
          </p:spPr>
          <p:txBody>
            <a:bodyPr/>
            <a:lstStyle/>
            <a:p>
              <a:pPr algn="ctr"/>
              <a:endParaRPr lang="en-IN" dirty="0"/>
            </a:p>
          </p:txBody>
        </p:sp>
        <p:sp>
          <p:nvSpPr>
            <p:cNvPr id="6" name="TextBox 6">
              <a:extLst>
                <a:ext uri="{FF2B5EF4-FFF2-40B4-BE49-F238E27FC236}">
                  <a16:creationId xmlns:a16="http://schemas.microsoft.com/office/drawing/2014/main" id="{AF0E4016-DF2D-B169-111B-B72D8121BFAA}"/>
                </a:ext>
              </a:extLst>
            </p:cNvPr>
            <p:cNvSpPr txBox="1"/>
            <p:nvPr/>
          </p:nvSpPr>
          <p:spPr>
            <a:xfrm>
              <a:off x="0" y="-19050"/>
              <a:ext cx="2369264" cy="2104006"/>
            </a:xfrm>
            <a:prstGeom prst="rect">
              <a:avLst/>
            </a:prstGeom>
          </p:spPr>
          <p:txBody>
            <a:bodyPr lIns="50800" tIns="50800" rIns="50800" bIns="50800" rtlCol="0" anchor="ctr"/>
            <a:lstStyle/>
            <a:p>
              <a:pPr algn="ctr">
                <a:lnSpc>
                  <a:spcPts val="2859"/>
                </a:lnSpc>
              </a:pPr>
              <a:endParaRPr/>
            </a:p>
          </p:txBody>
        </p:sp>
      </p:grpSp>
      <p:sp>
        <p:nvSpPr>
          <p:cNvPr id="7" name="TextBox 14">
            <a:extLst>
              <a:ext uri="{FF2B5EF4-FFF2-40B4-BE49-F238E27FC236}">
                <a16:creationId xmlns:a16="http://schemas.microsoft.com/office/drawing/2014/main" id="{B9F4AE7C-F9BC-8BB5-429D-B2895E044C7C}"/>
              </a:ext>
            </a:extLst>
          </p:cNvPr>
          <p:cNvSpPr txBox="1"/>
          <p:nvPr/>
        </p:nvSpPr>
        <p:spPr>
          <a:xfrm>
            <a:off x="1035837" y="1175119"/>
            <a:ext cx="4065531" cy="1055674"/>
          </a:xfrm>
          <a:prstGeom prst="rect">
            <a:avLst/>
          </a:prstGeom>
        </p:spPr>
        <p:txBody>
          <a:bodyPr wrap="square" lIns="0" tIns="0" rIns="0" bIns="0" rtlCol="0" anchor="t">
            <a:spAutoFit/>
          </a:bodyPr>
          <a:lstStyle/>
          <a:p>
            <a:pPr marL="0" lvl="0" indent="0" algn="l">
              <a:lnSpc>
                <a:spcPct val="150000"/>
              </a:lnSpc>
              <a:spcBef>
                <a:spcPct val="0"/>
              </a:spcBef>
            </a:pPr>
            <a:r>
              <a:rPr lang="en-US" sz="2400" spc="625" dirty="0">
                <a:solidFill>
                  <a:srgbClr val="FEFFFF"/>
                </a:solidFill>
                <a:latin typeface="Poppins"/>
                <a:ea typeface="Poppins"/>
                <a:cs typeface="Poppins"/>
                <a:sym typeface="Poppins"/>
              </a:rPr>
              <a:t>BUSINESS PROBLEM</a:t>
            </a:r>
            <a:endParaRPr lang="en-US" sz="6384" spc="625" dirty="0">
              <a:solidFill>
                <a:srgbClr val="FEFFFF"/>
              </a:solidFill>
              <a:latin typeface="Poppins"/>
              <a:ea typeface="Poppins"/>
              <a:cs typeface="Poppins"/>
              <a:sym typeface="Poppins"/>
            </a:endParaRPr>
          </a:p>
        </p:txBody>
      </p:sp>
      <p:sp>
        <p:nvSpPr>
          <p:cNvPr id="8" name="TextBox 12">
            <a:extLst>
              <a:ext uri="{FF2B5EF4-FFF2-40B4-BE49-F238E27FC236}">
                <a16:creationId xmlns:a16="http://schemas.microsoft.com/office/drawing/2014/main" id="{01A6A092-F6D3-E210-8583-8A101DAB05DA}"/>
              </a:ext>
            </a:extLst>
          </p:cNvPr>
          <p:cNvSpPr txBox="1"/>
          <p:nvPr/>
        </p:nvSpPr>
        <p:spPr>
          <a:xfrm>
            <a:off x="900738" y="2240007"/>
            <a:ext cx="3560807" cy="3651192"/>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Walmart wants to identify which day of the week generates the highest sales. This helps in workforce planning, inventory management, and designing promotions for peak sales days.</a:t>
            </a:r>
            <a:endParaRPr lang="en-US" sz="1975" spc="41" dirty="0">
              <a:solidFill>
                <a:schemeClr val="bg1"/>
              </a:solidFill>
              <a:latin typeface="DM Sans" pitchFamily="2" charset="0"/>
              <a:ea typeface="DM Sans"/>
              <a:cs typeface="DM Sans"/>
              <a:sym typeface="DM Sans"/>
            </a:endParaRPr>
          </a:p>
        </p:txBody>
      </p:sp>
      <p:sp>
        <p:nvSpPr>
          <p:cNvPr id="9" name="TextBox 14">
            <a:extLst>
              <a:ext uri="{FF2B5EF4-FFF2-40B4-BE49-F238E27FC236}">
                <a16:creationId xmlns:a16="http://schemas.microsoft.com/office/drawing/2014/main" id="{18806E18-EF76-90EA-B688-0ED57757876C}"/>
              </a:ext>
            </a:extLst>
          </p:cNvPr>
          <p:cNvSpPr txBox="1"/>
          <p:nvPr/>
        </p:nvSpPr>
        <p:spPr>
          <a:xfrm>
            <a:off x="803954" y="5718533"/>
            <a:ext cx="5949563" cy="932563"/>
          </a:xfrm>
          <a:prstGeom prst="rect">
            <a:avLst/>
          </a:prstGeom>
        </p:spPr>
        <p:txBody>
          <a:bodyPr lIns="0" tIns="0" rIns="0" bIns="0" rtlCol="0" anchor="t">
            <a:spAutoFit/>
          </a:bodyPr>
          <a:lstStyle/>
          <a:p>
            <a:pPr lvl="0">
              <a:lnSpc>
                <a:spcPts val="8811"/>
              </a:lnSpc>
              <a:spcBef>
                <a:spcPct val="0"/>
              </a:spcBef>
            </a:pPr>
            <a:r>
              <a:rPr lang="en-US" sz="2400" spc="625" dirty="0">
                <a:solidFill>
                  <a:srgbClr val="FEFFFF"/>
                </a:solidFill>
                <a:latin typeface="Poppins"/>
                <a:ea typeface="Poppins"/>
                <a:cs typeface="Poppins"/>
                <a:sym typeface="Poppins"/>
              </a:rPr>
              <a:t>OBJECTIVE</a:t>
            </a:r>
            <a:endParaRPr lang="en-US" sz="6384" spc="625" dirty="0">
              <a:solidFill>
                <a:srgbClr val="FEFFFF"/>
              </a:solidFill>
              <a:latin typeface="Poppins"/>
              <a:ea typeface="Poppins"/>
              <a:cs typeface="Poppins"/>
              <a:sym typeface="Poppins"/>
            </a:endParaRPr>
          </a:p>
        </p:txBody>
      </p:sp>
      <p:sp>
        <p:nvSpPr>
          <p:cNvPr id="10" name="TextBox 12">
            <a:extLst>
              <a:ext uri="{FF2B5EF4-FFF2-40B4-BE49-F238E27FC236}">
                <a16:creationId xmlns:a16="http://schemas.microsoft.com/office/drawing/2014/main" id="{55445289-7AC0-60FD-D54B-3C65D047F3C1}"/>
              </a:ext>
            </a:extLst>
          </p:cNvPr>
          <p:cNvSpPr txBox="1"/>
          <p:nvPr/>
        </p:nvSpPr>
        <p:spPr>
          <a:xfrm>
            <a:off x="803954" y="6618434"/>
            <a:ext cx="3560807" cy="1342868"/>
          </a:xfrm>
          <a:prstGeom prst="rect">
            <a:avLst/>
          </a:prstGeom>
        </p:spPr>
        <p:txBody>
          <a:bodyPr wrap="square" lIns="0" tIns="0" rIns="0" bIns="0" rtlCol="0" anchor="t">
            <a:spAutoFit/>
          </a:bodyPr>
          <a:lstStyle/>
          <a:p>
            <a:pPr>
              <a:lnSpc>
                <a:spcPct val="150000"/>
              </a:lnSpc>
            </a:pPr>
            <a:r>
              <a:rPr lang="en-US" sz="2000" dirty="0">
                <a:solidFill>
                  <a:schemeClr val="bg1"/>
                </a:solidFill>
                <a:latin typeface="DM Sans" pitchFamily="2" charset="0"/>
              </a:rPr>
              <a:t>Analyze sales patterns across weekdays and find the best-performing day.</a:t>
            </a:r>
            <a:endParaRPr lang="en-US" sz="1975" spc="41" dirty="0">
              <a:solidFill>
                <a:schemeClr val="bg1"/>
              </a:solidFill>
              <a:latin typeface="DM Sans" pitchFamily="2" charset="0"/>
              <a:ea typeface="DM Sans"/>
              <a:cs typeface="DM Sans"/>
              <a:sym typeface="DM Sans"/>
            </a:endParaRPr>
          </a:p>
        </p:txBody>
      </p:sp>
      <p:sp>
        <p:nvSpPr>
          <p:cNvPr id="11" name="TextBox 4">
            <a:extLst>
              <a:ext uri="{FF2B5EF4-FFF2-40B4-BE49-F238E27FC236}">
                <a16:creationId xmlns:a16="http://schemas.microsoft.com/office/drawing/2014/main" id="{0551E920-CE31-8888-2281-20F597CB3B31}"/>
              </a:ext>
            </a:extLst>
          </p:cNvPr>
          <p:cNvSpPr txBox="1"/>
          <p:nvPr/>
        </p:nvSpPr>
        <p:spPr>
          <a:xfrm>
            <a:off x="3378634" y="353919"/>
            <a:ext cx="11530731" cy="615553"/>
          </a:xfrm>
          <a:prstGeom prst="rect">
            <a:avLst/>
          </a:prstGeom>
        </p:spPr>
        <p:txBody>
          <a:bodyPr lIns="0" tIns="0" rIns="0" bIns="0" rtlCol="0" anchor="t">
            <a:spAutoFit/>
          </a:bodyPr>
          <a:lstStyle/>
          <a:p>
            <a:pPr lvl="0" algn="ctr">
              <a:spcBef>
                <a:spcPct val="0"/>
              </a:spcBef>
            </a:pPr>
            <a:r>
              <a:rPr lang="en-US" sz="4000" dirty="0">
                <a:latin typeface="Poppins Bold" panose="00000800000000000000" charset="0"/>
                <a:cs typeface="Poppins Bold" panose="00000800000000000000" charset="0"/>
              </a:rPr>
              <a:t>Task 10 – Sales Trends by Day of the Week</a:t>
            </a:r>
            <a:endParaRPr lang="en-US" sz="4000" spc="1212" dirty="0">
              <a:solidFill>
                <a:srgbClr val="2B2A2A"/>
              </a:solidFill>
              <a:latin typeface="Poppins Bold" panose="00000800000000000000" charset="0"/>
              <a:ea typeface="Poppins Bold"/>
              <a:cs typeface="Poppins Bold" panose="00000800000000000000" charset="0"/>
              <a:sym typeface="Poppins Bold"/>
            </a:endParaRPr>
          </a:p>
        </p:txBody>
      </p:sp>
      <p:sp>
        <p:nvSpPr>
          <p:cNvPr id="12" name="TextBox 14">
            <a:extLst>
              <a:ext uri="{FF2B5EF4-FFF2-40B4-BE49-F238E27FC236}">
                <a16:creationId xmlns:a16="http://schemas.microsoft.com/office/drawing/2014/main" id="{FE4FBD9F-3BAE-CA1D-0C16-E4FF0E63BA8C}"/>
              </a:ext>
            </a:extLst>
          </p:cNvPr>
          <p:cNvSpPr txBox="1"/>
          <p:nvPr/>
        </p:nvSpPr>
        <p:spPr>
          <a:xfrm>
            <a:off x="6956752" y="1446631"/>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SQL Query </a:t>
            </a:r>
            <a:endParaRPr lang="en-US" sz="6384" spc="625" dirty="0">
              <a:latin typeface="Poppins"/>
              <a:ea typeface="Poppins"/>
              <a:cs typeface="Poppins"/>
              <a:sym typeface="Poppins"/>
            </a:endParaRPr>
          </a:p>
        </p:txBody>
      </p:sp>
      <p:sp>
        <p:nvSpPr>
          <p:cNvPr id="19" name="TextBox 14">
            <a:extLst>
              <a:ext uri="{FF2B5EF4-FFF2-40B4-BE49-F238E27FC236}">
                <a16:creationId xmlns:a16="http://schemas.microsoft.com/office/drawing/2014/main" id="{4BEA8D7C-6670-4EA8-C151-875C7BEF4DC6}"/>
              </a:ext>
            </a:extLst>
          </p:cNvPr>
          <p:cNvSpPr txBox="1"/>
          <p:nvPr/>
        </p:nvSpPr>
        <p:spPr>
          <a:xfrm>
            <a:off x="13925980" y="1025490"/>
            <a:ext cx="2830676" cy="932563"/>
          </a:xfrm>
          <a:prstGeom prst="rect">
            <a:avLst/>
          </a:prstGeom>
        </p:spPr>
        <p:txBody>
          <a:bodyPr wrap="square" lIns="0" tIns="0" rIns="0" bIns="0" rtlCol="0" anchor="t">
            <a:spAutoFit/>
          </a:bodyPr>
          <a:lstStyle/>
          <a:p>
            <a:pPr marL="0" lvl="0" indent="0" algn="l">
              <a:lnSpc>
                <a:spcPts val="8811"/>
              </a:lnSpc>
              <a:spcBef>
                <a:spcPct val="0"/>
              </a:spcBef>
            </a:pPr>
            <a:r>
              <a:rPr lang="en-US" sz="2400" spc="625" dirty="0">
                <a:latin typeface="Poppins"/>
                <a:ea typeface="Poppins"/>
                <a:cs typeface="Poppins"/>
                <a:sym typeface="Poppins"/>
              </a:rPr>
              <a:t>Result </a:t>
            </a:r>
            <a:endParaRPr lang="en-US" sz="6384" spc="625" dirty="0">
              <a:latin typeface="Poppins"/>
              <a:ea typeface="Poppins"/>
              <a:cs typeface="Poppins"/>
              <a:sym typeface="Poppins"/>
            </a:endParaRPr>
          </a:p>
        </p:txBody>
      </p:sp>
      <p:sp>
        <p:nvSpPr>
          <p:cNvPr id="21" name="Rectangle 20">
            <a:extLst>
              <a:ext uri="{FF2B5EF4-FFF2-40B4-BE49-F238E27FC236}">
                <a16:creationId xmlns:a16="http://schemas.microsoft.com/office/drawing/2014/main" id="{0AA73657-3B5F-FC11-8171-B605667B840E}"/>
              </a:ext>
            </a:extLst>
          </p:cNvPr>
          <p:cNvSpPr/>
          <p:nvPr/>
        </p:nvSpPr>
        <p:spPr>
          <a:xfrm>
            <a:off x="5642494" y="7358968"/>
            <a:ext cx="4921574" cy="2508932"/>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dirty="0">
                <a:latin typeface="DM Sans" pitchFamily="2" charset="0"/>
                <a:cs typeface="Poppins" panose="00000500000000000000" pitchFamily="2" charset="0"/>
              </a:rPr>
              <a:t>Insight</a:t>
            </a:r>
          </a:p>
          <a:p>
            <a:pPr marL="342900" indent="-342900">
              <a:buFont typeface="Arial" panose="020B0604020202020204" pitchFamily="34" charset="0"/>
              <a:buChar char="•"/>
            </a:pPr>
            <a:r>
              <a:rPr lang="en-US" sz="2000" dirty="0">
                <a:latin typeface="DM Sans" pitchFamily="2" charset="0"/>
              </a:rPr>
              <a:t>Saturday shows the highest sales, indicating weekends drive maximum revenue.</a:t>
            </a:r>
          </a:p>
          <a:p>
            <a:pPr marL="342900" indent="-342900">
              <a:buFont typeface="Arial" panose="020B0604020202020204" pitchFamily="34" charset="0"/>
              <a:buChar char="•"/>
            </a:pPr>
            <a:r>
              <a:rPr lang="en-US" sz="2000" dirty="0">
                <a:latin typeface="DM Sans" pitchFamily="2" charset="0"/>
              </a:rPr>
              <a:t>Weekdays (esp. Tue–Thu) show relatively lower sales, suggesting promotions can be targeted midweek.</a:t>
            </a:r>
            <a:endParaRPr lang="en-US" b="1" dirty="0">
              <a:latin typeface="DM Sans" pitchFamily="2" charset="0"/>
              <a:cs typeface="Poppins" panose="00000500000000000000" pitchFamily="2" charset="0"/>
            </a:endParaRPr>
          </a:p>
        </p:txBody>
      </p:sp>
      <p:sp>
        <p:nvSpPr>
          <p:cNvPr id="22" name="Rectangle 21">
            <a:extLst>
              <a:ext uri="{FF2B5EF4-FFF2-40B4-BE49-F238E27FC236}">
                <a16:creationId xmlns:a16="http://schemas.microsoft.com/office/drawing/2014/main" id="{791DD7AA-BC9E-5C27-CF2A-714B28FB3F66}"/>
              </a:ext>
            </a:extLst>
          </p:cNvPr>
          <p:cNvSpPr/>
          <p:nvPr/>
        </p:nvSpPr>
        <p:spPr>
          <a:xfrm>
            <a:off x="739951" y="8292788"/>
            <a:ext cx="4485424" cy="1509093"/>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000" b="1" dirty="0">
                <a:latin typeface="DM Sans" pitchFamily="2" charset="0"/>
                <a:cs typeface="Poppins" panose="00000500000000000000" pitchFamily="2" charset="0"/>
              </a:rPr>
              <a:t>Approach</a:t>
            </a:r>
          </a:p>
          <a:p>
            <a:r>
              <a:rPr lang="en-US" sz="2000" dirty="0"/>
              <a:t>Grouped sales by day of the week and summed totals to identify the peak sales day.</a:t>
            </a:r>
            <a:endParaRPr lang="en-US" sz="2000" b="1" dirty="0">
              <a:latin typeface="DM Sans" pitchFamily="2" charset="0"/>
              <a:cs typeface="Poppins" panose="00000500000000000000" pitchFamily="2" charset="0"/>
            </a:endParaRPr>
          </a:p>
        </p:txBody>
      </p:sp>
      <p:pic>
        <p:nvPicPr>
          <p:cNvPr id="26" name="Picture 2">
            <a:extLst>
              <a:ext uri="{FF2B5EF4-FFF2-40B4-BE49-F238E27FC236}">
                <a16:creationId xmlns:a16="http://schemas.microsoft.com/office/drawing/2014/main" id="{1C316FB5-D9B9-1F32-3D4A-2612EABC00B0}"/>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6154400" y="-34787"/>
            <a:ext cx="2283419" cy="16736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580E5B81-3645-AED2-B9B5-A32746B30BC3}"/>
              </a:ext>
            </a:extLst>
          </p:cNvPr>
          <p:cNvGraphicFramePr>
            <a:graphicFrameLocks noGrp="1"/>
          </p:cNvGraphicFramePr>
          <p:nvPr>
            <p:extLst>
              <p:ext uri="{D42A27DB-BD31-4B8C-83A1-F6EECF244321}">
                <p14:modId xmlns:p14="http://schemas.microsoft.com/office/powerpoint/2010/main" val="3384849356"/>
              </p:ext>
            </p:extLst>
          </p:nvPr>
        </p:nvGraphicFramePr>
        <p:xfrm>
          <a:off x="11409469" y="6944397"/>
          <a:ext cx="6459767" cy="2773422"/>
        </p:xfrm>
        <a:graphic>
          <a:graphicData uri="http://schemas.openxmlformats.org/drawingml/2006/table">
            <a:tbl>
              <a:tblPr/>
              <a:tblGrid>
                <a:gridCol w="2075427">
                  <a:extLst>
                    <a:ext uri="{9D8B030D-6E8A-4147-A177-3AD203B41FA5}">
                      <a16:colId xmlns:a16="http://schemas.microsoft.com/office/drawing/2014/main" val="147916172"/>
                    </a:ext>
                  </a:extLst>
                </a:gridCol>
                <a:gridCol w="1764113">
                  <a:extLst>
                    <a:ext uri="{9D8B030D-6E8A-4147-A177-3AD203B41FA5}">
                      <a16:colId xmlns:a16="http://schemas.microsoft.com/office/drawing/2014/main" val="923409901"/>
                    </a:ext>
                  </a:extLst>
                </a:gridCol>
                <a:gridCol w="2620227">
                  <a:extLst>
                    <a:ext uri="{9D8B030D-6E8A-4147-A177-3AD203B41FA5}">
                      <a16:colId xmlns:a16="http://schemas.microsoft.com/office/drawing/2014/main" val="3702390617"/>
                    </a:ext>
                  </a:extLst>
                </a:gridCol>
              </a:tblGrid>
              <a:tr h="308158">
                <a:tc>
                  <a:txBody>
                    <a:bodyPr/>
                    <a:lstStyle/>
                    <a:p>
                      <a:pPr algn="ctr" fontAlgn="ctr">
                        <a:buNone/>
                      </a:pPr>
                      <a:r>
                        <a:rPr lang="en-IN" sz="1600" b="1" i="0" u="none" strike="noStrike" dirty="0">
                          <a:solidFill>
                            <a:srgbClr val="FFFFFF"/>
                          </a:solidFill>
                          <a:effectLst/>
                          <a:latin typeface="DM Sans" pitchFamily="2" charset="0"/>
                        </a:rPr>
                        <a:t>Day_of_week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600" b="1" i="0" u="none" strike="noStrike" dirty="0">
                          <a:solidFill>
                            <a:srgbClr val="FFFFFF"/>
                          </a:solidFill>
                          <a:effectLst/>
                          <a:latin typeface="DM Sans" pitchFamily="2" charset="0"/>
                        </a:rPr>
                        <a:t>Total_sales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tc>
                  <a:txBody>
                    <a:bodyPr/>
                    <a:lstStyle/>
                    <a:p>
                      <a:pPr algn="ctr" fontAlgn="ctr">
                        <a:buNone/>
                      </a:pPr>
                      <a:r>
                        <a:rPr lang="en-IN" sz="1600" b="1" i="0" u="none" strike="noStrike" dirty="0">
                          <a:solidFill>
                            <a:srgbClr val="FFFFFF"/>
                          </a:solidFill>
                          <a:effectLst/>
                          <a:latin typeface="DM Sans" pitchFamily="2" charset="0"/>
                        </a:rPr>
                        <a:t>Num_transactions</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0000"/>
                    </a:solidFill>
                  </a:tcPr>
                </a:tc>
                <a:extLst>
                  <a:ext uri="{0D108BD9-81ED-4DB2-BD59-A6C34878D82A}">
                    <a16:rowId xmlns:a16="http://schemas.microsoft.com/office/drawing/2014/main" val="3235555282"/>
                  </a:ext>
                </a:extLst>
              </a:tr>
              <a:tr h="308158">
                <a:tc>
                  <a:txBody>
                    <a:bodyPr/>
                    <a:lstStyle/>
                    <a:p>
                      <a:pPr algn="ctr" fontAlgn="ctr">
                        <a:buNone/>
                      </a:pPr>
                      <a:r>
                        <a:rPr lang="en-IN" sz="1600" b="0" i="0" u="none" strike="noStrike" dirty="0">
                          <a:solidFill>
                            <a:srgbClr val="000000"/>
                          </a:solidFill>
                          <a:effectLst/>
                          <a:latin typeface="DM Sans" pitchFamily="2" charset="0"/>
                        </a:rPr>
                        <a:t>NULL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600" b="0" i="0" u="none" strike="noStrike" dirty="0">
                          <a:solidFill>
                            <a:srgbClr val="000000"/>
                          </a:solidFill>
                          <a:effectLst/>
                          <a:latin typeface="DM Sans" pitchFamily="2" charset="0"/>
                        </a:rPr>
                        <a:t>187611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600" b="0" i="0" u="none" strike="noStrike" dirty="0">
                          <a:solidFill>
                            <a:srgbClr val="000000"/>
                          </a:solidFill>
                          <a:effectLst/>
                          <a:latin typeface="DM Sans" pitchFamily="2" charset="0"/>
                        </a:rPr>
                        <a:t>587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491572428"/>
                  </a:ext>
                </a:extLst>
              </a:tr>
              <a:tr h="308158">
                <a:tc>
                  <a:txBody>
                    <a:bodyPr/>
                    <a:lstStyle/>
                    <a:p>
                      <a:pPr algn="ctr" fontAlgn="ctr">
                        <a:buNone/>
                      </a:pPr>
                      <a:r>
                        <a:rPr lang="en-IN" sz="1600" b="0" i="0" u="none" strike="noStrike" dirty="0">
                          <a:solidFill>
                            <a:srgbClr val="000000"/>
                          </a:solidFill>
                          <a:effectLst/>
                          <a:latin typeface="DM Sans" pitchFamily="2" charset="0"/>
                        </a:rPr>
                        <a:t>Monday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600" b="0" i="0" u="none" strike="noStrike" dirty="0">
                          <a:solidFill>
                            <a:srgbClr val="000000"/>
                          </a:solidFill>
                          <a:effectLst/>
                          <a:latin typeface="DM Sans" pitchFamily="2" charset="0"/>
                        </a:rPr>
                        <a:t>13821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600" b="0" i="0" u="none" strike="noStrike" dirty="0">
                          <a:solidFill>
                            <a:srgbClr val="000000"/>
                          </a:solidFill>
                          <a:effectLst/>
                          <a:latin typeface="DM Sans" pitchFamily="2" charset="0"/>
                        </a:rPr>
                        <a:t>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2556840954"/>
                  </a:ext>
                </a:extLst>
              </a:tr>
              <a:tr h="308158">
                <a:tc>
                  <a:txBody>
                    <a:bodyPr/>
                    <a:lstStyle/>
                    <a:p>
                      <a:pPr algn="ctr" fontAlgn="ctr">
                        <a:buNone/>
                      </a:pPr>
                      <a:r>
                        <a:rPr lang="en-IN" sz="1600" b="0" i="0" u="none" strike="noStrike" dirty="0">
                          <a:solidFill>
                            <a:srgbClr val="000000"/>
                          </a:solidFill>
                          <a:effectLst/>
                          <a:latin typeface="DM Sans" pitchFamily="2" charset="0"/>
                        </a:rPr>
                        <a:t>Tuesday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600" b="0" i="0" u="none" strike="noStrike" dirty="0">
                          <a:solidFill>
                            <a:srgbClr val="000000"/>
                          </a:solidFill>
                          <a:effectLst/>
                          <a:latin typeface="DM Sans" pitchFamily="2" charset="0"/>
                        </a:rPr>
                        <a:t>29125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600" b="0" i="0" u="none" strike="noStrike" dirty="0">
                          <a:solidFill>
                            <a:srgbClr val="000000"/>
                          </a:solidFill>
                          <a:effectLst/>
                          <a:latin typeface="DM Sans" pitchFamily="2" charset="0"/>
                        </a:rPr>
                        <a:t>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038604629"/>
                  </a:ext>
                </a:extLst>
              </a:tr>
              <a:tr h="308158">
                <a:tc>
                  <a:txBody>
                    <a:bodyPr/>
                    <a:lstStyle/>
                    <a:p>
                      <a:pPr algn="ctr" fontAlgn="ctr">
                        <a:buNone/>
                      </a:pPr>
                      <a:r>
                        <a:rPr lang="en-IN" sz="1600" b="0" i="0" u="none" strike="noStrike" dirty="0">
                          <a:solidFill>
                            <a:srgbClr val="000000"/>
                          </a:solidFill>
                          <a:effectLst/>
                          <a:latin typeface="DM Sans" pitchFamily="2" charset="0"/>
                        </a:rPr>
                        <a:t>Wednesday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600" b="0" i="0" u="none" strike="noStrike" dirty="0">
                          <a:solidFill>
                            <a:srgbClr val="000000"/>
                          </a:solidFill>
                          <a:effectLst/>
                          <a:latin typeface="DM Sans" pitchFamily="2" charset="0"/>
                        </a:rPr>
                        <a:t>14455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600" b="0" i="0" u="none" strike="noStrike" dirty="0">
                          <a:solidFill>
                            <a:srgbClr val="000000"/>
                          </a:solidFill>
                          <a:effectLst/>
                          <a:latin typeface="DM Sans" pitchFamily="2" charset="0"/>
                        </a:rPr>
                        <a:t>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909005135"/>
                  </a:ext>
                </a:extLst>
              </a:tr>
              <a:tr h="308158">
                <a:tc>
                  <a:txBody>
                    <a:bodyPr/>
                    <a:lstStyle/>
                    <a:p>
                      <a:pPr algn="ctr" fontAlgn="ctr">
                        <a:buNone/>
                      </a:pPr>
                      <a:r>
                        <a:rPr lang="en-IN" sz="1600" b="0" i="0" u="none" strike="noStrike" dirty="0">
                          <a:solidFill>
                            <a:srgbClr val="000000"/>
                          </a:solidFill>
                          <a:effectLst/>
                          <a:latin typeface="DM Sans" pitchFamily="2" charset="0"/>
                        </a:rPr>
                        <a:t>Thursday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600" b="0" i="0" u="none" strike="noStrike" dirty="0">
                          <a:solidFill>
                            <a:srgbClr val="000000"/>
                          </a:solidFill>
                          <a:effectLst/>
                          <a:latin typeface="DM Sans" pitchFamily="2" charset="0"/>
                        </a:rPr>
                        <a:t>14122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600" b="0" i="0" u="none" strike="noStrike" dirty="0">
                          <a:solidFill>
                            <a:srgbClr val="000000"/>
                          </a:solidFill>
                          <a:effectLst/>
                          <a:latin typeface="DM Sans" pitchFamily="2" charset="0"/>
                        </a:rPr>
                        <a:t>52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454280500"/>
                  </a:ext>
                </a:extLst>
              </a:tr>
              <a:tr h="308158">
                <a:tc>
                  <a:txBody>
                    <a:bodyPr/>
                    <a:lstStyle/>
                    <a:p>
                      <a:pPr algn="ctr" fontAlgn="ctr">
                        <a:buNone/>
                      </a:pPr>
                      <a:r>
                        <a:rPr lang="en-IN" sz="1600" b="0" i="0" u="none" strike="noStrike" dirty="0">
                          <a:solidFill>
                            <a:srgbClr val="000000"/>
                          </a:solidFill>
                          <a:effectLst/>
                          <a:latin typeface="DM Sans" pitchFamily="2" charset="0"/>
                        </a:rPr>
                        <a:t>Friday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600" b="0" i="0" u="none" strike="noStrike" dirty="0">
                          <a:solidFill>
                            <a:srgbClr val="000000"/>
                          </a:solidFill>
                          <a:effectLst/>
                          <a:latin typeface="DM Sans" pitchFamily="2" charset="0"/>
                        </a:rPr>
                        <a:t>17454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600" b="0" i="0" u="none" strike="noStrike" dirty="0">
                          <a:solidFill>
                            <a:srgbClr val="000000"/>
                          </a:solidFill>
                          <a:effectLst/>
                          <a:latin typeface="DM Sans" pitchFamily="2" charset="0"/>
                        </a:rPr>
                        <a:t>53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1930996759"/>
                  </a:ext>
                </a:extLst>
              </a:tr>
              <a:tr h="308158">
                <a:tc>
                  <a:txBody>
                    <a:bodyPr/>
                    <a:lstStyle/>
                    <a:p>
                      <a:pPr algn="ctr" fontAlgn="ctr">
                        <a:buNone/>
                      </a:pPr>
                      <a:r>
                        <a:rPr lang="en-IN" sz="1600" b="0" i="0" u="none" strike="noStrike" dirty="0">
                          <a:solidFill>
                            <a:srgbClr val="000000"/>
                          </a:solidFill>
                          <a:effectLst/>
                          <a:latin typeface="DM Sans" pitchFamily="2" charset="0"/>
                        </a:rPr>
                        <a:t>Saturday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600" b="0" i="0" u="none" strike="noStrike" dirty="0">
                          <a:solidFill>
                            <a:srgbClr val="000000"/>
                          </a:solidFill>
                          <a:effectLst/>
                          <a:latin typeface="DM Sans" pitchFamily="2" charset="0"/>
                        </a:rPr>
                        <a:t>20891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600" b="0" i="0" u="none" strike="noStrike" dirty="0">
                          <a:solidFill>
                            <a:srgbClr val="000000"/>
                          </a:solidFill>
                          <a:effectLst/>
                          <a:latin typeface="DM Sans" pitchFamily="2" charset="0"/>
                        </a:rPr>
                        <a:t>56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3096276623"/>
                  </a:ext>
                </a:extLst>
              </a:tr>
              <a:tr h="308158">
                <a:tc>
                  <a:txBody>
                    <a:bodyPr/>
                    <a:lstStyle/>
                    <a:p>
                      <a:pPr algn="ctr" fontAlgn="ctr">
                        <a:buNone/>
                      </a:pPr>
                      <a:r>
                        <a:rPr lang="en-IN" sz="1600" b="0" i="0" u="none" strike="noStrike" dirty="0">
                          <a:solidFill>
                            <a:srgbClr val="000000"/>
                          </a:solidFill>
                          <a:effectLst/>
                          <a:latin typeface="DM Sans" pitchFamily="2" charset="0"/>
                        </a:rPr>
                        <a:t>Sunday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0C5"/>
                    </a:solidFill>
                  </a:tcPr>
                </a:tc>
                <a:tc>
                  <a:txBody>
                    <a:bodyPr/>
                    <a:lstStyle/>
                    <a:p>
                      <a:pPr algn="ctr" fontAlgn="ctr">
                        <a:buNone/>
                      </a:pPr>
                      <a:r>
                        <a:rPr lang="en-IN" sz="1600" b="0" i="0" u="none" strike="noStrike" dirty="0">
                          <a:solidFill>
                            <a:srgbClr val="000000"/>
                          </a:solidFill>
                          <a:effectLst/>
                          <a:latin typeface="DM Sans" pitchFamily="2" charset="0"/>
                        </a:rPr>
                        <a:t>25486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buNone/>
                      </a:pPr>
                      <a:r>
                        <a:rPr lang="en-IN" sz="1600" b="0" i="0" u="none" strike="noStrike" dirty="0">
                          <a:solidFill>
                            <a:srgbClr val="000000"/>
                          </a:solidFill>
                          <a:effectLst/>
                          <a:latin typeface="DM Sans" pitchFamily="2" charset="0"/>
                        </a:rPr>
                        <a:t>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07C00"/>
                    </a:solidFill>
                  </a:tcPr>
                </a:tc>
                <a:extLst>
                  <a:ext uri="{0D108BD9-81ED-4DB2-BD59-A6C34878D82A}">
                    <a16:rowId xmlns:a16="http://schemas.microsoft.com/office/drawing/2014/main" val="4219296774"/>
                  </a:ext>
                </a:extLst>
              </a:tr>
            </a:tbl>
          </a:graphicData>
        </a:graphic>
      </p:graphicFrame>
      <p:pic>
        <p:nvPicPr>
          <p:cNvPr id="18" name="Picture 17" descr="A white background with black text&#10;&#10;AI-generated content may be incorrect.">
            <a:extLst>
              <a:ext uri="{FF2B5EF4-FFF2-40B4-BE49-F238E27FC236}">
                <a16:creationId xmlns:a16="http://schemas.microsoft.com/office/drawing/2014/main" id="{124C41B9-BBA7-543B-DC4C-5A8A1872E19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515531" y="2856353"/>
            <a:ext cx="6781798" cy="3886151"/>
          </a:xfrm>
          <a:prstGeom prst="rect">
            <a:avLst/>
          </a:prstGeom>
        </p:spPr>
      </p:pic>
      <p:graphicFrame>
        <p:nvGraphicFramePr>
          <p:cNvPr id="20" name="Chart 19">
            <a:extLst>
              <a:ext uri="{FF2B5EF4-FFF2-40B4-BE49-F238E27FC236}">
                <a16:creationId xmlns:a16="http://schemas.microsoft.com/office/drawing/2014/main" id="{ECA6391F-2B85-E79F-6DF4-2F2F06DD968B}"/>
              </a:ext>
            </a:extLst>
          </p:cNvPr>
          <p:cNvGraphicFramePr>
            <a:graphicFrameLocks/>
          </p:cNvGraphicFramePr>
          <p:nvPr>
            <p:extLst>
              <p:ext uri="{D42A27DB-BD31-4B8C-83A1-F6EECF244321}">
                <p14:modId xmlns:p14="http://schemas.microsoft.com/office/powerpoint/2010/main" val="2719434510"/>
              </p:ext>
            </p:extLst>
          </p:nvPr>
        </p:nvGraphicFramePr>
        <p:xfrm>
          <a:off x="11409469" y="2206548"/>
          <a:ext cx="6871994" cy="4497856"/>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7317119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0C5"/>
        </a:solidFill>
        <a:effectLst/>
      </p:bgPr>
    </p:bg>
    <p:spTree>
      <p:nvGrpSpPr>
        <p:cNvPr id="1" name=""/>
        <p:cNvGrpSpPr/>
        <p:nvPr/>
      </p:nvGrpSpPr>
      <p:grpSpPr>
        <a:xfrm>
          <a:off x="0" y="0"/>
          <a:ext cx="0" cy="0"/>
          <a:chOff x="0" y="0"/>
          <a:chExt cx="0" cy="0"/>
        </a:xfrm>
      </p:grpSpPr>
      <p:sp>
        <p:nvSpPr>
          <p:cNvPr id="2" name="TextBox 2"/>
          <p:cNvSpPr txBox="1"/>
          <p:nvPr/>
        </p:nvSpPr>
        <p:spPr>
          <a:xfrm>
            <a:off x="3184540" y="4238829"/>
            <a:ext cx="11918920" cy="1809341"/>
          </a:xfrm>
          <a:prstGeom prst="rect">
            <a:avLst/>
          </a:prstGeom>
        </p:spPr>
        <p:txBody>
          <a:bodyPr lIns="0" tIns="0" rIns="0" bIns="0" rtlCol="0" anchor="t">
            <a:spAutoFit/>
          </a:bodyPr>
          <a:lstStyle/>
          <a:p>
            <a:pPr marL="0" lvl="0" indent="0" algn="ctr">
              <a:lnSpc>
                <a:spcPts val="14832"/>
              </a:lnSpc>
              <a:spcBef>
                <a:spcPct val="0"/>
              </a:spcBef>
            </a:pPr>
            <a:r>
              <a:rPr lang="en-US" sz="10747" b="1" spc="1053" dirty="0">
                <a:latin typeface="Poppins Bold"/>
                <a:ea typeface="Poppins Bold"/>
                <a:cs typeface="Poppins Bold"/>
                <a:sym typeface="Poppins Bold"/>
              </a:rPr>
              <a:t>THANKYOU</a:t>
            </a:r>
          </a:p>
        </p:txBody>
      </p:sp>
      <p:sp>
        <p:nvSpPr>
          <p:cNvPr id="3" name="Freeform 3"/>
          <p:cNvSpPr/>
          <p:nvPr/>
        </p:nvSpPr>
        <p:spPr>
          <a:xfrm rot="-5312045">
            <a:off x="11224459" y="823177"/>
            <a:ext cx="12928340" cy="6662053"/>
          </a:xfrm>
          <a:custGeom>
            <a:avLst/>
            <a:gdLst/>
            <a:ahLst/>
            <a:cxnLst/>
            <a:rect l="l" t="t" r="r" b="b"/>
            <a:pathLst>
              <a:path w="12928340" h="6662053">
                <a:moveTo>
                  <a:pt x="0" y="0"/>
                </a:moveTo>
                <a:lnTo>
                  <a:pt x="12928340" y="0"/>
                </a:lnTo>
                <a:lnTo>
                  <a:pt x="12928340" y="6662052"/>
                </a:lnTo>
                <a:lnTo>
                  <a:pt x="0" y="66620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4" name="Freeform 4"/>
          <p:cNvSpPr/>
          <p:nvPr/>
        </p:nvSpPr>
        <p:spPr>
          <a:xfrm rot="6013920">
            <a:off x="-5203986" y="2028634"/>
            <a:ext cx="12928340" cy="6662053"/>
          </a:xfrm>
          <a:custGeom>
            <a:avLst/>
            <a:gdLst/>
            <a:ahLst/>
            <a:cxnLst/>
            <a:rect l="l" t="t" r="r" b="b"/>
            <a:pathLst>
              <a:path w="12928340" h="6662053">
                <a:moveTo>
                  <a:pt x="0" y="0"/>
                </a:moveTo>
                <a:lnTo>
                  <a:pt x="12928340" y="0"/>
                </a:lnTo>
                <a:lnTo>
                  <a:pt x="12928340" y="6662053"/>
                </a:lnTo>
                <a:lnTo>
                  <a:pt x="0" y="666205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0b4e5e2a-8941-43e6-bc62-de403f34a95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76ACB23EA3CCA4A82E99C1A2E0AB765" ma:contentTypeVersion="6" ma:contentTypeDescription="Create a new document." ma:contentTypeScope="" ma:versionID="c2d1d4e4d0a707f4e25c6bb0756f1b0f">
  <xsd:schema xmlns:xsd="http://www.w3.org/2001/XMLSchema" xmlns:xs="http://www.w3.org/2001/XMLSchema" xmlns:p="http://schemas.microsoft.com/office/2006/metadata/properties" xmlns:ns3="0b4e5e2a-8941-43e6-bc62-de403f34a95c" targetNamespace="http://schemas.microsoft.com/office/2006/metadata/properties" ma:root="true" ma:fieldsID="6630f7a1c578327025a2bcc71943a348" ns3:_="">
    <xsd:import namespace="0b4e5e2a-8941-43e6-bc62-de403f34a95c"/>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b4e5e2a-8941-43e6-bc62-de403f34a95c"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2F6A21A-0412-418E-BB02-32DC9EF937D8}">
  <ds:schemaRefs>
    <ds:schemaRef ds:uri="http://schemas.microsoft.com/sharepoint/v3/contenttype/forms"/>
  </ds:schemaRefs>
</ds:datastoreItem>
</file>

<file path=customXml/itemProps2.xml><?xml version="1.0" encoding="utf-8"?>
<ds:datastoreItem xmlns:ds="http://schemas.openxmlformats.org/officeDocument/2006/customXml" ds:itemID="{E4F22E15-66CC-425F-AB50-8F6EF05CA84A}">
  <ds:schemaRefs>
    <ds:schemaRef ds:uri="http://schemas.openxmlformats.org/package/2006/metadata/core-properties"/>
    <ds:schemaRef ds:uri="http://schemas.microsoft.com/office/2006/documentManagement/types"/>
    <ds:schemaRef ds:uri="http://schemas.microsoft.com/office/infopath/2007/PartnerControls"/>
    <ds:schemaRef ds:uri="http://purl.org/dc/dcmitype/"/>
    <ds:schemaRef ds:uri="http://purl.org/dc/elements/1.1/"/>
    <ds:schemaRef ds:uri="0b4e5e2a-8941-43e6-bc62-de403f34a95c"/>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D5F34E9A-8D7F-4120-9D81-A3781591707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b4e5e2a-8941-43e6-bc62-de403f34a9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1114</TotalTime>
  <Words>1741</Words>
  <Application>Microsoft Office PowerPoint</Application>
  <PresentationFormat>Custom</PresentationFormat>
  <Paragraphs>445</Paragraphs>
  <Slides>15</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15</vt:i4>
      </vt:variant>
    </vt:vector>
  </HeadingPairs>
  <TitlesOfParts>
    <vt:vector size="24" baseType="lpstr">
      <vt:lpstr>Poppins</vt:lpstr>
      <vt:lpstr>Aptos Narrow</vt:lpstr>
      <vt:lpstr>Aptos</vt:lpstr>
      <vt:lpstr>Poppins Bold</vt:lpstr>
      <vt:lpstr>DM Sans</vt:lpstr>
      <vt:lpstr>DM Sans 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and White minimalist professional Business Proposal Presentation</dc:title>
  <dc:creator>Bulbul</dc:creator>
  <cp:lastModifiedBy>ANJAN KUMAR SINGH BCA2403175</cp:lastModifiedBy>
  <cp:revision>9</cp:revision>
  <dcterms:created xsi:type="dcterms:W3CDTF">2006-08-16T00:00:00Z</dcterms:created>
  <dcterms:modified xsi:type="dcterms:W3CDTF">2025-09-12T15:59:00Z</dcterms:modified>
  <dc:identifier>DAGwIgYBhEI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0x010100C76ACB23EA3CCA4A82E99C1A2E0AB765</vt:lpwstr>
  </property>
</Properties>
</file>